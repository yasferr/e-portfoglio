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2_9DE46B39.xml" ContentType="application/vnd.ms-powerpoint.comments+xml"/>
  <Override PartName="/ppt/comments/modernComment_103_3BB0BC9E.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4_79B40270.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05_A082BEE9.xml" ContentType="application/vnd.ms-powerpoint.comments+xml"/>
  <Override PartName="/ppt/notesSlides/notesSlide2.xml" ContentType="application/vnd.openxmlformats-officedocument.presentationml.notesSlide+xml"/>
  <Override PartName="/ppt/comments/modernComment_106_B467C0C9.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07_AE895E2A.xml" ContentType="application/vnd.ms-powerpoint.comments+xml"/>
  <Override PartName="/ppt/comments/modernComment_108_F3FBC198.xml" ContentType="application/vnd.ms-powerpoint.comment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omments/modernComment_109_E578AF44.xml" ContentType="application/vnd.ms-powerpoint.comment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omments/modernComment_10A_F89443B.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B_A5AC221D.xml" ContentType="application/vnd.ms-powerpoint.comment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omments/modernComment_10C_A01A967F.xml" ContentType="application/vnd.ms-powerpoint.comment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omments/modernComment_10D_642EC706.xml" ContentType="application/vnd.ms-powerpoint.comments+xml"/>
  <Override PartName="/ppt/comments/modernComment_10F_AD6D772B.xml" ContentType="application/vnd.ms-powerpoint.comments+xml"/>
  <Override PartName="/ppt/comments/modernComment_110_80E895F3.xml" ContentType="application/vnd.ms-powerpoint.comments+xml"/>
  <Override PartName="/ppt/comments/modernComment_112_308F7C90.xml" ContentType="application/vnd.ms-powerpoint.comments+xml"/>
  <Override PartName="/ppt/comments/modernComment_10E_DC0F77B3.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11_C03EE508.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13_FE6E35D9.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0" r:id="rId1"/>
  </p:sldMasterIdLst>
  <p:notesMasterIdLst>
    <p:notesMasterId r:id="rId22"/>
  </p:notesMasterIdLst>
  <p:sldIdLst>
    <p:sldId id="256" r:id="rId2"/>
    <p:sldId id="276"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4" r:id="rId18"/>
    <p:sldId id="270" r:id="rId19"/>
    <p:sldId id="273"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8CAE48-C88C-90A9-EAFA-D240677B8A2C}" name="Almeida Ferrera, Yasmin" initials="AFY" userId="S::yf25769@essex.ac.uk::15d6c93e-4df3-436e-9cd2-e9637bd083e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Stile medio 4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Stile medio 4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5BE263C-DBD7-4A20-BB59-AAB30ACAA65A}" styleName="Stile medio 3 - Colore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Stile medio 3 - Color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8799B23B-EC83-4686-B30A-512413B5E67A}" styleName="Stile chiaro 3 - Colore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Stile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Stile medio 4 - Colore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Stile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Stile medio 4 - Colore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AF606853-7671-496A-8E4F-DF71F8EC918B}" styleName="Stile scuro 1 - Colore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Stile scuro 2 - Colore 1/Color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Stile chiaro 1 - Color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Stile chiaro 3 - Colore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Stile chiaro 2 - Colore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DA37D80-6434-44D0-A028-1B22A696006F}" styleName="Stile chiaro 3 - Colore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Stile chiaro 3 - Color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Stile medio 1 - Colore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8603FDC-E32A-4AB5-989C-0864C3EAD2B8}" styleName="Stile con tema 2 - Colore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71"/>
    <p:restoredTop sz="96376"/>
  </p:normalViewPr>
  <p:slideViewPr>
    <p:cSldViewPr snapToGrid="0">
      <p:cViewPr>
        <p:scale>
          <a:sx n="78" d="100"/>
          <a:sy n="78" d="100"/>
        </p:scale>
        <p:origin x="864" y="1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Foglio_di_lavoro_di_Microsoft_Excel.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Foglio_di_lavoro_di_Microsoft_Excel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Foglio_di_lavoro_di_Microsoft_Excel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Foglio_di_lavoro_di_Microsoft_Excel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Foglio_di_lavoro_di_Microsoft_Excel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Foglio_di_lavoro_di_Microsoft_Excel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Foglio_di_lavoro_di_Microsoft_Excel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dirty="0"/>
              <a:t>Distribution</a:t>
            </a:r>
            <a:r>
              <a:rPr lang="it-IT" baseline="0" dirty="0"/>
              <a:t> by </a:t>
            </a:r>
          </a:p>
          <a:p>
            <a:pPr>
              <a:defRPr/>
            </a:pPr>
            <a:r>
              <a:rPr lang="it-IT" dirty="0" err="1"/>
              <a:t>Diabetes</a:t>
            </a:r>
            <a:r>
              <a:rPr lang="it-IT" baseline="0" dirty="0"/>
              <a:t> Status</a:t>
            </a:r>
          </a:p>
          <a:p>
            <a:pPr>
              <a:defRPr/>
            </a:pPr>
            <a:endParaRPr lang="it-IT"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Foglio1!$B$1</c:f>
              <c:strCache>
                <c:ptCount val="1"/>
                <c:pt idx="0">
                  <c:v>Colonna1</c:v>
                </c:pt>
              </c:strCache>
            </c:strRef>
          </c:tx>
          <c:spPr>
            <a:solidFill>
              <a:schemeClr val="accent1"/>
            </a:solidFill>
            <a:ln>
              <a:noFill/>
            </a:ln>
            <a:effectLst/>
            <a:sp3d/>
          </c:spPr>
          <c:invertIfNegative val="0"/>
          <c:cat>
            <c:strRef>
              <c:f>Foglio1!$A$2:$A$3</c:f>
              <c:strCache>
                <c:ptCount val="2"/>
                <c:pt idx="0">
                  <c:v>No Diabetes</c:v>
                </c:pt>
                <c:pt idx="1">
                  <c:v>Diabetes</c:v>
                </c:pt>
              </c:strCache>
            </c:strRef>
          </c:cat>
          <c:val>
            <c:numRef>
              <c:f>Foglio1!$B$2:$B$3</c:f>
              <c:numCache>
                <c:formatCode>General</c:formatCode>
                <c:ptCount val="2"/>
                <c:pt idx="0">
                  <c:v>500</c:v>
                </c:pt>
                <c:pt idx="1">
                  <c:v>268</c:v>
                </c:pt>
              </c:numCache>
            </c:numRef>
          </c:val>
          <c:extLst>
            <c:ext xmlns:c16="http://schemas.microsoft.com/office/drawing/2014/chart" uri="{C3380CC4-5D6E-409C-BE32-E72D297353CC}">
              <c16:uniqueId val="{00000000-C5B7-0143-9D3E-1CF34643973B}"/>
            </c:ext>
          </c:extLst>
        </c:ser>
        <c:ser>
          <c:idx val="1"/>
          <c:order val="1"/>
          <c:tx>
            <c:strRef>
              <c:f>Foglio1!$C$1</c:f>
              <c:strCache>
                <c:ptCount val="1"/>
                <c:pt idx="0">
                  <c:v>Colonna2</c:v>
                </c:pt>
              </c:strCache>
            </c:strRef>
          </c:tx>
          <c:spPr>
            <a:solidFill>
              <a:schemeClr val="accent2"/>
            </a:solidFill>
            <a:ln>
              <a:noFill/>
            </a:ln>
            <a:effectLst/>
            <a:sp3d/>
          </c:spPr>
          <c:invertIfNegative val="0"/>
          <c:dPt>
            <c:idx val="0"/>
            <c:invertIfNegative val="0"/>
            <c:bubble3D val="0"/>
            <c:spPr>
              <a:solidFill>
                <a:schemeClr val="accent1"/>
              </a:solidFill>
              <a:ln>
                <a:noFill/>
              </a:ln>
              <a:effectLst/>
              <a:sp3d/>
            </c:spPr>
            <c:extLst>
              <c:ext xmlns:c16="http://schemas.microsoft.com/office/drawing/2014/chart" uri="{C3380CC4-5D6E-409C-BE32-E72D297353CC}">
                <c16:uniqueId val="{00000004-C5B7-0143-9D3E-1CF34643973B}"/>
              </c:ext>
            </c:extLst>
          </c:dPt>
          <c:dPt>
            <c:idx val="1"/>
            <c:invertIfNegative val="0"/>
            <c:bubble3D val="0"/>
            <c:spPr>
              <a:solidFill>
                <a:schemeClr val="accent1"/>
              </a:solidFill>
              <a:ln>
                <a:noFill/>
              </a:ln>
              <a:effectLst/>
              <a:sp3d/>
            </c:spPr>
            <c:extLst>
              <c:ext xmlns:c16="http://schemas.microsoft.com/office/drawing/2014/chart" uri="{C3380CC4-5D6E-409C-BE32-E72D297353CC}">
                <c16:uniqueId val="{00000003-C5B7-0143-9D3E-1CF34643973B}"/>
              </c:ext>
            </c:extLst>
          </c:dPt>
          <c:cat>
            <c:strRef>
              <c:f>Foglio1!$A$2:$A$3</c:f>
              <c:strCache>
                <c:ptCount val="2"/>
                <c:pt idx="0">
                  <c:v>No Diabetes</c:v>
                </c:pt>
                <c:pt idx="1">
                  <c:v>Diabetes</c:v>
                </c:pt>
              </c:strCache>
            </c:strRef>
          </c:cat>
          <c:val>
            <c:numRef>
              <c:f>Foglio1!$C$2:$C$3</c:f>
              <c:numCache>
                <c:formatCode>General</c:formatCode>
                <c:ptCount val="2"/>
                <c:pt idx="0">
                  <c:v>0</c:v>
                </c:pt>
                <c:pt idx="1">
                  <c:v>0</c:v>
                </c:pt>
              </c:numCache>
            </c:numRef>
          </c:val>
          <c:extLst>
            <c:ext xmlns:c16="http://schemas.microsoft.com/office/drawing/2014/chart" uri="{C3380CC4-5D6E-409C-BE32-E72D297353CC}">
              <c16:uniqueId val="{00000001-C5B7-0143-9D3E-1CF34643973B}"/>
            </c:ext>
          </c:extLst>
        </c:ser>
        <c:dLbls>
          <c:showLegendKey val="0"/>
          <c:showVal val="0"/>
          <c:showCatName val="0"/>
          <c:showSerName val="0"/>
          <c:showPercent val="0"/>
          <c:showBubbleSize val="0"/>
        </c:dLbls>
        <c:gapWidth val="150"/>
        <c:gapDepth val="147"/>
        <c:shape val="box"/>
        <c:axId val="1300093055"/>
        <c:axId val="1317218367"/>
        <c:axId val="0"/>
      </c:bar3DChart>
      <c:catAx>
        <c:axId val="13000930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17218367"/>
        <c:crosses val="autoZero"/>
        <c:auto val="1"/>
        <c:lblAlgn val="ctr"/>
        <c:lblOffset val="100"/>
        <c:noMultiLvlLbl val="0"/>
      </c:catAx>
      <c:valAx>
        <c:axId val="1317218367"/>
        <c:scaling>
          <c:orientation val="minMax"/>
          <c:max val="60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000930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50"/>
      <c:rotY val="2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dLbls>
          <c:showLegendKey val="0"/>
          <c:showVal val="0"/>
          <c:showCatName val="0"/>
          <c:showSerName val="0"/>
          <c:showPercent val="0"/>
          <c:showBubbleSize val="0"/>
        </c:dLbls>
        <c:gapWidth val="100"/>
        <c:shape val="box"/>
        <c:axId val="1425244608"/>
        <c:axId val="1425255808"/>
        <c:axId val="1419596800"/>
      </c:bar3DChart>
      <c:catAx>
        <c:axId val="1425244608"/>
        <c:scaling>
          <c:orientation val="minMax"/>
        </c:scaling>
        <c:delete val="0"/>
        <c:axPos val="b"/>
        <c:majorTickMark val="out"/>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425255808"/>
        <c:crosses val="autoZero"/>
        <c:auto val="1"/>
        <c:lblAlgn val="ctr"/>
        <c:lblOffset val="100"/>
        <c:noMultiLvlLbl val="0"/>
      </c:catAx>
      <c:valAx>
        <c:axId val="1425255808"/>
        <c:scaling>
          <c:orientation val="minMax"/>
        </c:scaling>
        <c:delete val="0"/>
        <c:axPos val="l"/>
        <c:majorGridlines>
          <c:spPr>
            <a:ln w="9525" cap="flat" cmpd="sng" algn="ctr">
              <a:solidFill>
                <a:schemeClr val="tx1">
                  <a:lumMod val="5000"/>
                  <a:lumOff val="95000"/>
                </a:schemeClr>
              </a:solidFill>
              <a:round/>
            </a:ln>
            <a:effectLst/>
          </c:spPr>
        </c:majorGridlines>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spc="20" baseline="0">
                <a:solidFill>
                  <a:schemeClr val="tx1">
                    <a:lumMod val="65000"/>
                    <a:lumOff val="35000"/>
                  </a:schemeClr>
                </a:solidFill>
                <a:latin typeface="+mn-lt"/>
                <a:ea typeface="+mn-ea"/>
                <a:cs typeface="+mn-cs"/>
              </a:defRPr>
            </a:pPr>
            <a:endParaRPr lang="it-IT"/>
          </a:p>
        </c:txPr>
        <c:crossAx val="1425244608"/>
        <c:crosses val="autoZero"/>
        <c:crossBetween val="between"/>
      </c:valAx>
      <c:serAx>
        <c:axId val="1419596800"/>
        <c:scaling>
          <c:orientation val="minMax"/>
        </c:scaling>
        <c:delete val="0"/>
        <c:axPos val="b"/>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425255808"/>
        <c:crosses val="autoZero"/>
      </c:ser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0"/>
        <c:dLbls>
          <c:showLegendKey val="0"/>
          <c:showVal val="0"/>
          <c:showCatName val="0"/>
          <c:showSerName val="0"/>
          <c:showPercent val="0"/>
          <c:showBubbleSize val="0"/>
        </c:dLbls>
        <c:gapWidth val="150"/>
        <c:overlap val="100"/>
        <c:axId val="1511200000"/>
        <c:axId val="1570055808"/>
      </c:barChart>
      <c:catAx>
        <c:axId val="15112000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70055808"/>
        <c:crosses val="autoZero"/>
        <c:auto val="1"/>
        <c:lblAlgn val="ctr"/>
        <c:lblOffset val="100"/>
        <c:noMultiLvlLbl val="0"/>
      </c:catAx>
      <c:valAx>
        <c:axId val="15700558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11200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it-IT" sz="1400" b="0" i="0" u="none" strike="noStrike" baseline="0" dirty="0" err="1">
                <a:effectLst/>
              </a:rPr>
              <a:t>Diabetes</a:t>
            </a:r>
            <a:r>
              <a:rPr lang="it-IT" sz="1400" b="0" i="0" u="none" strike="noStrike" baseline="0" dirty="0">
                <a:effectLst/>
              </a:rPr>
              <a:t> Rate by Age Group</a:t>
            </a:r>
            <a:endParaRPr lang="it-IT"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it-IT"/>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Foglio1!$B$1</c:f>
              <c:strCache>
                <c:ptCount val="1"/>
                <c:pt idx="0">
                  <c:v>&lt;30</c:v>
                </c:pt>
              </c:strCache>
            </c:strRef>
          </c:tx>
          <c:spPr>
            <a:solidFill>
              <a:schemeClr val="accent1"/>
            </a:solidFill>
            <a:ln>
              <a:noFill/>
            </a:ln>
            <a:effectLst/>
            <a:sp3d/>
          </c:spPr>
          <c:invertIfNegative val="0"/>
          <c:cat>
            <c:strRef>
              <c:f>Foglio1!$A$2:$A$3</c:f>
              <c:strCache>
                <c:ptCount val="2"/>
                <c:pt idx="0">
                  <c:v>Diabetes</c:v>
                </c:pt>
                <c:pt idx="1">
                  <c:v>No Diabetes</c:v>
                </c:pt>
              </c:strCache>
            </c:strRef>
          </c:cat>
          <c:val>
            <c:numRef>
              <c:f>Foglio1!$B$2:$B$3</c:f>
              <c:numCache>
                <c:formatCode>General</c:formatCode>
                <c:ptCount val="2"/>
                <c:pt idx="0">
                  <c:v>21.2</c:v>
                </c:pt>
                <c:pt idx="1">
                  <c:v>78.8</c:v>
                </c:pt>
              </c:numCache>
            </c:numRef>
          </c:val>
          <c:extLst>
            <c:ext xmlns:c16="http://schemas.microsoft.com/office/drawing/2014/chart" uri="{C3380CC4-5D6E-409C-BE32-E72D297353CC}">
              <c16:uniqueId val="{00000000-EAA0-4341-BDD4-379147392ED8}"/>
            </c:ext>
          </c:extLst>
        </c:ser>
        <c:ser>
          <c:idx val="1"/>
          <c:order val="1"/>
          <c:tx>
            <c:strRef>
              <c:f>Foglio1!$C$1</c:f>
              <c:strCache>
                <c:ptCount val="1"/>
                <c:pt idx="0">
                  <c:v>30-39</c:v>
                </c:pt>
              </c:strCache>
            </c:strRef>
          </c:tx>
          <c:spPr>
            <a:solidFill>
              <a:schemeClr val="accent2"/>
            </a:solidFill>
            <a:ln>
              <a:noFill/>
            </a:ln>
            <a:effectLst/>
            <a:sp3d/>
          </c:spPr>
          <c:invertIfNegative val="0"/>
          <c:cat>
            <c:strRef>
              <c:f>Foglio1!$A$2:$A$3</c:f>
              <c:strCache>
                <c:ptCount val="2"/>
                <c:pt idx="0">
                  <c:v>Diabetes</c:v>
                </c:pt>
                <c:pt idx="1">
                  <c:v>No Diabetes</c:v>
                </c:pt>
              </c:strCache>
            </c:strRef>
          </c:cat>
          <c:val>
            <c:numRef>
              <c:f>Foglio1!$C$2:$C$3</c:f>
              <c:numCache>
                <c:formatCode>General</c:formatCode>
                <c:ptCount val="2"/>
                <c:pt idx="0">
                  <c:v>46.1</c:v>
                </c:pt>
                <c:pt idx="1">
                  <c:v>53.9</c:v>
                </c:pt>
              </c:numCache>
            </c:numRef>
          </c:val>
          <c:extLst>
            <c:ext xmlns:c16="http://schemas.microsoft.com/office/drawing/2014/chart" uri="{C3380CC4-5D6E-409C-BE32-E72D297353CC}">
              <c16:uniqueId val="{00000001-EAA0-4341-BDD4-379147392ED8}"/>
            </c:ext>
          </c:extLst>
        </c:ser>
        <c:ser>
          <c:idx val="2"/>
          <c:order val="2"/>
          <c:tx>
            <c:strRef>
              <c:f>Foglio1!$D$1</c:f>
              <c:strCache>
                <c:ptCount val="1"/>
                <c:pt idx="0">
                  <c:v>40-49</c:v>
                </c:pt>
              </c:strCache>
            </c:strRef>
          </c:tx>
          <c:spPr>
            <a:solidFill>
              <a:schemeClr val="accent3"/>
            </a:solidFill>
            <a:ln>
              <a:noFill/>
            </a:ln>
            <a:effectLst/>
            <a:sp3d/>
          </c:spPr>
          <c:invertIfNegative val="0"/>
          <c:cat>
            <c:strRef>
              <c:f>Foglio1!$A$2:$A$3</c:f>
              <c:strCache>
                <c:ptCount val="2"/>
                <c:pt idx="0">
                  <c:v>Diabetes</c:v>
                </c:pt>
                <c:pt idx="1">
                  <c:v>No Diabetes</c:v>
                </c:pt>
              </c:strCache>
            </c:strRef>
          </c:cat>
          <c:val>
            <c:numRef>
              <c:f>Foglio1!$D$2:$D$3</c:f>
              <c:numCache>
                <c:formatCode>General</c:formatCode>
                <c:ptCount val="2"/>
                <c:pt idx="0">
                  <c:v>55.1</c:v>
                </c:pt>
                <c:pt idx="1">
                  <c:v>44.9</c:v>
                </c:pt>
              </c:numCache>
            </c:numRef>
          </c:val>
          <c:extLst>
            <c:ext xmlns:c16="http://schemas.microsoft.com/office/drawing/2014/chart" uri="{C3380CC4-5D6E-409C-BE32-E72D297353CC}">
              <c16:uniqueId val="{00000002-EAA0-4341-BDD4-379147392ED8}"/>
            </c:ext>
          </c:extLst>
        </c:ser>
        <c:ser>
          <c:idx val="3"/>
          <c:order val="3"/>
          <c:tx>
            <c:strRef>
              <c:f>Foglio1!$E$1</c:f>
              <c:strCache>
                <c:ptCount val="1"/>
                <c:pt idx="0">
                  <c:v>50+</c:v>
                </c:pt>
              </c:strCache>
            </c:strRef>
          </c:tx>
          <c:spPr>
            <a:solidFill>
              <a:schemeClr val="accent4"/>
            </a:solidFill>
            <a:ln>
              <a:noFill/>
            </a:ln>
            <a:effectLst/>
            <a:sp3d/>
          </c:spPr>
          <c:invertIfNegative val="0"/>
          <c:cat>
            <c:strRef>
              <c:f>Foglio1!$A$2:$A$3</c:f>
              <c:strCache>
                <c:ptCount val="2"/>
                <c:pt idx="0">
                  <c:v>Diabetes</c:v>
                </c:pt>
                <c:pt idx="1">
                  <c:v>No Diabetes</c:v>
                </c:pt>
              </c:strCache>
            </c:strRef>
          </c:cat>
          <c:val>
            <c:numRef>
              <c:f>Foglio1!$E$2:$E$3</c:f>
              <c:numCache>
                <c:formatCode>General</c:formatCode>
                <c:ptCount val="2"/>
                <c:pt idx="0">
                  <c:v>48.3</c:v>
                </c:pt>
                <c:pt idx="1">
                  <c:v>51.7</c:v>
                </c:pt>
              </c:numCache>
            </c:numRef>
          </c:val>
          <c:extLst>
            <c:ext xmlns:c16="http://schemas.microsoft.com/office/drawing/2014/chart" uri="{C3380CC4-5D6E-409C-BE32-E72D297353CC}">
              <c16:uniqueId val="{00000003-EAA0-4341-BDD4-379147392ED8}"/>
            </c:ext>
          </c:extLst>
        </c:ser>
        <c:dLbls>
          <c:showLegendKey val="0"/>
          <c:showVal val="0"/>
          <c:showCatName val="0"/>
          <c:showSerName val="0"/>
          <c:showPercent val="0"/>
          <c:showBubbleSize val="0"/>
        </c:dLbls>
        <c:gapWidth val="150"/>
        <c:shape val="box"/>
        <c:axId val="1523128895"/>
        <c:axId val="1523124415"/>
        <c:axId val="0"/>
      </c:bar3DChart>
      <c:catAx>
        <c:axId val="15231288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23124415"/>
        <c:crosses val="autoZero"/>
        <c:auto val="1"/>
        <c:lblAlgn val="ctr"/>
        <c:lblOffset val="100"/>
        <c:noMultiLvlLbl val="0"/>
      </c:catAx>
      <c:valAx>
        <c:axId val="1523124415"/>
        <c:scaling>
          <c:orientation val="minMax"/>
          <c:max val="200"/>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523128895"/>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it-IT"/>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it-IT" sz="1400" dirty="0" err="1"/>
              <a:t>Diabetes</a:t>
            </a:r>
            <a:r>
              <a:rPr lang="it-IT" sz="1400" baseline="0" dirty="0"/>
              <a:t> Rate by BMI </a:t>
            </a:r>
            <a:r>
              <a:rPr lang="it-IT" sz="1400" baseline="0" dirty="0" err="1"/>
              <a:t>Category</a:t>
            </a:r>
            <a:endParaRPr lang="it-IT" sz="1400"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it-IT"/>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5840723425196849"/>
          <c:y val="0.14087252898712815"/>
          <c:w val="0.50734645669291345"/>
          <c:h val="0.43717460889760584"/>
        </c:manualLayout>
      </c:layout>
      <c:bar3DChart>
        <c:barDir val="col"/>
        <c:grouping val="stacked"/>
        <c:varyColors val="0"/>
        <c:ser>
          <c:idx val="0"/>
          <c:order val="0"/>
          <c:tx>
            <c:strRef>
              <c:f>Foglio1!$B$1</c:f>
              <c:strCache>
                <c:ptCount val="1"/>
                <c:pt idx="0">
                  <c:v>Underweight</c:v>
                </c:pt>
              </c:strCache>
            </c:strRef>
          </c:tx>
          <c:spPr>
            <a:solidFill>
              <a:schemeClr val="accent1"/>
            </a:solidFill>
            <a:ln>
              <a:noFill/>
            </a:ln>
            <a:effectLst/>
            <a:sp3d/>
          </c:spPr>
          <c:invertIfNegative val="0"/>
          <c:cat>
            <c:strRef>
              <c:f>Foglio1!$A$2:$A$3</c:f>
              <c:strCache>
                <c:ptCount val="2"/>
                <c:pt idx="0">
                  <c:v>Diabetes</c:v>
                </c:pt>
                <c:pt idx="1">
                  <c:v>No Diabetes</c:v>
                </c:pt>
              </c:strCache>
            </c:strRef>
          </c:cat>
          <c:val>
            <c:numRef>
              <c:f>Foglio1!$B$2:$B$3</c:f>
              <c:numCache>
                <c:formatCode>General</c:formatCode>
                <c:ptCount val="2"/>
                <c:pt idx="0">
                  <c:v>13.3</c:v>
                </c:pt>
                <c:pt idx="1">
                  <c:v>86.7</c:v>
                </c:pt>
              </c:numCache>
            </c:numRef>
          </c:val>
          <c:extLst>
            <c:ext xmlns:c16="http://schemas.microsoft.com/office/drawing/2014/chart" uri="{C3380CC4-5D6E-409C-BE32-E72D297353CC}">
              <c16:uniqueId val="{00000000-2C16-EE4C-B6EF-4EBCEC737BC5}"/>
            </c:ext>
          </c:extLst>
        </c:ser>
        <c:ser>
          <c:idx val="1"/>
          <c:order val="1"/>
          <c:tx>
            <c:strRef>
              <c:f>Foglio1!$C$1</c:f>
              <c:strCache>
                <c:ptCount val="1"/>
                <c:pt idx="0">
                  <c:v>Normal</c:v>
                </c:pt>
              </c:strCache>
            </c:strRef>
          </c:tx>
          <c:spPr>
            <a:solidFill>
              <a:schemeClr val="accent2"/>
            </a:solidFill>
            <a:ln>
              <a:noFill/>
            </a:ln>
            <a:effectLst/>
            <a:sp3d/>
          </c:spPr>
          <c:invertIfNegative val="0"/>
          <c:cat>
            <c:strRef>
              <c:f>Foglio1!$A$2:$A$3</c:f>
              <c:strCache>
                <c:ptCount val="2"/>
                <c:pt idx="0">
                  <c:v>Diabetes</c:v>
                </c:pt>
                <c:pt idx="1">
                  <c:v>No Diabetes</c:v>
                </c:pt>
              </c:strCache>
            </c:strRef>
          </c:cat>
          <c:val>
            <c:numRef>
              <c:f>Foglio1!$C$2:$C$3</c:f>
              <c:numCache>
                <c:formatCode>General</c:formatCode>
                <c:ptCount val="2"/>
                <c:pt idx="0">
                  <c:v>6.5</c:v>
                </c:pt>
                <c:pt idx="1">
                  <c:v>93.5</c:v>
                </c:pt>
              </c:numCache>
            </c:numRef>
          </c:val>
          <c:extLst>
            <c:ext xmlns:c16="http://schemas.microsoft.com/office/drawing/2014/chart" uri="{C3380CC4-5D6E-409C-BE32-E72D297353CC}">
              <c16:uniqueId val="{00000001-2C16-EE4C-B6EF-4EBCEC737BC5}"/>
            </c:ext>
          </c:extLst>
        </c:ser>
        <c:ser>
          <c:idx val="2"/>
          <c:order val="2"/>
          <c:tx>
            <c:strRef>
              <c:f>Foglio1!$D$1</c:f>
              <c:strCache>
                <c:ptCount val="1"/>
                <c:pt idx="0">
                  <c:v>Overweight</c:v>
                </c:pt>
              </c:strCache>
            </c:strRef>
          </c:tx>
          <c:spPr>
            <a:solidFill>
              <a:schemeClr val="accent3"/>
            </a:solidFill>
            <a:ln>
              <a:noFill/>
            </a:ln>
            <a:effectLst/>
            <a:sp3d/>
          </c:spPr>
          <c:invertIfNegative val="0"/>
          <c:cat>
            <c:strRef>
              <c:f>Foglio1!$A$2:$A$3</c:f>
              <c:strCache>
                <c:ptCount val="2"/>
                <c:pt idx="0">
                  <c:v>Diabetes</c:v>
                </c:pt>
                <c:pt idx="1">
                  <c:v>No Diabetes</c:v>
                </c:pt>
              </c:strCache>
            </c:strRef>
          </c:cat>
          <c:val>
            <c:numRef>
              <c:f>Foglio1!$D$2:$D$3</c:f>
              <c:numCache>
                <c:formatCode>General</c:formatCode>
                <c:ptCount val="2"/>
                <c:pt idx="0">
                  <c:v>24.4</c:v>
                </c:pt>
                <c:pt idx="1">
                  <c:v>75.599999999999994</c:v>
                </c:pt>
              </c:numCache>
            </c:numRef>
          </c:val>
          <c:extLst>
            <c:ext xmlns:c16="http://schemas.microsoft.com/office/drawing/2014/chart" uri="{C3380CC4-5D6E-409C-BE32-E72D297353CC}">
              <c16:uniqueId val="{00000002-2C16-EE4C-B6EF-4EBCEC737BC5}"/>
            </c:ext>
          </c:extLst>
        </c:ser>
        <c:ser>
          <c:idx val="3"/>
          <c:order val="3"/>
          <c:tx>
            <c:strRef>
              <c:f>Foglio1!$E$1</c:f>
              <c:strCache>
                <c:ptCount val="1"/>
                <c:pt idx="0">
                  <c:v>Obese</c:v>
                </c:pt>
              </c:strCache>
            </c:strRef>
          </c:tx>
          <c:spPr>
            <a:solidFill>
              <a:schemeClr val="accent4"/>
            </a:solidFill>
            <a:ln>
              <a:noFill/>
            </a:ln>
            <a:effectLst/>
            <a:sp3d/>
          </c:spPr>
          <c:invertIfNegative val="0"/>
          <c:cat>
            <c:strRef>
              <c:f>Foglio1!$A$2:$A$3</c:f>
              <c:strCache>
                <c:ptCount val="2"/>
                <c:pt idx="0">
                  <c:v>Diabetes</c:v>
                </c:pt>
                <c:pt idx="1">
                  <c:v>No Diabetes</c:v>
                </c:pt>
              </c:strCache>
            </c:strRef>
          </c:cat>
          <c:val>
            <c:numRef>
              <c:f>Foglio1!$E$2:$E$3</c:f>
              <c:numCache>
                <c:formatCode>General</c:formatCode>
                <c:ptCount val="2"/>
                <c:pt idx="0">
                  <c:v>46.2</c:v>
                </c:pt>
                <c:pt idx="1">
                  <c:v>53.8</c:v>
                </c:pt>
              </c:numCache>
            </c:numRef>
          </c:val>
          <c:extLst>
            <c:ext xmlns:c16="http://schemas.microsoft.com/office/drawing/2014/chart" uri="{C3380CC4-5D6E-409C-BE32-E72D297353CC}">
              <c16:uniqueId val="{00000003-2C16-EE4C-B6EF-4EBCEC737BC5}"/>
            </c:ext>
          </c:extLst>
        </c:ser>
        <c:dLbls>
          <c:showLegendKey val="0"/>
          <c:showVal val="0"/>
          <c:showCatName val="0"/>
          <c:showSerName val="0"/>
          <c:showPercent val="0"/>
          <c:showBubbleSize val="0"/>
        </c:dLbls>
        <c:gapWidth val="26"/>
        <c:gapDepth val="144"/>
        <c:shape val="cylinder"/>
        <c:axId val="1461428095"/>
        <c:axId val="1461434815"/>
        <c:axId val="0"/>
      </c:bar3DChart>
      <c:catAx>
        <c:axId val="14614280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461434815"/>
        <c:crossesAt val="20"/>
        <c:auto val="1"/>
        <c:lblAlgn val="ctr"/>
        <c:lblOffset val="100"/>
        <c:noMultiLvlLbl val="0"/>
      </c:catAx>
      <c:valAx>
        <c:axId val="1461434815"/>
        <c:scaling>
          <c:orientation val="minMax"/>
          <c:max val="200"/>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461428095"/>
        <c:crosses val="autoZero"/>
        <c:crossBetween val="between"/>
        <c:dispUnits>
          <c:builtInUnit val="hundreds"/>
        </c:dispUnits>
      </c:valAx>
      <c:dTable>
        <c:showHorzBorder val="1"/>
        <c:showVertBorder val="1"/>
        <c:showOutline val="1"/>
        <c:showKeys val="0"/>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it-IT"/>
          </a:p>
        </c:txPr>
      </c:dTable>
      <c:spPr>
        <a:noFill/>
        <a:ln w="25400">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it-IT" sz="1600" dirty="0" err="1"/>
              <a:t>Diabetes</a:t>
            </a:r>
            <a:r>
              <a:rPr lang="it-IT" sz="1600" baseline="0" dirty="0"/>
              <a:t> Rate by </a:t>
            </a:r>
            <a:r>
              <a:rPr lang="it-IT" sz="1600" baseline="0" dirty="0" err="1"/>
              <a:t>Pregnancy</a:t>
            </a:r>
            <a:r>
              <a:rPr lang="it-IT" sz="1600" baseline="0" dirty="0"/>
              <a:t> Group</a:t>
            </a:r>
            <a:endParaRPr lang="it-IT" sz="1600" dirty="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it-IT"/>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Foglio1!$B$1</c:f>
              <c:strCache>
                <c:ptCount val="1"/>
                <c:pt idx="0">
                  <c:v>0</c:v>
                </c:pt>
              </c:strCache>
            </c:strRef>
          </c:tx>
          <c:spPr>
            <a:solidFill>
              <a:schemeClr val="accent1"/>
            </a:solidFill>
            <a:ln>
              <a:noFill/>
            </a:ln>
            <a:effectLst/>
            <a:sp3d/>
          </c:spPr>
          <c:invertIfNegative val="0"/>
          <c:cat>
            <c:strRef>
              <c:f>Foglio1!$A$2:$A$3</c:f>
              <c:strCache>
                <c:ptCount val="2"/>
                <c:pt idx="0">
                  <c:v>Diabetes</c:v>
                </c:pt>
                <c:pt idx="1">
                  <c:v>No Diabetes</c:v>
                </c:pt>
              </c:strCache>
            </c:strRef>
          </c:cat>
          <c:val>
            <c:numRef>
              <c:f>Foglio1!$B$2:$B$3</c:f>
              <c:numCache>
                <c:formatCode>General</c:formatCode>
                <c:ptCount val="2"/>
                <c:pt idx="0">
                  <c:v>34.200000000000003</c:v>
                </c:pt>
                <c:pt idx="1">
                  <c:v>65.8</c:v>
                </c:pt>
              </c:numCache>
            </c:numRef>
          </c:val>
          <c:extLst>
            <c:ext xmlns:c16="http://schemas.microsoft.com/office/drawing/2014/chart" uri="{C3380CC4-5D6E-409C-BE32-E72D297353CC}">
              <c16:uniqueId val="{00000000-B503-DD4F-B75D-354A10ED9A4F}"/>
            </c:ext>
          </c:extLst>
        </c:ser>
        <c:ser>
          <c:idx val="1"/>
          <c:order val="1"/>
          <c:tx>
            <c:strRef>
              <c:f>Foglio1!$C$1</c:f>
              <c:strCache>
                <c:ptCount val="1"/>
                <c:pt idx="0">
                  <c:v>1-2.</c:v>
                </c:pt>
              </c:strCache>
            </c:strRef>
          </c:tx>
          <c:spPr>
            <a:solidFill>
              <a:schemeClr val="accent2"/>
            </a:solidFill>
            <a:ln>
              <a:noFill/>
            </a:ln>
            <a:effectLst/>
            <a:sp3d/>
          </c:spPr>
          <c:invertIfNegative val="0"/>
          <c:cat>
            <c:strRef>
              <c:f>Foglio1!$A$2:$A$3</c:f>
              <c:strCache>
                <c:ptCount val="2"/>
                <c:pt idx="0">
                  <c:v>Diabetes</c:v>
                </c:pt>
                <c:pt idx="1">
                  <c:v>No Diabetes</c:v>
                </c:pt>
              </c:strCache>
            </c:strRef>
          </c:cat>
          <c:val>
            <c:numRef>
              <c:f>Foglio1!$C$2:$C$3</c:f>
              <c:numCache>
                <c:formatCode>General</c:formatCode>
                <c:ptCount val="2"/>
                <c:pt idx="0">
                  <c:v>20.2</c:v>
                </c:pt>
                <c:pt idx="1">
                  <c:v>79.8</c:v>
                </c:pt>
              </c:numCache>
            </c:numRef>
          </c:val>
          <c:extLst>
            <c:ext xmlns:c16="http://schemas.microsoft.com/office/drawing/2014/chart" uri="{C3380CC4-5D6E-409C-BE32-E72D297353CC}">
              <c16:uniqueId val="{00000001-B503-DD4F-B75D-354A10ED9A4F}"/>
            </c:ext>
          </c:extLst>
        </c:ser>
        <c:ser>
          <c:idx val="2"/>
          <c:order val="2"/>
          <c:tx>
            <c:strRef>
              <c:f>Foglio1!$D$1</c:f>
              <c:strCache>
                <c:ptCount val="1"/>
                <c:pt idx="0">
                  <c:v>3-4.</c:v>
                </c:pt>
              </c:strCache>
            </c:strRef>
          </c:tx>
          <c:spPr>
            <a:solidFill>
              <a:schemeClr val="accent3"/>
            </a:solidFill>
            <a:ln>
              <a:noFill/>
            </a:ln>
            <a:effectLst/>
            <a:sp3d/>
          </c:spPr>
          <c:invertIfNegative val="0"/>
          <c:cat>
            <c:strRef>
              <c:f>Foglio1!$A$2:$A$3</c:f>
              <c:strCache>
                <c:ptCount val="2"/>
                <c:pt idx="0">
                  <c:v>Diabetes</c:v>
                </c:pt>
                <c:pt idx="1">
                  <c:v>No Diabetes</c:v>
                </c:pt>
              </c:strCache>
            </c:strRef>
          </c:cat>
          <c:val>
            <c:numRef>
              <c:f>Foglio1!$D$2:$D$3</c:f>
              <c:numCache>
                <c:formatCode>General</c:formatCode>
                <c:ptCount val="2"/>
                <c:pt idx="0">
                  <c:v>35</c:v>
                </c:pt>
                <c:pt idx="1">
                  <c:v>65</c:v>
                </c:pt>
              </c:numCache>
            </c:numRef>
          </c:val>
          <c:extLst>
            <c:ext xmlns:c16="http://schemas.microsoft.com/office/drawing/2014/chart" uri="{C3380CC4-5D6E-409C-BE32-E72D297353CC}">
              <c16:uniqueId val="{00000002-B503-DD4F-B75D-354A10ED9A4F}"/>
            </c:ext>
          </c:extLst>
        </c:ser>
        <c:ser>
          <c:idx val="3"/>
          <c:order val="3"/>
          <c:tx>
            <c:strRef>
              <c:f>Foglio1!$E$1</c:f>
              <c:strCache>
                <c:ptCount val="1"/>
                <c:pt idx="0">
                  <c:v>5+</c:v>
                </c:pt>
              </c:strCache>
            </c:strRef>
          </c:tx>
          <c:spPr>
            <a:solidFill>
              <a:schemeClr val="accent4"/>
            </a:solidFill>
            <a:ln>
              <a:noFill/>
            </a:ln>
            <a:effectLst/>
            <a:sp3d/>
          </c:spPr>
          <c:invertIfNegative val="0"/>
          <c:cat>
            <c:strRef>
              <c:f>Foglio1!$A$2:$A$3</c:f>
              <c:strCache>
                <c:ptCount val="2"/>
                <c:pt idx="0">
                  <c:v>Diabetes</c:v>
                </c:pt>
                <c:pt idx="1">
                  <c:v>No Diabetes</c:v>
                </c:pt>
              </c:strCache>
            </c:strRef>
          </c:cat>
          <c:val>
            <c:numRef>
              <c:f>Foglio1!$E$2:$E$3</c:f>
              <c:numCache>
                <c:formatCode>General</c:formatCode>
                <c:ptCount val="2"/>
                <c:pt idx="0">
                  <c:v>47.8</c:v>
                </c:pt>
                <c:pt idx="1">
                  <c:v>52.2</c:v>
                </c:pt>
              </c:numCache>
            </c:numRef>
          </c:val>
          <c:extLst>
            <c:ext xmlns:c16="http://schemas.microsoft.com/office/drawing/2014/chart" uri="{C3380CC4-5D6E-409C-BE32-E72D297353CC}">
              <c16:uniqueId val="{00000003-B503-DD4F-B75D-354A10ED9A4F}"/>
            </c:ext>
          </c:extLst>
        </c:ser>
        <c:dLbls>
          <c:showLegendKey val="0"/>
          <c:showVal val="0"/>
          <c:showCatName val="0"/>
          <c:showSerName val="0"/>
          <c:showPercent val="0"/>
          <c:showBubbleSize val="0"/>
        </c:dLbls>
        <c:gapWidth val="150"/>
        <c:shape val="box"/>
        <c:axId val="1374529151"/>
        <c:axId val="1374523775"/>
        <c:axId val="0"/>
      </c:bar3DChart>
      <c:catAx>
        <c:axId val="137452915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74523775"/>
        <c:crosses val="autoZero"/>
        <c:auto val="1"/>
        <c:lblAlgn val="ctr"/>
        <c:lblOffset val="100"/>
        <c:noMultiLvlLbl val="0"/>
      </c:catAx>
      <c:valAx>
        <c:axId val="137452377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374529151"/>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197" b="0" i="0" u="none" strike="noStrike" kern="1200" baseline="0">
                <a:solidFill>
                  <a:schemeClr val="tx1">
                    <a:lumMod val="65000"/>
                    <a:lumOff val="35000"/>
                  </a:schemeClr>
                </a:solidFill>
                <a:latin typeface="+mn-lt"/>
                <a:ea typeface="+mn-ea"/>
                <a:cs typeface="+mn-cs"/>
              </a:defRPr>
            </a:pPr>
            <a:endParaRPr lang="it-IT"/>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it-IT" dirty="0" err="1"/>
              <a:t>Correlation</a:t>
            </a:r>
            <a:r>
              <a:rPr lang="it-IT" baseline="0" dirty="0"/>
              <a:t> with </a:t>
            </a:r>
            <a:r>
              <a:rPr lang="it-IT" baseline="0" dirty="0" err="1"/>
              <a:t>diabetes</a:t>
            </a:r>
            <a:r>
              <a:rPr lang="it-IT" baseline="0" dirty="0"/>
              <a:t> </a:t>
            </a:r>
            <a:r>
              <a:rPr lang="it-IT" baseline="0" dirty="0" err="1"/>
              <a:t>outcome</a:t>
            </a:r>
            <a:endParaRPr lang="it-IT"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it-IT"/>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clustered"/>
        <c:varyColors val="0"/>
        <c:ser>
          <c:idx val="0"/>
          <c:order val="0"/>
          <c:tx>
            <c:strRef>
              <c:f>Foglio1!$B$1</c:f>
              <c:strCache>
                <c:ptCount val="1"/>
                <c:pt idx="0">
                  <c:v>SkinThickness</c:v>
                </c:pt>
              </c:strCache>
            </c:strRef>
          </c:tx>
          <c:spPr>
            <a:solidFill>
              <a:schemeClr val="accent1"/>
            </a:solidFill>
            <a:ln>
              <a:noFill/>
            </a:ln>
            <a:effectLst/>
            <a:sp3d/>
          </c:spPr>
          <c:invertIfNegative val="0"/>
          <c:cat>
            <c:strRef>
              <c:f>Foglio1!$A$2</c:f>
              <c:strCache>
                <c:ptCount val="1"/>
                <c:pt idx="0">
                  <c:v>Categoria 1</c:v>
                </c:pt>
              </c:strCache>
            </c:strRef>
          </c:cat>
          <c:val>
            <c:numRef>
              <c:f>Foglio1!$B$2</c:f>
              <c:numCache>
                <c:formatCode>General</c:formatCode>
                <c:ptCount val="1"/>
                <c:pt idx="0">
                  <c:v>7.0000000000000007E-2</c:v>
                </c:pt>
              </c:numCache>
            </c:numRef>
          </c:val>
          <c:extLst>
            <c:ext xmlns:c16="http://schemas.microsoft.com/office/drawing/2014/chart" uri="{C3380CC4-5D6E-409C-BE32-E72D297353CC}">
              <c16:uniqueId val="{00000000-B30B-0E41-8062-C7081D9B26FA}"/>
            </c:ext>
          </c:extLst>
        </c:ser>
        <c:ser>
          <c:idx val="1"/>
          <c:order val="1"/>
          <c:tx>
            <c:strRef>
              <c:f>Foglio1!$C$1</c:f>
              <c:strCache>
                <c:ptCount val="1"/>
                <c:pt idx="0">
                  <c:v>BloodPressure</c:v>
                </c:pt>
              </c:strCache>
            </c:strRef>
          </c:tx>
          <c:spPr>
            <a:solidFill>
              <a:schemeClr val="accent2"/>
            </a:solidFill>
            <a:ln>
              <a:noFill/>
            </a:ln>
            <a:effectLst/>
            <a:sp3d/>
          </c:spPr>
          <c:invertIfNegative val="0"/>
          <c:cat>
            <c:strRef>
              <c:f>Foglio1!$A$2</c:f>
              <c:strCache>
                <c:ptCount val="1"/>
                <c:pt idx="0">
                  <c:v>Categoria 1</c:v>
                </c:pt>
              </c:strCache>
            </c:strRef>
          </c:cat>
          <c:val>
            <c:numRef>
              <c:f>Foglio1!$C$2</c:f>
              <c:numCache>
                <c:formatCode>General</c:formatCode>
                <c:ptCount val="1"/>
                <c:pt idx="0">
                  <c:v>7.0000000000000007E-2</c:v>
                </c:pt>
              </c:numCache>
            </c:numRef>
          </c:val>
          <c:extLst>
            <c:ext xmlns:c16="http://schemas.microsoft.com/office/drawing/2014/chart" uri="{C3380CC4-5D6E-409C-BE32-E72D297353CC}">
              <c16:uniqueId val="{00000001-B30B-0E41-8062-C7081D9B26FA}"/>
            </c:ext>
          </c:extLst>
        </c:ser>
        <c:ser>
          <c:idx val="2"/>
          <c:order val="2"/>
          <c:tx>
            <c:strRef>
              <c:f>Foglio1!$D$1</c:f>
              <c:strCache>
                <c:ptCount val="1"/>
                <c:pt idx="0">
                  <c:v>Insulin</c:v>
                </c:pt>
              </c:strCache>
            </c:strRef>
          </c:tx>
          <c:spPr>
            <a:solidFill>
              <a:schemeClr val="accent3"/>
            </a:solidFill>
            <a:ln>
              <a:noFill/>
            </a:ln>
            <a:effectLst/>
            <a:sp3d/>
          </c:spPr>
          <c:invertIfNegative val="0"/>
          <c:cat>
            <c:strRef>
              <c:f>Foglio1!$A$2</c:f>
              <c:strCache>
                <c:ptCount val="1"/>
                <c:pt idx="0">
                  <c:v>Categoria 1</c:v>
                </c:pt>
              </c:strCache>
            </c:strRef>
          </c:cat>
          <c:val>
            <c:numRef>
              <c:f>Foglio1!$D$2</c:f>
              <c:numCache>
                <c:formatCode>General</c:formatCode>
                <c:ptCount val="1"/>
                <c:pt idx="0">
                  <c:v>0.13</c:v>
                </c:pt>
              </c:numCache>
            </c:numRef>
          </c:val>
          <c:extLst>
            <c:ext xmlns:c16="http://schemas.microsoft.com/office/drawing/2014/chart" uri="{C3380CC4-5D6E-409C-BE32-E72D297353CC}">
              <c16:uniqueId val="{00000002-B30B-0E41-8062-C7081D9B26FA}"/>
            </c:ext>
          </c:extLst>
        </c:ser>
        <c:ser>
          <c:idx val="3"/>
          <c:order val="3"/>
          <c:tx>
            <c:strRef>
              <c:f>Foglio1!$E$1</c:f>
              <c:strCache>
                <c:ptCount val="1"/>
                <c:pt idx="0">
                  <c:v>DPF</c:v>
                </c:pt>
              </c:strCache>
            </c:strRef>
          </c:tx>
          <c:spPr>
            <a:solidFill>
              <a:schemeClr val="accent4"/>
            </a:solidFill>
            <a:ln>
              <a:noFill/>
            </a:ln>
            <a:effectLst/>
            <a:sp3d/>
          </c:spPr>
          <c:invertIfNegative val="0"/>
          <c:cat>
            <c:strRef>
              <c:f>Foglio1!$A$2</c:f>
              <c:strCache>
                <c:ptCount val="1"/>
                <c:pt idx="0">
                  <c:v>Categoria 1</c:v>
                </c:pt>
              </c:strCache>
            </c:strRef>
          </c:cat>
          <c:val>
            <c:numRef>
              <c:f>Foglio1!$E$2</c:f>
              <c:numCache>
                <c:formatCode>General</c:formatCode>
                <c:ptCount val="1"/>
                <c:pt idx="0">
                  <c:v>0.17</c:v>
                </c:pt>
              </c:numCache>
            </c:numRef>
          </c:val>
          <c:extLst>
            <c:ext xmlns:c16="http://schemas.microsoft.com/office/drawing/2014/chart" uri="{C3380CC4-5D6E-409C-BE32-E72D297353CC}">
              <c16:uniqueId val="{00000003-B30B-0E41-8062-C7081D9B26FA}"/>
            </c:ext>
          </c:extLst>
        </c:ser>
        <c:ser>
          <c:idx val="4"/>
          <c:order val="4"/>
          <c:tx>
            <c:strRef>
              <c:f>Foglio1!$F$1</c:f>
              <c:strCache>
                <c:ptCount val="1"/>
                <c:pt idx="0">
                  <c:v>Pregnancies</c:v>
                </c:pt>
              </c:strCache>
            </c:strRef>
          </c:tx>
          <c:spPr>
            <a:solidFill>
              <a:schemeClr val="accent5"/>
            </a:solidFill>
            <a:ln>
              <a:noFill/>
            </a:ln>
            <a:effectLst/>
            <a:sp3d/>
          </c:spPr>
          <c:invertIfNegative val="0"/>
          <c:cat>
            <c:strRef>
              <c:f>Foglio1!$A$2</c:f>
              <c:strCache>
                <c:ptCount val="1"/>
                <c:pt idx="0">
                  <c:v>Categoria 1</c:v>
                </c:pt>
              </c:strCache>
            </c:strRef>
          </c:cat>
          <c:val>
            <c:numRef>
              <c:f>Foglio1!$F$2</c:f>
              <c:numCache>
                <c:formatCode>General</c:formatCode>
                <c:ptCount val="1"/>
                <c:pt idx="0">
                  <c:v>0.22</c:v>
                </c:pt>
              </c:numCache>
            </c:numRef>
          </c:val>
          <c:extLst>
            <c:ext xmlns:c16="http://schemas.microsoft.com/office/drawing/2014/chart" uri="{C3380CC4-5D6E-409C-BE32-E72D297353CC}">
              <c16:uniqueId val="{00000004-B30B-0E41-8062-C7081D9B26FA}"/>
            </c:ext>
          </c:extLst>
        </c:ser>
        <c:ser>
          <c:idx val="5"/>
          <c:order val="5"/>
          <c:tx>
            <c:strRef>
              <c:f>Foglio1!$G$1</c:f>
              <c:strCache>
                <c:ptCount val="1"/>
                <c:pt idx="0">
                  <c:v>Age</c:v>
                </c:pt>
              </c:strCache>
            </c:strRef>
          </c:tx>
          <c:spPr>
            <a:solidFill>
              <a:schemeClr val="accent6"/>
            </a:solidFill>
            <a:ln>
              <a:noFill/>
            </a:ln>
            <a:effectLst/>
            <a:sp3d/>
          </c:spPr>
          <c:invertIfNegative val="0"/>
          <c:cat>
            <c:strRef>
              <c:f>Foglio1!$A$2</c:f>
              <c:strCache>
                <c:ptCount val="1"/>
                <c:pt idx="0">
                  <c:v>Categoria 1</c:v>
                </c:pt>
              </c:strCache>
            </c:strRef>
          </c:cat>
          <c:val>
            <c:numRef>
              <c:f>Foglio1!$G$2</c:f>
              <c:numCache>
                <c:formatCode>General</c:formatCode>
                <c:ptCount val="1"/>
                <c:pt idx="0">
                  <c:v>0.24</c:v>
                </c:pt>
              </c:numCache>
            </c:numRef>
          </c:val>
          <c:extLst>
            <c:ext xmlns:c16="http://schemas.microsoft.com/office/drawing/2014/chart" uri="{C3380CC4-5D6E-409C-BE32-E72D297353CC}">
              <c16:uniqueId val="{00000005-B30B-0E41-8062-C7081D9B26FA}"/>
            </c:ext>
          </c:extLst>
        </c:ser>
        <c:ser>
          <c:idx val="6"/>
          <c:order val="6"/>
          <c:tx>
            <c:strRef>
              <c:f>Foglio1!$H$1</c:f>
              <c:strCache>
                <c:ptCount val="1"/>
                <c:pt idx="0">
                  <c:v>BMI</c:v>
                </c:pt>
              </c:strCache>
            </c:strRef>
          </c:tx>
          <c:spPr>
            <a:solidFill>
              <a:schemeClr val="accent1">
                <a:lumMod val="60000"/>
              </a:schemeClr>
            </a:solidFill>
            <a:ln>
              <a:noFill/>
            </a:ln>
            <a:effectLst/>
            <a:sp3d/>
          </c:spPr>
          <c:invertIfNegative val="0"/>
          <c:cat>
            <c:strRef>
              <c:f>Foglio1!$A$2</c:f>
              <c:strCache>
                <c:ptCount val="1"/>
                <c:pt idx="0">
                  <c:v>Categoria 1</c:v>
                </c:pt>
              </c:strCache>
            </c:strRef>
          </c:cat>
          <c:val>
            <c:numRef>
              <c:f>Foglio1!$H$2</c:f>
              <c:numCache>
                <c:formatCode>General</c:formatCode>
                <c:ptCount val="1"/>
                <c:pt idx="0">
                  <c:v>0.28999999999999998</c:v>
                </c:pt>
              </c:numCache>
            </c:numRef>
          </c:val>
          <c:extLst>
            <c:ext xmlns:c16="http://schemas.microsoft.com/office/drawing/2014/chart" uri="{C3380CC4-5D6E-409C-BE32-E72D297353CC}">
              <c16:uniqueId val="{00000006-B30B-0E41-8062-C7081D9B26FA}"/>
            </c:ext>
          </c:extLst>
        </c:ser>
        <c:ser>
          <c:idx val="7"/>
          <c:order val="7"/>
          <c:tx>
            <c:strRef>
              <c:f>Foglio1!$I$1</c:f>
              <c:strCache>
                <c:ptCount val="1"/>
                <c:pt idx="0">
                  <c:v>Glucose</c:v>
                </c:pt>
              </c:strCache>
            </c:strRef>
          </c:tx>
          <c:spPr>
            <a:solidFill>
              <a:schemeClr val="accent2">
                <a:lumMod val="60000"/>
              </a:schemeClr>
            </a:solidFill>
            <a:ln>
              <a:noFill/>
            </a:ln>
            <a:effectLst/>
            <a:sp3d/>
          </c:spPr>
          <c:invertIfNegative val="0"/>
          <c:cat>
            <c:strRef>
              <c:f>Foglio1!$A$2</c:f>
              <c:strCache>
                <c:ptCount val="1"/>
                <c:pt idx="0">
                  <c:v>Categoria 1</c:v>
                </c:pt>
              </c:strCache>
            </c:strRef>
          </c:cat>
          <c:val>
            <c:numRef>
              <c:f>Foglio1!$I$2</c:f>
              <c:numCache>
                <c:formatCode>General</c:formatCode>
                <c:ptCount val="1"/>
                <c:pt idx="0">
                  <c:v>0.47</c:v>
                </c:pt>
              </c:numCache>
            </c:numRef>
          </c:val>
          <c:extLst>
            <c:ext xmlns:c16="http://schemas.microsoft.com/office/drawing/2014/chart" uri="{C3380CC4-5D6E-409C-BE32-E72D297353CC}">
              <c16:uniqueId val="{00000007-B30B-0E41-8062-C7081D9B26FA}"/>
            </c:ext>
          </c:extLst>
        </c:ser>
        <c:dLbls>
          <c:showLegendKey val="0"/>
          <c:showVal val="0"/>
          <c:showCatName val="0"/>
          <c:showSerName val="0"/>
          <c:showPercent val="0"/>
          <c:showBubbleSize val="0"/>
        </c:dLbls>
        <c:gapWidth val="150"/>
        <c:shape val="box"/>
        <c:axId val="1514688000"/>
        <c:axId val="1499209600"/>
        <c:axId val="0"/>
      </c:bar3DChart>
      <c:catAx>
        <c:axId val="1514688000"/>
        <c:scaling>
          <c:orientation val="minMax"/>
        </c:scaling>
        <c:delete val="1"/>
        <c:axPos val="l"/>
        <c:numFmt formatCode="General" sourceLinked="1"/>
        <c:majorTickMark val="none"/>
        <c:minorTickMark val="none"/>
        <c:tickLblPos val="nextTo"/>
        <c:crossAx val="1499209600"/>
        <c:crosses val="autoZero"/>
        <c:auto val="1"/>
        <c:lblAlgn val="ctr"/>
        <c:lblOffset val="100"/>
        <c:noMultiLvlLbl val="0"/>
      </c:catAx>
      <c:valAx>
        <c:axId val="1499209600"/>
        <c:scaling>
          <c:orientation val="minMax"/>
          <c:max val="1"/>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crossAx val="151468800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it-IT"/>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it-IT"/>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3">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330" b="0" i="0" u="none" strike="noStrike" kern="1200" baseline="0">
      <a:effectLst/>
    </cs:defRPr>
    <cs:bodyPr rot="0" spcFirstLastPara="1" vertOverflow="clip" horzOverflow="clip" vert="horz" wrap="square" lIns="38100" tIns="19050" rIns="38100" bIns="19050" anchor="ctr" anchorCtr="1">
      <a:spAutoFit/>
    </cs:bodyPr>
  </cs:dataLabel>
  <cs:dataLabelCallout>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330" b="0" i="0" u="none" strike="noStrike" kern="1200" baseline="0">
      <a:effectLst/>
    </cs:defRPr>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styleClr val="auto"/>
    </cs:lnRef>
    <cs:fillRef idx="0">
      <cs:styleClr val="auto"/>
    </cs:fillRef>
    <cs:effectRef idx="0">
      <cs:styleClr val="auto"/>
    </cs:effectRef>
    <cs:fontRef idx="minor">
      <a:schemeClr val="tx1"/>
    </cs:fontRef>
    <cs:spPr>
      <a:solidFill>
        <a:schemeClr val="phClr">
          <a:alpha val="90000"/>
        </a:schemeClr>
      </a:solidFill>
      <a:ln w="19050">
        <a:solidFill>
          <a:schemeClr val="phClr">
            <a:lumMod val="75000"/>
          </a:schemeClr>
        </a:solidFill>
      </a:ln>
      <a:effectLst>
        <a:innerShdw blurRad="114300">
          <a:schemeClr val="phClr">
            <a:lumMod val="75000"/>
          </a:schemeClr>
        </a:innerShdw>
      </a:effectLst>
      <a:scene3d>
        <a:camera prst="orthographicFront"/>
        <a:lightRig rig="threePt" dir="t"/>
      </a:scene3d>
      <a:sp3d contourW="19050" prstMaterial="flat">
        <a:contourClr>
          <a:schemeClr val="accent4">
            <a:lumMod val="75000"/>
          </a:schemeClr>
        </a:contourClr>
      </a:sp3d>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200" b="1" kern="1200" cap="all"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10A_F89443B.xml><?xml version="1.0" encoding="utf-8"?>
<p188:cmLst xmlns:a="http://schemas.openxmlformats.org/drawingml/2006/main" xmlns:r="http://schemas.openxmlformats.org/officeDocument/2006/relationships" xmlns:p188="http://schemas.microsoft.com/office/powerpoint/2018/8/main">
  <p188:cm id="{447A31E1-6123-5647-B0EA-13EDDF4C6694}" authorId="{738CAE48-C88C-90A9-EAFA-D240677B8A2C}" created="2026-07-14T09:31:35.174">
    <pc:sldMkLst xmlns:pc="http://schemas.microsoft.com/office/powerpoint/2013/main/command">
      <pc:docMk/>
      <pc:sldMk cId="260654139" sldId="266"/>
    </pc:sldMkLst>
    <p188:txBody>
      <a:bodyPr/>
      <a:lstStyle/>
      <a:p>
        <a:r>
          <a:rPr lang="it-IT"/>
          <a:t>side-by-side boxplot.</a:t>
        </a:r>
      </a:p>
    </p188:txBody>
  </p188:cm>
  <p188:cm id="{ECB04BC9-7028-6840-9411-EE4BA1E769BC}" authorId="{738CAE48-C88C-90A9-EAFA-D240677B8A2C}" created="2026-07-15T10:35:59.751">
    <ac:deMkLst xmlns:ac="http://schemas.microsoft.com/office/drawing/2013/main/command">
      <pc:docMk xmlns:pc="http://schemas.microsoft.com/office/powerpoint/2013/main/command"/>
      <pc:sldMk xmlns:pc="http://schemas.microsoft.com/office/powerpoint/2013/main/command" cId="260654139" sldId="266"/>
      <ac:spMk id="3" creationId="{1CB04EE1-B9B7-A376-05BA-869C1685B55F}"/>
    </ac:deMkLst>
    <p188:txBody>
      <a:bodyPr/>
      <a:lstStyle/>
      <a:p>
        <a:r>
          <a:rPr lang="it-IT"/>
          <a:t>Speaker Notes
≈1 minute
Explain:
median
spread
outliers
clinical relevance</a:t>
        </a:r>
      </a:p>
    </p188:txBody>
  </p188:cm>
  <p188:cm id="{F3EF48AE-CFD8-524F-8733-C1FE31C6E25D}" authorId="{738CAE48-C88C-90A9-EAFA-D240677B8A2C}" created="2026-07-15T13:48:07.495">
    <ac:deMkLst xmlns:ac="http://schemas.microsoft.com/office/drawing/2013/main/command">
      <pc:docMk xmlns:pc="http://schemas.microsoft.com/office/powerpoint/2013/main/command"/>
      <pc:sldMk xmlns:pc="http://schemas.microsoft.com/office/powerpoint/2013/main/command" cId="260654139" sldId="266"/>
      <ac:spMk id="6" creationId="{F0669340-2857-AF0C-2C2B-13EB7A6497E5}"/>
    </ac:deMkLst>
    <p188:txBody>
      <a:bodyPr/>
      <a:lstStyle/>
      <a:p>
        <a:r>
          <a:rPr lang="it-IT"/>
          <a:t>"This boxplot compares glucose levels between participants with and without diabetes. The diabetic group shows noticeably higher glucose values, with a mean of approximately 141 mg/dL compared with 110 mg/dL in the non-diabetic group. A Welch two-sample t-test confirmed that this difference is statistically significant (p &lt; 0.001), suggesting that glucose is strongly associated with diabetes in this dataset."</a:t>
        </a:r>
      </a:p>
    </p188:txBody>
  </p188:cm>
</p188:cmLst>
</file>

<file path=ppt/comments/modernComment_10B_A5AC221D.xml><?xml version="1.0" encoding="utf-8"?>
<p188:cmLst xmlns:a="http://schemas.openxmlformats.org/drawingml/2006/main" xmlns:r="http://schemas.openxmlformats.org/officeDocument/2006/relationships" xmlns:p188="http://schemas.microsoft.com/office/powerpoint/2018/8/main">
  <p188:cm id="{8AA96C67-986E-2D43-B08D-27714CA2C4D8}" authorId="{738CAE48-C88C-90A9-EAFA-D240677B8A2C}" created="2026-07-14T09:31:42.439">
    <pc:sldMkLst xmlns:pc="http://schemas.microsoft.com/office/powerpoint/2013/main/command">
      <pc:docMk/>
      <pc:sldMk cId="2779521565" sldId="267"/>
    </pc:sldMkLst>
    <p188:txBody>
      <a:bodyPr/>
      <a:lstStyle/>
      <a:p>
        <a:r>
          <a:rPr lang="it-IT"/>
          <a:t>boxplot.
pregnancies vs outcome</a:t>
        </a:r>
      </a:p>
    </p188:txBody>
  </p188:cm>
  <p188:cm id="{DEED65D5-0BFA-A241-87CA-21AA9908DC8C}" authorId="{738CAE48-C88C-90A9-EAFA-D240677B8A2C}" created="2026-07-15T10:36:52.585">
    <ac:deMkLst xmlns:ac="http://schemas.microsoft.com/office/drawing/2013/main/command">
      <pc:docMk xmlns:pc="http://schemas.microsoft.com/office/powerpoint/2013/main/command"/>
      <pc:sldMk xmlns:pc="http://schemas.microsoft.com/office/powerpoint/2013/main/command" cId="2779521565" sldId="267"/>
      <ac:spMk id="2" creationId="{EA18439E-437E-F88D-BA61-3D09BEC37D49}"/>
    </ac:deMkLst>
    <p188:txBody>
      <a:bodyPr/>
      <a:lstStyle/>
      <a:p>
        <a:r>
          <a:rPr lang="it-IT"/>
          <a:t>speech: Connect to your diabetes article if appropriate, otherwise keep interpretation cautious.</a:t>
        </a:r>
      </a:p>
    </p188:txBody>
  </p188:cm>
  <p188:cm id="{52A24BFD-8D20-5546-B4B8-AC96F9140EFA}" authorId="{738CAE48-C88C-90A9-EAFA-D240677B8A2C}" created="2026-07-15T13:58:20.845">
    <pc:sldMkLst xmlns:pc="http://schemas.microsoft.com/office/powerpoint/2013/main/command">
      <pc:docMk/>
      <pc:sldMk cId="2779521565" sldId="267"/>
    </pc:sldMkLst>
    <p188:txBody>
      <a:bodyPr/>
      <a:lstStyle/>
      <a:p>
        <a:r>
          <a:rPr lang="it-IT"/>
          <a:t>"This boxplot compares the number of pregnancies between participants with and without diabetes. Women in the diabetes group had a higher median and mean number of pregnancies than those without diabetes. A Welch two-sample t-test confirmed that this difference was statistically significant (p &lt; 0.001). These findings suggest that pregnancy history is associated with diabetes status in this dataset, although it should not be interpreted as a causal relationship."</a:t>
        </a:r>
      </a:p>
    </p188:txBody>
  </p188:cm>
</p188:cmLst>
</file>

<file path=ppt/comments/modernComment_10C_A01A967F.xml><?xml version="1.0" encoding="utf-8"?>
<p188:cmLst xmlns:a="http://schemas.openxmlformats.org/drawingml/2006/main" xmlns:r="http://schemas.openxmlformats.org/officeDocument/2006/relationships" xmlns:p188="http://schemas.microsoft.com/office/powerpoint/2018/8/main">
  <p188:cm id="{DC5765F8-10A7-1E4D-854B-0641B46A2573}" authorId="{738CAE48-C88C-90A9-EAFA-D240677B8A2C}" created="2026-07-15T10:37:34.887">
    <pc:sldMkLst xmlns:pc="http://schemas.microsoft.com/office/powerpoint/2013/main/command">
      <pc:docMk/>
      <pc:sldMk cId="2686097023" sldId="268"/>
    </pc:sldMkLst>
    <p188:txBody>
      <a:bodyPr/>
      <a:lstStyle/>
      <a:p>
        <a:r>
          <a:rPr lang="it-IT"/>
          <a:t>Research Question
Which variables are associated with one another?</a:t>
        </a:r>
      </a:p>
    </p188:txBody>
  </p188:cm>
  <p188:cm id="{23AD5064-C609-464B-A6F8-B1AF2ED2A171}" authorId="{738CAE48-C88C-90A9-EAFA-D240677B8A2C}" created="2026-07-15T10:37:48.470">
    <pc:sldMkLst xmlns:pc="http://schemas.microsoft.com/office/powerpoint/2013/main/command">
      <pc:docMk/>
      <pc:sldMk cId="2686097023" sldId="268"/>
    </pc:sldMkLst>
    <p188:txBody>
      <a:bodyPr/>
      <a:lstStyle/>
      <a:p>
        <a:r>
          <a:rPr lang="it-IT"/>
          <a:t>Graph
Correlation Heatmap</a:t>
        </a:r>
      </a:p>
    </p188:txBody>
  </p188:cm>
  <p188:cm id="{A1D9194D-379B-D94A-A24B-C57E10B177DA}" authorId="{738CAE48-C88C-90A9-EAFA-D240677B8A2C}" created="2026-07-15T10:38:20.969">
    <pc:sldMkLst xmlns:pc="http://schemas.microsoft.com/office/powerpoint/2013/main/command">
      <pc:docMk/>
      <pc:sldMk cId="2686097023" sldId="268"/>
    </pc:sldMkLst>
    <p188:txBody>
      <a:bodyPr/>
      <a:lstStyle/>
      <a:p>
        <a:r>
          <a:rPr lang="it-IT"/>
          <a:t>Statistical Dataset Evaluation
Discuss how correlation analysis helps identify meaningful relationships before regression modelling.
</a:t>
        </a:r>
      </a:p>
    </p188:txBody>
  </p188:cm>
  <p188:cm id="{C1A02D61-6A69-6A46-B623-DB92697EF959}" authorId="{738CAE48-C88C-90A9-EAFA-D240677B8A2C}" created="2026-07-15T10:38:32.887">
    <pc:sldMkLst xmlns:pc="http://schemas.microsoft.com/office/powerpoint/2013/main/command">
      <pc:docMk/>
      <pc:sldMk cId="2686097023" sldId="268"/>
    </pc:sldMkLst>
    <p188:txBody>
      <a:bodyPr/>
      <a:lstStyle/>
      <a:p>
        <a:r>
          <a:rPr lang="it-IT"/>
          <a:t>Speaker Notes
Discuss:
strongest correlations
weakest
multicollinearity
</a:t>
        </a:r>
      </a:p>
    </p188:txBody>
  </p188:cm>
  <p188:cm id="{F942F189-A0CC-794A-8FC5-3ED91A79E124}" authorId="{738CAE48-C88C-90A9-EAFA-D240677B8A2C}" created="2026-07-15T14:08:39.372">
    <pc:sldMkLst xmlns:pc="http://schemas.microsoft.com/office/powerpoint/2013/main/command">
      <pc:docMk/>
      <pc:sldMk cId="2686097023" sldId="268"/>
    </pc:sldMkLst>
    <p188:txBody>
      <a:bodyPr/>
      <a:lstStyle/>
      <a:p>
        <a:r>
          <a:rPr lang="it-IT"/>
          <a:t>"Pearson's correlation coefficients were calculated to examine the relationships between the predictor variables and diabetes outcome. Glucose demonstrated the strongest positive association with diabetes (r = 0.47), followed by BMI (r = 0.29) and Age (r = 0.24). Blood Pressure and Skin Thickness showed very weak correlations. Importantly, no correlation exceeded 0.70, indicating that multicollinearity is unlikely to be a concern. These findings support the inclusion of multiple predictors in the subsequent regression analyses."</a:t>
        </a:r>
      </a:p>
    </p188:txBody>
  </p188:cm>
</p188:cmLst>
</file>

<file path=ppt/comments/modernComment_10D_642EC706.xml><?xml version="1.0" encoding="utf-8"?>
<p188:cmLst xmlns:a="http://schemas.openxmlformats.org/drawingml/2006/main" xmlns:r="http://schemas.openxmlformats.org/officeDocument/2006/relationships" xmlns:p188="http://schemas.microsoft.com/office/powerpoint/2018/8/main">
  <p188:cm id="{B5A20B13-15EC-CD46-8272-A4D56FEB1CCF}" authorId="{738CAE48-C88C-90A9-EAFA-D240677B8A2C}" created="2026-07-14T09:34:10.613">
    <pc:sldMkLst xmlns:pc="http://schemas.microsoft.com/office/powerpoint/2013/main/command">
      <pc:docMk/>
      <pc:sldMk cId="1680787206" sldId="269"/>
    </pc:sldMkLst>
    <p188:txBody>
      <a:bodyPr/>
      <a:lstStyle/>
      <a:p>
        <a:r>
          <a:rPr lang="it-IT"/>
          <a:t>chi-square and ANOVA
</a:t>
        </a:r>
      </a:p>
    </p188:txBody>
  </p188:cm>
  <p188:cm id="{5A4FC461-4533-8049-A335-3B8349BD6E94}" authorId="{738CAE48-C88C-90A9-EAFA-D240677B8A2C}" created="2026-07-15T10:39:12.303">
    <pc:sldMkLst xmlns:pc="http://schemas.microsoft.com/office/powerpoint/2013/main/command">
      <pc:docMk/>
      <pc:sldMk cId="1680787206" sldId="269"/>
    </pc:sldMkLst>
    <p188:txBody>
      <a:bodyPr/>
      <a:lstStyle/>
      <a:p>
        <a:r>
          <a:rPr lang="it-IT"/>
          <a:t>Research Question
Are the observed differences statistically significant?
</a:t>
        </a:r>
      </a:p>
    </p188:txBody>
  </p188:cm>
  <p188:cm id="{8D462519-5702-7B41-AF1B-D82A557DC9E3}" authorId="{738CAE48-C88C-90A9-EAFA-D240677B8A2C}" created="2026-07-15T10:39:27.187">
    <pc:sldMkLst xmlns:pc="http://schemas.microsoft.com/office/powerpoint/2013/main/command">
      <pc:docMk/>
      <pc:sldMk cId="1680787206" sldId="269"/>
    </pc:sldMkLst>
    <p188:txBody>
      <a:bodyPr/>
      <a:lstStyle/>
      <a:p>
        <a:r>
          <a:rPr lang="it-IT"/>
          <a:t>Use
The Impact of Statistical Methods on Research Outcomes</a:t>
        </a:r>
      </a:p>
    </p188:txBody>
  </p188:cm>
  <p188:cm id="{88983F72-0355-1E4F-95F6-B95171C12F7A}" authorId="{738CAE48-C88C-90A9-EAFA-D240677B8A2C}" created="2026-07-15T10:39:35.902">
    <pc:sldMkLst xmlns:pc="http://schemas.microsoft.com/office/powerpoint/2013/main/command">
      <pc:docMk/>
      <pc:sldMk cId="1680787206" sldId="269"/>
    </pc:sldMkLst>
    <p188:txBody>
      <a:bodyPr/>
      <a:lstStyle/>
      <a:p>
        <a:r>
          <a:rPr lang="it-IT"/>
          <a:t>Speaker Notes
Don't explain formulas.
Explain
what the p-value means.</a:t>
        </a:r>
      </a:p>
    </p188:txBody>
  </p188:cm>
  <p188:cm id="{7BFC77A6-88E7-EC4E-B83B-E6085769C2AB}" authorId="{738CAE48-C88C-90A9-EAFA-D240677B8A2C}" created="2026-07-16T08:14:46.021">
    <pc:sldMkLst xmlns:pc="http://schemas.microsoft.com/office/powerpoint/2013/main/command">
      <pc:docMk/>
      <pc:sldMk cId="1680787206" sldId="269"/>
    </pc:sldMkLst>
    <p188:txBody>
      <a:bodyPr/>
      <a:lstStyle/>
      <a:p>
        <a:r>
          <a:rPr lang="it-IT"/>
          <a:t>To investigate group differences, two Chi-square tests and a one-way ANOVA were conducted. The Chi-square analyses demonstrated significant associations between diabetes status and both age group and BMI category, indicating that diabetes prevalence varies across these groups. The ANOVA further showed that mean glucose levels differed significantly by age group. Tukey's post-hoc analysis revealed that participants aged 50 years and older had significantly higher glucose levels than all younger groups, while there was no significant difference between the 30–39 and 40–49 age groups.</a:t>
        </a:r>
      </a:p>
    </p188:txBody>
  </p188:cm>
</p188:cmLst>
</file>

<file path=ppt/comments/modernComment_10E_DC0F77B3.xml><?xml version="1.0" encoding="utf-8"?>
<p188:cmLst xmlns:a="http://schemas.openxmlformats.org/drawingml/2006/main" xmlns:r="http://schemas.openxmlformats.org/officeDocument/2006/relationships" xmlns:p188="http://schemas.microsoft.com/office/powerpoint/2018/8/main">
  <p188:cm id="{56603E17-1E4E-4344-81B4-72F5025991AF}" authorId="{738CAE48-C88C-90A9-EAFA-D240677B8A2C}" created="2026-07-14T09:34:23.447">
    <pc:sldMkLst xmlns:pc="http://schemas.microsoft.com/office/powerpoint/2013/main/command">
      <pc:docMk/>
      <pc:sldMk cId="3692001203" sldId="270"/>
    </pc:sldMkLst>
    <p188:txBody>
      <a:bodyPr/>
      <a:lstStyle/>
      <a:p>
        <a:r>
          <a:rPr lang="it-IT"/>
          <a:t>Research Question
How do these findings compare with previous research?</a:t>
        </a:r>
      </a:p>
    </p188:txBody>
  </p188:cm>
  <p188:cm id="{A4AB2216-701D-A14C-A935-44A2A3A7B6E9}" authorId="{738CAE48-C88C-90A9-EAFA-D240677B8A2C}" created="2026-07-15T10:42:02.820">
    <pc:sldMkLst xmlns:pc="http://schemas.microsoft.com/office/powerpoint/2013/main/command">
      <pc:docMk/>
      <pc:sldMk cId="3692001203" sldId="270"/>
    </pc:sldMkLst>
    <p188:txBody>
      <a:bodyPr/>
      <a:lstStyle/>
      <a:p>
        <a:r>
          <a:rPr lang="it-IT"/>
          <a:t>Compare similarities and differences.
This is where you earn marks for Criticality.</a:t>
        </a:r>
      </a:p>
    </p188:txBody>
  </p188:cm>
  <p188:cm id="{F16C98E3-E2DC-E040-9639-A4052EF8B245}" authorId="{738CAE48-C88C-90A9-EAFA-D240677B8A2C}" created="2026-07-17T08:33:58.106">
    <ac:deMkLst xmlns:ac="http://schemas.microsoft.com/office/drawing/2013/main/command">
      <pc:docMk xmlns:pc="http://schemas.microsoft.com/office/powerpoint/2013/main/command"/>
      <pc:sldMk xmlns:pc="http://schemas.microsoft.com/office/powerpoint/2013/main/command" cId="3692001203" sldId="270"/>
      <ac:spMk id="16" creationId="{21FB1692-A0F6-4E1D-8E69-9BD3A8105259}"/>
    </ac:deMkLst>
    <p188:txBody>
      <a:bodyPr/>
      <a:lstStyle/>
      <a:p>
        <a:r>
          <a:rPr lang="it-IT"/>
          <a:t>"The findings of this study are consistent with previous research on diabetes risk factors. Age and BMI were both significantly associated with diabetes, while glucose emerged as the strongest predictor in the regression models. These results agree with established evidence that increasing age, obesity, and elevated glucose levels are major contributors to Type 2 diabetes.
Interestingly, the interaction between BMI and age was not statistically significant, suggesting that these variables contribute independently rather than modifying each other's effects in this dataset.
This project also highlights the importance of combining statistical tests with appropriate visualisations. As noted by Anscombe, both calculations and graphical exploration contribute to a better understanding of data. Overall, the analyses demonstrate how descriptive statistics, inferential testing, and predictive modelling can be integrated to investigate complex healthcare datasets."
</a:t>
        </a:r>
      </a:p>
    </p188:txBody>
  </p188:cm>
</p188:cmLst>
</file>

<file path=ppt/comments/modernComment_10F_AD6D772B.xml><?xml version="1.0" encoding="utf-8"?>
<p188:cmLst xmlns:a="http://schemas.openxmlformats.org/drawingml/2006/main" xmlns:r="http://schemas.openxmlformats.org/officeDocument/2006/relationships" xmlns:p188="http://schemas.microsoft.com/office/powerpoint/2018/8/main">
  <p188:cm id="{92CF554B-611D-A342-A4AD-9346664198F0}" authorId="{738CAE48-C88C-90A9-EAFA-D240677B8A2C}" created="2026-07-15T10:40:01.002">
    <pc:sldMkLst xmlns:pc="http://schemas.microsoft.com/office/powerpoint/2013/main/command">
      <pc:docMk/>
      <pc:sldMk cId="2909632299" sldId="271"/>
    </pc:sldMkLst>
    <p188:txBody>
      <a:bodyPr/>
      <a:lstStyle/>
      <a:p>
        <a:r>
          <a:rPr lang="it-IT"/>
          <a:t>Research Question
Which variables explain diabetes variation?</a:t>
        </a:r>
      </a:p>
    </p188:txBody>
  </p188:cm>
  <p188:cm id="{EC144D8C-E397-514E-BD13-AAEBA326BFB7}" authorId="{738CAE48-C88C-90A9-EAFA-D240677B8A2C}" created="2026-07-15T10:40:16.355">
    <pc:sldMkLst xmlns:pc="http://schemas.microsoft.com/office/powerpoint/2013/main/command">
      <pc:docMk/>
      <pc:sldMk cId="2909632299" sldId="271"/>
    </pc:sldMkLst>
    <p188:txBody>
      <a:bodyPr/>
      <a:lstStyle/>
      <a:p>
        <a:r>
          <a:rPr lang="it-IT"/>
          <a:t>Literature
Michigan Tech
Importance of Statistics
Regression identifies significant explanatory variables.</a:t>
        </a:r>
      </a:p>
    </p188:txBody>
  </p188:cm>
  <p188:cm id="{F6D1B41C-3BE5-0F41-81A2-0964A99E11ED}" authorId="{738CAE48-C88C-90A9-EAFA-D240677B8A2C}" created="2026-07-15T10:40:23.805">
    <pc:sldMkLst xmlns:pc="http://schemas.microsoft.com/office/powerpoint/2013/main/command">
      <pc:docMk/>
      <pc:sldMk cId="2909632299" sldId="271"/>
    </pc:sldMkLst>
    <p188:txBody>
      <a:bodyPr/>
      <a:lstStyle/>
      <a:p>
        <a:r>
          <a:rPr lang="it-IT"/>
          <a:t>Speaker Notes
Explain
coefficient
significance
interpretation</a:t>
        </a:r>
      </a:p>
    </p188:txBody>
  </p188:cm>
  <p188:cm id="{E58DADBB-F8BD-C848-9CE3-1E6C59CFE828}" authorId="{738CAE48-C88C-90A9-EAFA-D240677B8A2C}" created="2026-07-16T08:49:20.635">
    <ac:deMkLst xmlns:ac="http://schemas.microsoft.com/office/drawing/2013/main/command">
      <pc:docMk xmlns:pc="http://schemas.microsoft.com/office/powerpoint/2013/main/command"/>
      <pc:sldMk xmlns:pc="http://schemas.microsoft.com/office/powerpoint/2013/main/command" cId="2909632299" sldId="271"/>
      <ac:graphicFrameMk id="8" creationId="{BB786564-C0F3-4129-5CFD-4A79CE7CA1FE}"/>
    </ac:deMkLst>
    <p188:txBody>
      <a:bodyPr/>
      <a:lstStyle/>
      <a:p>
        <a:r>
          <a:rPr lang="it-IT"/>
          <a:t>"To identify the factors associated with glucose levels, I developed a multiple linear regression model using Age, BMI, Pregnancies, Blood Pressure, Skin Thickness, Insulin, and Diabetes Pedigree Function as predictor variables.
The overall model was statistically significant, with an F-statistic of 32.46 and a p-value below 0.001. The model explained approximately 23% of the variation in glucose levels, as indicated by an R-squared value of 0.23.
Looking at the individual predictors, Insulin was the strongest predictor of glucose levels and showed a highly significant positive relationship. Age and BMI were also significant positive predictors, indicating that older individuals and those with a higher BMI tended to have higher glucose levels.
Interestingly, Skin Thickness showed a significant negative association with glucose levels, while Diabetes Pedigree Function had a smaller but still statistically significant positive effect.
On the other hand, Pregnancies and Blood Pressure were not statistically significant after accounting for the other variables in the model. This suggests that their independent contribution to predicting glucose levels was limited.
Overall, these findings indicate that glucose levels are influenced by multiple clinical factors, with insulin, age, and BMI providing the greatest predictive value in this dataset."
If the lecturer asks, "Why is the R² only 23%?"
You can answer:
"An R-squared of 23% is reasonable for medical data because glucose levels are influenced by many biological, genetic, behavioural, and lifestyle factors that were not included in this dataset. Therefore, the model captures part of the variability, but not all of it."
That answer shows a good understanding of regression and is something examiners appreciate.
This script is around 180–220 words, which fits well within your 20-minute presentation.</a:t>
        </a:r>
      </a:p>
    </p188:txBody>
  </p188:cm>
</p188:cmLst>
</file>

<file path=ppt/comments/modernComment_102_9DE46B39.xml><?xml version="1.0" encoding="utf-8"?>
<p188:cmLst xmlns:a="http://schemas.openxmlformats.org/drawingml/2006/main" xmlns:r="http://schemas.openxmlformats.org/officeDocument/2006/relationships" xmlns:p188="http://schemas.microsoft.com/office/powerpoint/2018/8/main">
  <p188:cm id="{826270A2-AFB0-2D44-9815-6E9706DBD013}" authorId="{738CAE48-C88C-90A9-EAFA-D240677B8A2C}" created="2026-07-15T10:29:49.399">
    <pc:sldMkLst xmlns:pc="http://schemas.microsoft.com/office/powerpoint/2013/main/command">
      <pc:docMk/>
      <pc:sldMk cId="2648992569" sldId="258"/>
    </pc:sldMkLst>
    <p188:txBody>
      <a:bodyPr/>
      <a:lstStyle/>
      <a:p>
        <a:r>
          <a:rPr lang="it-IT"/>
          <a:t>"The analysis uses the Pima Indians Diabetes Dataset, a well-known benchmark dataset in healthcare analytics. It contains information from 768 female participants and includes eight clinical and demographic predictors alongside a binary outcome indicating the presence or absence of diabetes. These variables provide the foundation for both exploratory and predictive analyses."</a:t>
        </a:r>
      </a:p>
    </p188:txBody>
  </p188:cm>
</p188:cmLst>
</file>

<file path=ppt/comments/modernComment_103_3BB0BC9E.xml><?xml version="1.0" encoding="utf-8"?>
<p188:cmLst xmlns:a="http://schemas.openxmlformats.org/drawingml/2006/main" xmlns:r="http://schemas.openxmlformats.org/officeDocument/2006/relationships" xmlns:p188="http://schemas.microsoft.com/office/powerpoint/2018/8/main">
  <p188:cm id="{4B75E18B-C04C-524B-BBE7-A8ADF81C06CC}" authorId="{738CAE48-C88C-90A9-EAFA-D240677B8A2C}" created="2026-07-15T10:30:08.619">
    <pc:sldMkLst xmlns:pc="http://schemas.microsoft.com/office/powerpoint/2013/main/command">
      <pc:docMk/>
      <pc:sldMk cId="1001438366" sldId="259"/>
    </pc:sldMkLst>
    <p188:txBody>
      <a:bodyPr/>
      <a:lstStyle/>
      <a:p>
        <a:r>
          <a:rPr lang="it-IT"/>
          <a:t>"The analysis followed a structured workflow beginning with data exploration and descriptive statistics. Visualisations were created using ggplot2 to identify patterns and potential anomalies before applying inferential statistical tests and regression models. This approach follows Anscombe's recommendation that numerical summaries and graphical analysis should be used together to understand data effectively."</a:t>
        </a:r>
      </a:p>
    </p188:txBody>
  </p188:cm>
</p188:cmLst>
</file>

<file path=ppt/comments/modernComment_104_79B40270.xml><?xml version="1.0" encoding="utf-8"?>
<p188:cmLst xmlns:a="http://schemas.openxmlformats.org/drawingml/2006/main" xmlns:r="http://schemas.openxmlformats.org/officeDocument/2006/relationships" xmlns:p188="http://schemas.microsoft.com/office/powerpoint/2018/8/main">
  <p188:cm id="{117D44C2-3F6F-6F46-8578-DACCF650E338}" authorId="{738CAE48-C88C-90A9-EAFA-D240677B8A2C}" created="2026-07-15T10:30:23.381">
    <pc:sldMkLst xmlns:pc="http://schemas.microsoft.com/office/powerpoint/2013/main/command">
      <pc:docMk/>
      <pc:sldMk cId="2041840240" sldId="260"/>
    </pc:sldMkLst>
    <p188:txBody>
      <a:bodyPr/>
      <a:lstStyle/>
      <a:p>
        <a:r>
          <a:rPr lang="it-IT"/>
          <a:t>Question answered
How common is diabetes in the dataset?</a:t>
        </a:r>
      </a:p>
    </p188:txBody>
  </p188:cm>
  <p188:cm id="{CAADCB91-B570-4546-933E-C8557D6FA41E}" authorId="{738CAE48-C88C-90A9-EAFA-D240677B8A2C}" created="2026-07-15T10:30:41.031">
    <pc:sldMkLst xmlns:pc="http://schemas.microsoft.com/office/powerpoint/2013/main/command">
      <pc:docMk/>
      <pc:sldMk cId="2041840240" sldId="260"/>
    </pc:sldMkLst>
    <p188:txBody>
      <a:bodyPr/>
      <a:lstStyle/>
      <a:p>
        <a:r>
          <a:rPr lang="it-IT"/>
          <a:t>Speaker Notes
≈45 seconds.
Explain the class distribution and why imbalance matters.
</a:t>
        </a:r>
      </a:p>
    </p188:txBody>
  </p188:cm>
  <p188:cm id="{F61AFDA4-DEC0-AF42-94E8-522E502B9D21}" authorId="{738CAE48-C88C-90A9-EAFA-D240677B8A2C}" created="2026-07-15T11:34:09.643">
    <pc:sldMkLst xmlns:pc="http://schemas.microsoft.com/office/powerpoint/2013/main/command">
      <pc:docMk/>
      <pc:sldMk cId="2041840240" sldId="260"/>
    </pc:sldMkLst>
    <p188:txBody>
      <a:bodyPr/>
      <a:lstStyle/>
      <a:p>
        <a:r>
          <a:rPr lang="it-IT"/>
          <a:t>"This slide presents the main characteristics of the study sample. The dataset contains 768 participants, of whom 500 (65.1%) were classified as non-diabetic and 268 (34.9%) as diabetic. This indicates a moderate class imbalance, which is common in medical datasets and is important to consider when interpreting the results of predictive models."</a:t>
        </a:r>
      </a:p>
    </p188:txBody>
  </p188:cm>
</p188:cmLst>
</file>

<file path=ppt/comments/modernComment_105_A082BEE9.xml><?xml version="1.0" encoding="utf-8"?>
<p188:cmLst xmlns:a="http://schemas.openxmlformats.org/drawingml/2006/main" xmlns:r="http://schemas.openxmlformats.org/officeDocument/2006/relationships" xmlns:p188="http://schemas.microsoft.com/office/powerpoint/2018/8/main">
  <p188:cm id="{4A9D4832-E10D-7E4E-936A-AFCDC2F2E32C}" authorId="{738CAE48-C88C-90A9-EAFA-D240677B8A2C}" created="2026-07-15T10:31:41.650">
    <pc:sldMkLst xmlns:pc="http://schemas.microsoft.com/office/powerpoint/2013/main/command">
      <pc:docMk/>
      <pc:sldMk cId="2692923113" sldId="261"/>
    </pc:sldMkLst>
    <p188:txBody>
      <a:bodyPr/>
      <a:lstStyle/>
      <a:p>
        <a:r>
          <a:rPr lang="it-IT"/>
          <a:t>Speaker Notes
Explain the purpose of descriptive statistics rather than reading numbers aloud.</a:t>
        </a:r>
      </a:p>
    </p188:txBody>
  </p188:cm>
  <p188:cm id="{3517B9A7-A0C2-A347-95A1-7A4E7F63D760}" authorId="{738CAE48-C88C-90A9-EAFA-D240677B8A2C}" created="2026-07-15T12:02:23.934">
    <pc:sldMkLst xmlns:pc="http://schemas.microsoft.com/office/powerpoint/2013/main/command">
      <pc:docMk/>
      <pc:sldMk cId="2692923113" sldId="261"/>
    </pc:sldMkLst>
    <p188:txBody>
      <a:bodyPr/>
      <a:lstStyle/>
      <a:p>
        <a:r>
          <a:rPr lang="it-IT"/>
          <a:t>"Descriptive statistics were calculated to summarize the central tendency and variability of the main clinical variables. Measures such as the mean, standard deviation, minimum, and maximum values provide an overview of the sample and help identify unusual observations before conducting inferential statistical analyses."
</a:t>
        </a:r>
      </a:p>
    </p188:txBody>
  </p188:cm>
  <p188:cm id="{ACDEB6B0-EF8F-B948-A704-22B97950BBA1}" authorId="{738CAE48-C88C-90A9-EAFA-D240677B8A2C}" created="2026-07-15T12:10:00.594">
    <pc:sldMkLst xmlns:pc="http://schemas.microsoft.com/office/powerpoint/2013/main/command">
      <pc:docMk/>
      <pc:sldMk cId="2692923113" sldId="261"/>
    </pc:sldMkLst>
    <p188:txBody>
      <a:bodyPr/>
      <a:lstStyle/>
      <a:p>
        <a:r>
          <a:rPr lang="it-IT"/>
          <a:t>"Table 1 summarises the descriptive statistics for the principal variables included in the analysis. The average participant was approximately 33 years old, with a mean BMI of 32 kg/m². Blood glucose levels exhibited notable variability, reflecting differences in metabolic health among participants. The table also highlights the presence of zero values in some clinical variables, a known characteristic of this dataset that should be considered during interpretation."</a:t>
        </a:r>
      </a:p>
    </p188:txBody>
  </p188:cm>
</p188:cmLst>
</file>

<file path=ppt/comments/modernComment_106_B467C0C9.xml><?xml version="1.0" encoding="utf-8"?>
<p188:cmLst xmlns:a="http://schemas.openxmlformats.org/drawingml/2006/main" xmlns:r="http://schemas.openxmlformats.org/officeDocument/2006/relationships" xmlns:p188="http://schemas.microsoft.com/office/powerpoint/2018/8/main">
  <p188:cm id="{2ADEF4A5-F9E2-4940-A84E-985B2AAD03DF}" authorId="{738CAE48-C88C-90A9-EAFA-D240677B8A2C}" created="2026-07-14T09:26:26.963">
    <pc:sldMkLst xmlns:pc="http://schemas.microsoft.com/office/powerpoint/2013/main/command">
      <pc:docMk/>
      <pc:sldMk cId="3026698441" sldId="262"/>
    </pc:sldMkLst>
    <p188:txBody>
      <a:bodyPr/>
      <a:lstStyle/>
      <a:p>
        <a:r>
          <a:rPr lang="it-IT"/>
          <a:t>slide 7 boxplot
</a:t>
        </a:r>
      </a:p>
    </p188:txBody>
  </p188:cm>
  <p188:cm id="{D26C191C-2BA7-0442-B02C-D44C31145B8F}" authorId="{738CAE48-C88C-90A9-EAFA-D240677B8A2C}" created="2026-07-15T10:32:10.398">
    <pc:sldMkLst xmlns:pc="http://schemas.microsoft.com/office/powerpoint/2013/main/command">
      <pc:docMk/>
      <pc:sldMk cId="3026698441" sldId="262"/>
    </pc:sldMkLst>
    <p188:txBody>
      <a:bodyPr/>
      <a:lstStyle/>
      <a:p>
        <a:r>
          <a:rPr lang="it-IT"/>
          <a:t>Question answered
What is the age distribution of the participants?</a:t>
        </a:r>
      </a:p>
    </p188:txBody>
  </p188:cm>
  <p188:cm id="{F84C4103-4E05-C345-80B8-F3078F9AB880}" authorId="{738CAE48-C88C-90A9-EAFA-D240677B8A2C}" created="2026-07-15T12:14:50.259">
    <pc:sldMkLst xmlns:pc="http://schemas.microsoft.com/office/powerpoint/2013/main/command">
      <pc:docMk/>
      <pc:sldMk cId="3026698441" sldId="262"/>
    </pc:sldMkLst>
    <p188:txBody>
      <a:bodyPr/>
      <a:lstStyle/>
      <a:p>
        <a:r>
          <a:rPr lang="it-IT"/>
          <a:t>"The age distribution indicates that most participants were relatively young adults. The median age was 29 years, and half of the participants were between 24 and 41 years of age. The histogram demonstrates a positively skewed distribution, meaning there are fewer older participants. The boxplot also identifies several observations above approximately 65 years as potential outliers, although these values remain clinically plausible.</a:t>
        </a:r>
      </a:p>
    </p188:txBody>
  </p188:cm>
</p188:cmLst>
</file>

<file path=ppt/comments/modernComment_107_AE895E2A.xml><?xml version="1.0" encoding="utf-8"?>
<p188:cmLst xmlns:a="http://schemas.openxmlformats.org/drawingml/2006/main" xmlns:r="http://schemas.openxmlformats.org/officeDocument/2006/relationships" xmlns:p188="http://schemas.microsoft.com/office/powerpoint/2018/8/main">
  <p188:cm id="{8D748711-D157-444A-8E3B-F134B96DAEB7}" authorId="{738CAE48-C88C-90A9-EAFA-D240677B8A2C}" created="2026-07-15T10:33:01.281">
    <pc:sldMkLst xmlns:pc="http://schemas.microsoft.com/office/powerpoint/2013/main/command">
      <pc:docMk/>
      <pc:sldMk cId="2928238122" sldId="263"/>
    </pc:sldMkLst>
    <p188:txBody>
      <a:bodyPr/>
      <a:lstStyle/>
      <a:p>
        <a:r>
          <a:rPr lang="it-IT"/>
          <a:t>Question answered
How are BMI and glucose distributed?</a:t>
        </a:r>
      </a:p>
    </p188:txBody>
  </p188:cm>
  <p188:cm id="{45158CE1-4A80-6743-908A-E869403F8439}" authorId="{738CAE48-C88C-90A9-EAFA-D240677B8A2C}" created="2026-07-15T10:33:22.031">
    <pc:sldMkLst xmlns:pc="http://schemas.microsoft.com/office/powerpoint/2013/main/command">
      <pc:docMk/>
      <pc:sldMk cId="2928238122" sldId="263"/>
    </pc:sldMkLst>
    <p188:txBody>
      <a:bodyPr/>
      <a:lstStyle/>
      <a:p>
        <a:r>
          <a:rPr lang="it-IT"/>
          <a:t>speech: Link this slide to the importance of EDA from the Towards Data Science article and the Autodesk visualization example.</a:t>
        </a:r>
      </a:p>
    </p188:txBody>
  </p188:cm>
  <p188:cm id="{8BE4CED1-87FD-2642-BDAB-BFD80AD15724}" authorId="{738CAE48-C88C-90A9-EAFA-D240677B8A2C}" created="2026-07-15T13:07:12.910">
    <pc:sldMkLst xmlns:pc="http://schemas.microsoft.com/office/powerpoint/2013/main/command">
      <pc:docMk/>
      <pc:sldMk cId="2928238122" sldId="263"/>
    </pc:sldMkLst>
    <p188:txBody>
      <a:bodyPr/>
      <a:lstStyle/>
      <a:p>
        <a:r>
          <a:rPr lang="it-IT"/>
          <a:t>These histograms illustrate the distribution of BMI and glucose levels in the dataset. BMI values are concentrated around 30–35 kg/m², indicating that many participants fall within the overweight or obese range. Glucose values exhibit greater variability and a slight positive skew, reflecting differences in metabolic status among participants. Both variables also contain zero values, which are likely to represent missing clinical measurements."</a:t>
        </a:r>
      </a:p>
    </p188:txBody>
  </p188:cm>
</p188:cmLst>
</file>

<file path=ppt/comments/modernComment_108_F3FBC198.xml><?xml version="1.0" encoding="utf-8"?>
<p188:cmLst xmlns:a="http://schemas.openxmlformats.org/drawingml/2006/main" xmlns:r="http://schemas.openxmlformats.org/officeDocument/2006/relationships" xmlns:p188="http://schemas.microsoft.com/office/powerpoint/2018/8/main">
  <p188:cm id="{307BF46B-6AF0-3141-A6A6-6ECF340F7F75}" authorId="{738CAE48-C88C-90A9-EAFA-D240677B8A2C}" created="2026-07-14T09:29:21.424">
    <ac:deMkLst xmlns:ac="http://schemas.microsoft.com/office/drawing/2013/main/command">
      <pc:docMk xmlns:pc="http://schemas.microsoft.com/office/powerpoint/2013/main/command"/>
      <pc:sldMk xmlns:pc="http://schemas.microsoft.com/office/powerpoint/2013/main/command" cId="4093362584" sldId="264"/>
      <ac:spMk id="3" creationId="{A9A3D14B-A9CA-2FD3-7140-FE233565B28D}"/>
    </ac:deMkLst>
    <p188:txBody>
      <a:bodyPr/>
      <a:lstStyle/>
      <a:p>
        <a:r>
          <a:rPr lang="it-IT"/>
          <a:t>2 box plots 
</a:t>
        </a:r>
      </a:p>
    </p188:txBody>
    <p188:extLst>
      <p:ext xmlns:p="http://schemas.openxmlformats.org/presentationml/2006/main" uri="{57CB4572-C831-44C2-8A1C-0ADB6CCDFE69}">
        <p223:reactions xmlns:p223="http://schemas.microsoft.com/office/powerpoint/2022/03/main">
          <p223:rxn type="👍">
            <p223:instance time="2026-07-15T13:14:05.962" authorId="{738CAE48-C88C-90A9-EAFA-D240677B8A2C}"/>
          </p223:rxn>
        </p223:reactions>
      </p:ext>
    </p188:extLst>
  </p188:cm>
  <p188:cm id="{B01B7C5F-C3B9-F446-8160-58603F76048C}" authorId="{738CAE48-C88C-90A9-EAFA-D240677B8A2C}" created="2026-07-15T10:33:34.801">
    <pc:sldMkLst xmlns:pc="http://schemas.microsoft.com/office/powerpoint/2013/main/command">
      <pc:docMk/>
      <pc:sldMk cId="4093362584" sldId="264"/>
    </pc:sldMkLst>
    <p188:txBody>
      <a:bodyPr/>
      <a:lstStyle/>
      <a:p>
        <a:r>
          <a:rPr lang="it-IT"/>
          <a:t>Link this slide to the importance of EDA from the Towards Data Science article and the Autodesk visualization example.</a:t>
        </a:r>
      </a:p>
    </p188:txBody>
  </p188:cm>
  <p188:cm id="{7A136A81-7B44-9642-A717-6C4C282FA33E}" authorId="{738CAE48-C88C-90A9-EAFA-D240677B8A2C}" created="2026-07-15T13:14:01.995">
    <pc:sldMkLst xmlns:pc="http://schemas.microsoft.com/office/powerpoint/2013/main/command">
      <pc:docMk/>
      <pc:sldMk cId="4093362584" sldId="264"/>
    </pc:sldMkLst>
    <p188:txBody>
      <a:bodyPr/>
      <a:lstStyle/>
      <a:p>
        <a:r>
          <a:rPr lang="it-IT"/>
          <a:t>"The boxplots illustrate the variability of blood pressure and the number of pregnancies within the study population. Blood pressure values are centred around 72 mmHg, although several observations with a value of zero indicate likely missing clinical measurements. The pregnancy variable is positively skewed, with most participants reporting relatively few pregnancies and a small number exhibiting substantially higher values."</a:t>
        </a:r>
      </a:p>
    </p188:txBody>
  </p188:cm>
</p188:cmLst>
</file>

<file path=ppt/comments/modernComment_109_E578AF44.xml><?xml version="1.0" encoding="utf-8"?>
<p188:cmLst xmlns:a="http://schemas.openxmlformats.org/drawingml/2006/main" xmlns:r="http://schemas.openxmlformats.org/officeDocument/2006/relationships" xmlns:p188="http://schemas.microsoft.com/office/powerpoint/2018/8/main">
  <p188:cm id="{AAB94E8D-B1E6-9048-A1C9-FE0A71358AC2}" authorId="{738CAE48-C88C-90A9-EAFA-D240677B8A2C}" created="2026-07-15T10:33:53.884">
    <pc:sldMkLst xmlns:pc="http://schemas.microsoft.com/office/powerpoint/2013/main/command">
      <pc:docMk/>
      <pc:sldMk cId="3849891652" sldId="265"/>
    </pc:sldMkLst>
    <p188:txBody>
      <a:bodyPr/>
      <a:lstStyle/>
      <a:p>
        <a:r>
          <a:rPr lang="it-IT"/>
          <a:t>Question answered
How does diabetes prevalence vary across participant groups?
</a:t>
        </a:r>
      </a:p>
    </p188:txBody>
  </p188:cm>
  <p188:cm id="{342415A2-19B1-354F-ABC5-9DAC2D1F4FA1}" authorId="{738CAE48-C88C-90A9-EAFA-D240677B8A2C}" created="2026-07-17T13:42:17.830">
    <pc:sldMkLst xmlns:pc="http://schemas.microsoft.com/office/powerpoint/2013/main/command">
      <pc:docMk/>
      <pc:sldMk cId="3849891652" sldId="265"/>
    </pc:sldMkLst>
    <p188:txBody>
      <a:bodyPr/>
      <a:lstStyle/>
      <a:p>
        <a:r>
          <a:rPr lang="it-IT"/>
          <a:t>"This slide presents the diabetes prevalence across different age groups and BMI categories.
Looking first at the age groups, the percentage of participants diagnosed with diabetes increased considerably with age. The prevalence rose from approximately 21% in participants under 30 years old to over 46% in the 30–39 group, reaching its highest value of 55% in the 40–49 age group. Although the prevalence was slightly lower in the 50+ group, it remained substantially higher than in younger participants.
A similar pattern was observed across BMI categories. Participants with a normal BMI had the lowest diabetes prevalence, at around 6%, whereas almost 46% of obese participants were diagnosed with diabetes. This suggests that increasing BMI is strongly associated with a higher prevalence of diabetes.
These descriptive findings provide an initial indication that both age and BMI are important factors related to diabetes. In the next section, these observations are formally tested using inferential statistical methods."
</a:t>
        </a:r>
      </a:p>
    </p188:txBody>
  </p188:cm>
</p188:cmLst>
</file>

<file path=ppt/comments/modernComment_110_80E895F3.xml><?xml version="1.0" encoding="utf-8"?>
<p188:cmLst xmlns:a="http://schemas.openxmlformats.org/drawingml/2006/main" xmlns:r="http://schemas.openxmlformats.org/officeDocument/2006/relationships" xmlns:p188="http://schemas.microsoft.com/office/powerpoint/2018/8/main">
  <p188:cm id="{2BEC059B-ECD9-7149-9429-CD177F9168A6}" authorId="{738CAE48-C88C-90A9-EAFA-D240677B8A2C}" created="2026-07-14T09:35:25.578">
    <pc:sldMkLst xmlns:pc="http://schemas.microsoft.com/office/powerpoint/2013/main/command">
      <pc:docMk/>
      <pc:sldMk cId="2162726387" sldId="272"/>
    </pc:sldMkLst>
    <p188:txBody>
      <a:bodyPr/>
      <a:lstStyle/>
      <a:p>
        <a:r>
          <a:rPr lang="it-IT"/>
          <a:t>Graph
ROC Curve</a:t>
        </a:r>
      </a:p>
    </p188:txBody>
  </p188:cm>
  <p188:cm id="{47C6CF2E-9527-1C4D-89A5-E6E495B8C7C0}" authorId="{738CAE48-C88C-90A9-EAFA-D240677B8A2C}" created="2026-07-15T10:40:39.686">
    <pc:sldMkLst xmlns:pc="http://schemas.microsoft.com/office/powerpoint/2013/main/command">
      <pc:docMk/>
      <pc:sldMk cId="2162726387" sldId="272"/>
    </pc:sldMkLst>
    <p188:txBody>
      <a:bodyPr/>
      <a:lstStyle/>
      <a:p>
        <a:r>
          <a:rPr lang="it-IT"/>
          <a:t>Research Question
How accurately can diabetes be predicted?</a:t>
        </a:r>
      </a:p>
    </p188:txBody>
  </p188:cm>
  <p188:cm id="{F538821A-B4B8-1641-AC43-FAFC4ECB7AF1}" authorId="{738CAE48-C88C-90A9-EAFA-D240677B8A2C}" created="2026-07-15T10:41:01.301">
    <pc:sldMkLst xmlns:pc="http://schemas.microsoft.com/office/powerpoint/2013/main/command">
      <pc:docMk/>
      <pc:sldMk cId="2162726387" sldId="272"/>
    </pc:sldMkLst>
    <p188:txBody>
      <a:bodyPr/>
      <a:lstStyle/>
      <a:p>
        <a:r>
          <a:rPr lang="it-IT"/>
          <a:t>Use
Review paper
Regression methods remain effective baseline classifiers.</a:t>
        </a:r>
      </a:p>
    </p188:txBody>
  </p188:cm>
  <p188:cm id="{8C5F52CF-52E6-774C-94EF-641102BB2511}" authorId="{738CAE48-C88C-90A9-EAFA-D240677B8A2C}" created="2026-07-16T08:57:05.843">
    <pc:sldMkLst xmlns:pc="http://schemas.microsoft.com/office/powerpoint/2013/main/command">
      <pc:docMk/>
      <pc:sldMk cId="2162726387" sldId="272"/>
    </pc:sldMkLst>
    <p188:txBody>
      <a:bodyPr/>
      <a:lstStyle/>
      <a:p>
        <a:r>
          <a:rPr lang="it-IT"/>
          <a:t>Next, I developed a logistic regression model to predict diabetes status using BMI, age, and glucose as predictors.
All three variables were statistically significant, indicating that they each contribute to predicting the likelihood of diabetes.
The odds ratios show that increasing BMI, age, and glucose are all associated with higher odds of being diagnosed with diabetes. For example, each one-unit increase in BMI increases the odds of diabetes by approximately 8.5%, while each one-unit increase in glucose increases the odds by about 3.3%.
To evaluate the model, I used the Hosmer–Lemeshow goodness-of-fit test. Since the p-value was 0.349, which is greater than 0.05, there is no evidence of poor fit, suggesting that the model fits the data well.
The model achieved an overall classification accuracy of 76.8%. It performed particularly well at identifying non-diabetic individuals, with a specificity of 87.8%, while its sensitivity for identifying diabetic individuals was 56.3%.
Overall, these results indicate that BMI, age, and especially glucose are useful predictors of diabetes risk."</a:t>
        </a:r>
      </a:p>
    </p188:txBody>
  </p188:cm>
</p188:cmLst>
</file>

<file path=ppt/comments/modernComment_111_C03EE508.xml><?xml version="1.0" encoding="utf-8"?>
<p188:cmLst xmlns:a="http://schemas.openxmlformats.org/drawingml/2006/main" xmlns:r="http://schemas.openxmlformats.org/officeDocument/2006/relationships" xmlns:p188="http://schemas.microsoft.com/office/powerpoint/2018/8/main">
  <p188:cm id="{6E62E187-DD91-2D4A-AC06-44A827E3A6A9}" authorId="{738CAE48-C88C-90A9-EAFA-D240677B8A2C}" created="2026-07-15T10:42:31.036">
    <pc:sldMkLst xmlns:pc="http://schemas.microsoft.com/office/powerpoint/2013/main/command">
      <pc:docMk/>
      <pc:sldMk cId="3225347336" sldId="273"/>
    </pc:sldMkLst>
    <p188:txBody>
      <a:bodyPr/>
      <a:lstStyle/>
      <a:p>
        <a:r>
          <a:rPr lang="it-IT"/>
          <a:t>Speaker Notes
"Although the models performed well, the study has several limitations. The analysis relied on a single dataset and a limited number of variables. Future work could investigate larger datasets and compare more advanced machine learning algorithms to improve predictive performance and generalisability."</a:t>
        </a:r>
      </a:p>
    </p188:txBody>
  </p188:cm>
  <p188:cm id="{A6926A87-D9B2-DC42-A6D1-E0B6A74C9088}" authorId="{738CAE48-C88C-90A9-EAFA-D240677B8A2C}" created="2026-07-17T08:38:16.988">
    <ac:deMkLst xmlns:ac="http://schemas.microsoft.com/office/drawing/2013/main/command">
      <pc:docMk xmlns:pc="http://schemas.microsoft.com/office/powerpoint/2013/main/command"/>
      <pc:sldMk xmlns:pc="http://schemas.microsoft.com/office/powerpoint/2013/main/command" cId="3225347336" sldId="273"/>
      <ac:spMk id="10" creationId="{1CC60E67-563B-FAD4-904D-5953CC4A78AD}"/>
    </ac:deMkLst>
    <p188:txBody>
      <a:bodyPr/>
      <a:lstStyle/>
      <a:p>
        <a:r>
          <a:rPr lang="it-IT"/>
          <a:t>"This study has several limitations. The dataset contains zero values for variables such as glucose, BMI, blood pressure, and insulin, which are unlikely to represent true clinical measurements. In addition, the data are cross-sectional, meaning we can identify associations but not causation. The models also excluded lifestyle factors that may influence diabetes risk. Future work should focus on improved data preprocessing, additional predictors, more advanced machine learning methods, and validation using external datasets."
</a:t>
        </a:r>
      </a:p>
    </p188:txBody>
  </p188:cm>
</p188:cmLst>
</file>

<file path=ppt/comments/modernComment_112_308F7C90.xml><?xml version="1.0" encoding="utf-8"?>
<p188:cmLst xmlns:a="http://schemas.openxmlformats.org/drawingml/2006/main" xmlns:r="http://schemas.openxmlformats.org/officeDocument/2006/relationships" xmlns:p188="http://schemas.microsoft.com/office/powerpoint/2018/8/main">
  <p188:cm id="{95ABF9FC-7F30-E149-944E-BDF5D895FED3}" authorId="{738CAE48-C88C-90A9-EAFA-D240677B8A2C}" created="2026-07-15T10:41:21.133">
    <pc:sldMkLst xmlns:pc="http://schemas.microsoft.com/office/powerpoint/2013/main/command">
      <pc:docMk/>
      <pc:sldMk cId="814709904" sldId="274"/>
    </pc:sldMkLst>
    <p188:txBody>
      <a:bodyPr/>
      <a:lstStyle/>
      <a:p>
        <a:r>
          <a:rPr lang="it-IT"/>
          <a:t>Research Question
Which model performs better?</a:t>
        </a:r>
      </a:p>
    </p188:txBody>
  </p188:cm>
  <p188:cm id="{D4A19EB0-82E4-324B-972C-8DE6B06E4D1A}" authorId="{738CAE48-C88C-90A9-EAFA-D240677B8A2C}" created="2026-07-15T10:41:33.335">
    <pc:sldMkLst xmlns:pc="http://schemas.microsoft.com/office/powerpoint/2013/main/command">
      <pc:docMk/>
      <pc:sldMk cId="814709904" sldId="274"/>
    </pc:sldMkLst>
    <p188:txBody>
      <a:bodyPr/>
      <a:lstStyle/>
      <a:p>
        <a:r>
          <a:rPr lang="it-IT"/>
          <a:t>Speaker Notes
Explain why logistic regression is preferred for classification problems.</a:t>
        </a:r>
      </a:p>
    </p188:txBody>
  </p188:cm>
  <p188:cm id="{ACCA75D1-B92D-564B-BD1A-6486BD947828}" authorId="{738CAE48-C88C-90A9-EAFA-D240677B8A2C}" created="2026-07-17T08:15:47.721">
    <pc:sldMkLst xmlns:pc="http://schemas.microsoft.com/office/powerpoint/2013/main/command">
      <pc:docMk/>
      <pc:sldMk cId="814709904" sldId="274"/>
    </pc:sldMkLst>
    <p188:txBody>
      <a:bodyPr/>
      <a:lstStyle/>
      <a:p>
        <a:r>
          <a:rPr lang="it-IT"/>
          <a:t>Finally, I investigated whether age modified the effect of BMI on diabetes risk by comparing two logistic regression models. Model 1 included the main effects of BMI, age, glucose, and pregnancies, while Model 2 additionally included the interaction term between BMI and age.
A likelihood ratio test was used to compare the two models. The test was not statistically significant, with a p-value of 0.843, indicating that adding the interaction term did not improve model performance.
The interaction term itself was also not significant, suggesting that the effect of BMI on diabetes risk does not depend on age in this dataset. Therefore, the simpler main-effects model was preferred because it provides a similar fit while being easier to interpret.
Overall, glucose and pregnancies remained significant predictors of diabetes, whereas the BMI-by-age interaction did not contribute additional predictive value."
</a:t>
        </a:r>
      </a:p>
    </p188:txBody>
  </p188:cm>
</p188:cmLst>
</file>

<file path=ppt/comments/modernComment_113_FE6E35D9.xml><?xml version="1.0" encoding="utf-8"?>
<p188:cmLst xmlns:a="http://schemas.openxmlformats.org/drawingml/2006/main" xmlns:r="http://schemas.openxmlformats.org/officeDocument/2006/relationships" xmlns:p188="http://schemas.microsoft.com/office/powerpoint/2018/8/main">
  <p188:cm id="{033184EF-2AA3-474D-BD4D-8B7D946DEA18}" authorId="{738CAE48-C88C-90A9-EAFA-D240677B8A2C}" created="2026-07-17T08:41:52.974">
    <pc:sldMkLst xmlns:pc="http://schemas.microsoft.com/office/powerpoint/2013/main/command">
      <pc:docMk/>
      <pc:sldMk cId="4268635609" sldId="275"/>
    </pc:sldMkLst>
    <p188:txBody>
      <a:bodyPr/>
      <a:lstStyle/>
      <a:p>
        <a:r>
          <a:rPr lang="it-IT"/>
          <a:t>In conclusion, this project analysed data from 768 individuals to investigate factors associated with diabetes. Approximately 35% of participants had diabetes. The descriptive and inferential analyses showed that glucose levels and the number of pregnancies differed significantly between diabetic and non-diabetic individuals. Regression analyses further demonstrated that age, BMI, and glucose were the strongest predictors of diabetes risk, while the logistic regression model achieved an overall classification accuracy of 76.8%. Overall, this project demonstrates how statistical analysis and predictive modelling can be applied to healthcare data to identify important risk factors and support evidence-based decision-making.</a:t>
        </a:r>
      </a:p>
    </p188:txBody>
  </p188:cm>
</p188:cmLst>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12D8FD-4D5A-2147-848A-07A45D4D479F}" type="doc">
      <dgm:prSet loTypeId="urn:microsoft.com/office/officeart/2005/8/layout/vList5" loCatId="list" qsTypeId="urn:microsoft.com/office/officeart/2005/8/quickstyle/simple4" qsCatId="simple" csTypeId="urn:microsoft.com/office/officeart/2005/8/colors/accent2_2" csCatId="accent2" phldr="1"/>
      <dgm:spPr/>
      <dgm:t>
        <a:bodyPr/>
        <a:lstStyle/>
        <a:p>
          <a:endParaRPr lang="it-IT"/>
        </a:p>
      </dgm:t>
    </dgm:pt>
    <dgm:pt modelId="{ADE37359-1E65-2A4F-AB3D-3FB83357E8A3}">
      <dgm:prSet phldrT="[Testo]"/>
      <dgm:spPr/>
      <dgm:t>
        <a:bodyPr/>
        <a:lstStyle/>
        <a:p>
          <a:r>
            <a:rPr lang="it-IT" err="1">
              <a:latin typeface="Arial" panose="020B0604020202020204" pitchFamily="34" charset="0"/>
              <a:cs typeface="Arial" panose="020B0604020202020204" pitchFamily="34" charset="0"/>
            </a:rPr>
            <a:t>Descriptive</a:t>
          </a:r>
          <a:r>
            <a:rPr lang="it-IT">
              <a:latin typeface="Arial" panose="020B0604020202020204" pitchFamily="34" charset="0"/>
              <a:cs typeface="Arial" panose="020B0604020202020204" pitchFamily="34" charset="0"/>
            </a:rPr>
            <a:t> </a:t>
          </a:r>
          <a:r>
            <a:rPr lang="it-IT" err="1">
              <a:latin typeface="Arial" panose="020B0604020202020204" pitchFamily="34" charset="0"/>
              <a:cs typeface="Arial" panose="020B0604020202020204" pitchFamily="34" charset="0"/>
            </a:rPr>
            <a:t>Statistics</a:t>
          </a:r>
          <a:endParaRPr lang="it-IT">
            <a:latin typeface="Arial" panose="020B0604020202020204" pitchFamily="34" charset="0"/>
            <a:cs typeface="Arial" panose="020B0604020202020204" pitchFamily="34" charset="0"/>
          </a:endParaRPr>
        </a:p>
      </dgm:t>
    </dgm:pt>
    <dgm:pt modelId="{81ECC37A-180C-5F4C-8F00-7F388EE19A68}" type="parTrans" cxnId="{247ED7B3-998A-4E41-B685-AA605BE6AD1F}">
      <dgm:prSet/>
      <dgm:spPr/>
      <dgm:t>
        <a:bodyPr/>
        <a:lstStyle/>
        <a:p>
          <a:endParaRPr lang="it-IT">
            <a:latin typeface="Arial" panose="020B0604020202020204" pitchFamily="34" charset="0"/>
            <a:cs typeface="Arial" panose="020B0604020202020204" pitchFamily="34" charset="0"/>
          </a:endParaRPr>
        </a:p>
      </dgm:t>
    </dgm:pt>
    <dgm:pt modelId="{119FE9BE-02C2-0F40-85E5-6A7B72D7424B}" type="sibTrans" cxnId="{247ED7B3-998A-4E41-B685-AA605BE6AD1F}">
      <dgm:prSet/>
      <dgm:spPr/>
      <dgm:t>
        <a:bodyPr/>
        <a:lstStyle/>
        <a:p>
          <a:endParaRPr lang="it-IT">
            <a:latin typeface="Arial" panose="020B0604020202020204" pitchFamily="34" charset="0"/>
            <a:cs typeface="Arial" panose="020B0604020202020204" pitchFamily="34" charset="0"/>
          </a:endParaRPr>
        </a:p>
      </dgm:t>
    </dgm:pt>
    <dgm:pt modelId="{4958B61B-2290-EA47-94AD-168F2C59B0F1}">
      <dgm:prSet phldrT="[Testo]"/>
      <dgm:spPr/>
      <dgm:t>
        <a:bodyPr/>
        <a:lstStyle/>
        <a:p>
          <a:r>
            <a:rPr lang="it-IT" dirty="0">
              <a:latin typeface="Arial" panose="020B0604020202020204" pitchFamily="34" charset="0"/>
              <a:cs typeface="Arial" panose="020B0604020202020204" pitchFamily="34" charset="0"/>
            </a:rPr>
            <a:t>Import Dataset</a:t>
          </a:r>
        </a:p>
      </dgm:t>
    </dgm:pt>
    <dgm:pt modelId="{28E050AD-795B-BD4D-A34A-6289E44D3E0F}" type="parTrans" cxnId="{25739DB1-9D1A-6643-9822-946E680FC58B}">
      <dgm:prSet/>
      <dgm:spPr/>
      <dgm:t>
        <a:bodyPr/>
        <a:lstStyle/>
        <a:p>
          <a:endParaRPr lang="it-IT">
            <a:latin typeface="Arial" panose="020B0604020202020204" pitchFamily="34" charset="0"/>
            <a:cs typeface="Arial" panose="020B0604020202020204" pitchFamily="34" charset="0"/>
          </a:endParaRPr>
        </a:p>
      </dgm:t>
    </dgm:pt>
    <dgm:pt modelId="{5C2BCE7A-9FC5-A842-A41D-8B75822CF50F}" type="sibTrans" cxnId="{25739DB1-9D1A-6643-9822-946E680FC58B}">
      <dgm:prSet/>
      <dgm:spPr/>
      <dgm:t>
        <a:bodyPr/>
        <a:lstStyle/>
        <a:p>
          <a:endParaRPr lang="it-IT">
            <a:latin typeface="Arial" panose="020B0604020202020204" pitchFamily="34" charset="0"/>
            <a:cs typeface="Arial" panose="020B0604020202020204" pitchFamily="34" charset="0"/>
          </a:endParaRPr>
        </a:p>
      </dgm:t>
    </dgm:pt>
    <dgm:pt modelId="{41390F7C-45B2-944C-8210-277DC1C9DF9D}">
      <dgm:prSet phldrT="[Testo]"/>
      <dgm:spPr/>
      <dgm:t>
        <a:bodyPr/>
        <a:lstStyle/>
        <a:p>
          <a:r>
            <a:rPr lang="it-IT" dirty="0">
              <a:latin typeface="Arial" panose="020B0604020202020204" pitchFamily="34" charset="0"/>
              <a:cs typeface="Arial" panose="020B0604020202020204" pitchFamily="34" charset="0"/>
            </a:rPr>
            <a:t>Data </a:t>
          </a:r>
          <a:r>
            <a:rPr lang="it-IT" dirty="0" err="1">
              <a:latin typeface="Arial" panose="020B0604020202020204" pitchFamily="34" charset="0"/>
              <a:cs typeface="Arial" panose="020B0604020202020204" pitchFamily="34" charset="0"/>
            </a:rPr>
            <a:t>exploration</a:t>
          </a:r>
          <a:endParaRPr lang="it-IT" dirty="0">
            <a:latin typeface="Arial" panose="020B0604020202020204" pitchFamily="34" charset="0"/>
            <a:cs typeface="Arial" panose="020B0604020202020204" pitchFamily="34" charset="0"/>
          </a:endParaRPr>
        </a:p>
      </dgm:t>
    </dgm:pt>
    <dgm:pt modelId="{E279B63C-A866-714D-BD77-311DE74BB7DD}" type="parTrans" cxnId="{6A72F5AD-33F8-E14C-80F8-64FF13432E9E}">
      <dgm:prSet/>
      <dgm:spPr/>
      <dgm:t>
        <a:bodyPr/>
        <a:lstStyle/>
        <a:p>
          <a:endParaRPr lang="it-IT">
            <a:latin typeface="Arial" panose="020B0604020202020204" pitchFamily="34" charset="0"/>
            <a:cs typeface="Arial" panose="020B0604020202020204" pitchFamily="34" charset="0"/>
          </a:endParaRPr>
        </a:p>
      </dgm:t>
    </dgm:pt>
    <dgm:pt modelId="{8F666872-1377-FE42-B2D4-5E04B7285008}" type="sibTrans" cxnId="{6A72F5AD-33F8-E14C-80F8-64FF13432E9E}">
      <dgm:prSet/>
      <dgm:spPr/>
      <dgm:t>
        <a:bodyPr/>
        <a:lstStyle/>
        <a:p>
          <a:endParaRPr lang="it-IT">
            <a:latin typeface="Arial" panose="020B0604020202020204" pitchFamily="34" charset="0"/>
            <a:cs typeface="Arial" panose="020B0604020202020204" pitchFamily="34" charset="0"/>
          </a:endParaRPr>
        </a:p>
      </dgm:t>
    </dgm:pt>
    <dgm:pt modelId="{7379FAC5-6508-1F4E-A574-274C0825E49A}">
      <dgm:prSet/>
      <dgm:spPr/>
      <dgm:t>
        <a:bodyPr/>
        <a:lstStyle/>
        <a:p>
          <a:r>
            <a:rPr lang="it-IT" err="1">
              <a:latin typeface="Arial" panose="020B0604020202020204" pitchFamily="34" charset="0"/>
              <a:cs typeface="Arial" panose="020B0604020202020204" pitchFamily="34" charset="0"/>
            </a:rPr>
            <a:t>Exploratory</a:t>
          </a:r>
          <a:r>
            <a:rPr lang="it-IT">
              <a:latin typeface="Arial" panose="020B0604020202020204" pitchFamily="34" charset="0"/>
              <a:cs typeface="Arial" panose="020B0604020202020204" pitchFamily="34" charset="0"/>
            </a:rPr>
            <a:t> </a:t>
          </a:r>
          <a:r>
            <a:rPr lang="it-IT" err="1">
              <a:latin typeface="Arial" panose="020B0604020202020204" pitchFamily="34" charset="0"/>
              <a:cs typeface="Arial" panose="020B0604020202020204" pitchFamily="34" charset="0"/>
            </a:rPr>
            <a:t>Visualisation</a:t>
          </a:r>
          <a:endParaRPr lang="it-IT">
            <a:latin typeface="Arial" panose="020B0604020202020204" pitchFamily="34" charset="0"/>
            <a:cs typeface="Arial" panose="020B0604020202020204" pitchFamily="34" charset="0"/>
          </a:endParaRPr>
        </a:p>
      </dgm:t>
    </dgm:pt>
    <dgm:pt modelId="{2A96B5E1-24C2-AD4D-B4AB-A0AEF2DE5E06}" type="parTrans" cxnId="{7F67FA21-7A8F-5B48-87C0-3F82B213E33A}">
      <dgm:prSet/>
      <dgm:spPr/>
      <dgm:t>
        <a:bodyPr/>
        <a:lstStyle/>
        <a:p>
          <a:endParaRPr lang="it-IT">
            <a:latin typeface="Arial" panose="020B0604020202020204" pitchFamily="34" charset="0"/>
            <a:cs typeface="Arial" panose="020B0604020202020204" pitchFamily="34" charset="0"/>
          </a:endParaRPr>
        </a:p>
      </dgm:t>
    </dgm:pt>
    <dgm:pt modelId="{73375A57-CD24-F848-A2A6-5442BC85F31E}" type="sibTrans" cxnId="{7F67FA21-7A8F-5B48-87C0-3F82B213E33A}">
      <dgm:prSet/>
      <dgm:spPr/>
      <dgm:t>
        <a:bodyPr/>
        <a:lstStyle/>
        <a:p>
          <a:endParaRPr lang="it-IT">
            <a:latin typeface="Arial" panose="020B0604020202020204" pitchFamily="34" charset="0"/>
            <a:cs typeface="Arial" panose="020B0604020202020204" pitchFamily="34" charset="0"/>
          </a:endParaRPr>
        </a:p>
      </dgm:t>
    </dgm:pt>
    <dgm:pt modelId="{1A0F8BC5-28DA-B445-AAA5-BF9EB3705763}">
      <dgm:prSet/>
      <dgm:spPr/>
      <dgm:t>
        <a:bodyPr/>
        <a:lstStyle/>
        <a:p>
          <a:r>
            <a:rPr lang="it-IT" dirty="0" err="1">
              <a:latin typeface="Arial" panose="020B0604020202020204" pitchFamily="34" charset="0"/>
              <a:cs typeface="Arial" panose="020B0604020202020204" pitchFamily="34" charset="0"/>
            </a:rPr>
            <a:t>Hypothesis</a:t>
          </a:r>
          <a:r>
            <a:rPr lang="it-IT" dirty="0">
              <a:latin typeface="Arial" panose="020B0604020202020204" pitchFamily="34" charset="0"/>
              <a:cs typeface="Arial" panose="020B0604020202020204" pitchFamily="34" charset="0"/>
            </a:rPr>
            <a:t> Testing</a:t>
          </a:r>
        </a:p>
      </dgm:t>
    </dgm:pt>
    <dgm:pt modelId="{8FC7CA19-7DF5-814D-B5AC-EA57EB1306BD}" type="parTrans" cxnId="{EC285B96-23E1-EC41-A2E5-63022E9EE494}">
      <dgm:prSet/>
      <dgm:spPr/>
      <dgm:t>
        <a:bodyPr/>
        <a:lstStyle/>
        <a:p>
          <a:endParaRPr lang="it-IT">
            <a:latin typeface="Arial" panose="020B0604020202020204" pitchFamily="34" charset="0"/>
            <a:cs typeface="Arial" panose="020B0604020202020204" pitchFamily="34" charset="0"/>
          </a:endParaRPr>
        </a:p>
      </dgm:t>
    </dgm:pt>
    <dgm:pt modelId="{312E447F-BE14-9742-B2DC-51B287B914AB}" type="sibTrans" cxnId="{EC285B96-23E1-EC41-A2E5-63022E9EE494}">
      <dgm:prSet/>
      <dgm:spPr/>
      <dgm:t>
        <a:bodyPr/>
        <a:lstStyle/>
        <a:p>
          <a:endParaRPr lang="it-IT">
            <a:latin typeface="Arial" panose="020B0604020202020204" pitchFamily="34" charset="0"/>
            <a:cs typeface="Arial" panose="020B0604020202020204" pitchFamily="34" charset="0"/>
          </a:endParaRPr>
        </a:p>
      </dgm:t>
    </dgm:pt>
    <dgm:pt modelId="{664D7F72-0D49-4D44-AAA9-BFF01BAE6402}">
      <dgm:prSet/>
      <dgm:spPr/>
      <dgm:t>
        <a:bodyPr/>
        <a:lstStyle/>
        <a:p>
          <a:r>
            <a:rPr lang="it-IT" dirty="0" err="1">
              <a:latin typeface="Arial" panose="020B0604020202020204" pitchFamily="34" charset="0"/>
              <a:cs typeface="Arial" panose="020B0604020202020204" pitchFamily="34" charset="0"/>
            </a:rPr>
            <a:t>Regression</a:t>
          </a:r>
          <a:r>
            <a:rPr lang="it-IT" dirty="0">
              <a:latin typeface="Arial" panose="020B0604020202020204" pitchFamily="34" charset="0"/>
              <a:cs typeface="Arial" panose="020B0604020202020204" pitchFamily="34" charset="0"/>
            </a:rPr>
            <a:t> Models</a:t>
          </a:r>
        </a:p>
      </dgm:t>
    </dgm:pt>
    <dgm:pt modelId="{1FE294CA-A889-BD4E-8981-A5528A7FBF76}" type="parTrans" cxnId="{F8ABBA0A-E6DA-ED42-A7D3-29DBE203A81F}">
      <dgm:prSet/>
      <dgm:spPr/>
      <dgm:t>
        <a:bodyPr/>
        <a:lstStyle/>
        <a:p>
          <a:endParaRPr lang="it-IT">
            <a:latin typeface="Arial" panose="020B0604020202020204" pitchFamily="34" charset="0"/>
            <a:cs typeface="Arial" panose="020B0604020202020204" pitchFamily="34" charset="0"/>
          </a:endParaRPr>
        </a:p>
      </dgm:t>
    </dgm:pt>
    <dgm:pt modelId="{3A87E83B-F32C-8A49-95B2-69D49D81119A}" type="sibTrans" cxnId="{F8ABBA0A-E6DA-ED42-A7D3-29DBE203A81F}">
      <dgm:prSet/>
      <dgm:spPr/>
      <dgm:t>
        <a:bodyPr/>
        <a:lstStyle/>
        <a:p>
          <a:endParaRPr lang="it-IT">
            <a:latin typeface="Arial" panose="020B0604020202020204" pitchFamily="34" charset="0"/>
            <a:cs typeface="Arial" panose="020B0604020202020204" pitchFamily="34" charset="0"/>
          </a:endParaRPr>
        </a:p>
      </dgm:t>
    </dgm:pt>
    <dgm:pt modelId="{6F3A19D0-5184-7B4C-B696-0AFDB1613C87}">
      <dgm:prSet/>
      <dgm:spPr/>
      <dgm:t>
        <a:bodyPr/>
        <a:lstStyle/>
        <a:p>
          <a:r>
            <a:rPr lang="it-IT" dirty="0">
              <a:latin typeface="Arial" panose="020B0604020202020204" pitchFamily="34" charset="0"/>
              <a:cs typeface="Arial" panose="020B0604020202020204" pitchFamily="34" charset="0"/>
            </a:rPr>
            <a:t>Model Evaluation</a:t>
          </a:r>
        </a:p>
      </dgm:t>
    </dgm:pt>
    <dgm:pt modelId="{6A37087E-3261-A04D-B8E1-423C1872D39A}" type="parTrans" cxnId="{BC8CD7A4-3BCD-374A-A885-913D8DE37572}">
      <dgm:prSet/>
      <dgm:spPr/>
      <dgm:t>
        <a:bodyPr/>
        <a:lstStyle/>
        <a:p>
          <a:endParaRPr lang="it-IT">
            <a:latin typeface="Arial" panose="020B0604020202020204" pitchFamily="34" charset="0"/>
            <a:cs typeface="Arial" panose="020B0604020202020204" pitchFamily="34" charset="0"/>
          </a:endParaRPr>
        </a:p>
      </dgm:t>
    </dgm:pt>
    <dgm:pt modelId="{23AE0E76-6551-DC45-8FC7-FCFDF79CC328}" type="sibTrans" cxnId="{BC8CD7A4-3BCD-374A-A885-913D8DE37572}">
      <dgm:prSet/>
      <dgm:spPr/>
      <dgm:t>
        <a:bodyPr/>
        <a:lstStyle/>
        <a:p>
          <a:endParaRPr lang="it-IT">
            <a:latin typeface="Arial" panose="020B0604020202020204" pitchFamily="34" charset="0"/>
            <a:cs typeface="Arial" panose="020B0604020202020204" pitchFamily="34" charset="0"/>
          </a:endParaRPr>
        </a:p>
      </dgm:t>
    </dgm:pt>
    <dgm:pt modelId="{94DB5815-33E6-FF4B-BA49-8C89837861F5}" type="pres">
      <dgm:prSet presAssocID="{2412D8FD-4D5A-2147-848A-07A45D4D479F}" presName="Name0" presStyleCnt="0">
        <dgm:presLayoutVars>
          <dgm:dir/>
          <dgm:animLvl val="lvl"/>
          <dgm:resizeHandles val="exact"/>
        </dgm:presLayoutVars>
      </dgm:prSet>
      <dgm:spPr/>
    </dgm:pt>
    <dgm:pt modelId="{958BCD99-9625-0D4E-94EA-A02A28C2A9AB}" type="pres">
      <dgm:prSet presAssocID="{4958B61B-2290-EA47-94AD-168F2C59B0F1}" presName="linNode" presStyleCnt="0"/>
      <dgm:spPr/>
    </dgm:pt>
    <dgm:pt modelId="{A5E6B77E-3EFF-0746-9910-46D00ADFBE26}" type="pres">
      <dgm:prSet presAssocID="{4958B61B-2290-EA47-94AD-168F2C59B0F1}" presName="parentText" presStyleLbl="node1" presStyleIdx="0" presStyleCnt="7" custLinFactNeighborX="-87310" custLinFactNeighborY="5764">
        <dgm:presLayoutVars>
          <dgm:chMax val="1"/>
          <dgm:bulletEnabled val="1"/>
        </dgm:presLayoutVars>
      </dgm:prSet>
      <dgm:spPr/>
    </dgm:pt>
    <dgm:pt modelId="{0F6CFAF3-38C6-1A46-A800-EF1681259FCA}" type="pres">
      <dgm:prSet presAssocID="{5C2BCE7A-9FC5-A842-A41D-8B75822CF50F}" presName="sp" presStyleCnt="0"/>
      <dgm:spPr/>
    </dgm:pt>
    <dgm:pt modelId="{ADD5B42D-3C1F-F74E-A871-7C89E765264F}" type="pres">
      <dgm:prSet presAssocID="{41390F7C-45B2-944C-8210-277DC1C9DF9D}" presName="linNode" presStyleCnt="0"/>
      <dgm:spPr/>
    </dgm:pt>
    <dgm:pt modelId="{F14A8ACD-15F7-4B4D-AAEE-3F0949857893}" type="pres">
      <dgm:prSet presAssocID="{41390F7C-45B2-944C-8210-277DC1C9DF9D}" presName="parentText" presStyleLbl="node1" presStyleIdx="1" presStyleCnt="7" custLinFactNeighborX="-57464" custLinFactNeighborY="3480">
        <dgm:presLayoutVars>
          <dgm:chMax val="1"/>
          <dgm:bulletEnabled val="1"/>
        </dgm:presLayoutVars>
      </dgm:prSet>
      <dgm:spPr/>
    </dgm:pt>
    <dgm:pt modelId="{215B0880-625E-D342-915B-FE95C6E580F6}" type="pres">
      <dgm:prSet presAssocID="{8F666872-1377-FE42-B2D4-5E04B7285008}" presName="sp" presStyleCnt="0"/>
      <dgm:spPr/>
    </dgm:pt>
    <dgm:pt modelId="{723B43F2-2322-4D4D-B04B-2F55EAFAAE53}" type="pres">
      <dgm:prSet presAssocID="{ADE37359-1E65-2A4F-AB3D-3FB83357E8A3}" presName="linNode" presStyleCnt="0"/>
      <dgm:spPr/>
    </dgm:pt>
    <dgm:pt modelId="{394CD275-00F6-7D42-AB3E-E3D7B6284560}" type="pres">
      <dgm:prSet presAssocID="{ADE37359-1E65-2A4F-AB3D-3FB83357E8A3}" presName="parentText" presStyleLbl="node1" presStyleIdx="2" presStyleCnt="7" custLinFactNeighborX="-28813" custLinFactNeighborY="1185">
        <dgm:presLayoutVars>
          <dgm:chMax val="1"/>
          <dgm:bulletEnabled val="1"/>
        </dgm:presLayoutVars>
      </dgm:prSet>
      <dgm:spPr/>
    </dgm:pt>
    <dgm:pt modelId="{AE57ECDF-DD49-C64D-8209-6E80E325C07F}" type="pres">
      <dgm:prSet presAssocID="{119FE9BE-02C2-0F40-85E5-6A7B72D7424B}" presName="sp" presStyleCnt="0"/>
      <dgm:spPr/>
    </dgm:pt>
    <dgm:pt modelId="{E4BE0B6C-C557-0A4F-84D7-B99C21C87768}" type="pres">
      <dgm:prSet presAssocID="{7379FAC5-6508-1F4E-A574-274C0825E49A}" presName="linNode" presStyleCnt="0"/>
      <dgm:spPr/>
    </dgm:pt>
    <dgm:pt modelId="{A1593DC9-C55A-6149-A676-0749FE4E42A8}" type="pres">
      <dgm:prSet presAssocID="{7379FAC5-6508-1F4E-A574-274C0825E49A}" presName="parentText" presStyleLbl="node1" presStyleIdx="3" presStyleCnt="7">
        <dgm:presLayoutVars>
          <dgm:chMax val="1"/>
          <dgm:bulletEnabled val="1"/>
        </dgm:presLayoutVars>
      </dgm:prSet>
      <dgm:spPr/>
    </dgm:pt>
    <dgm:pt modelId="{BCE0ED32-7A65-864F-86D9-CA21B46D0896}" type="pres">
      <dgm:prSet presAssocID="{73375A57-CD24-F848-A2A6-5442BC85F31E}" presName="sp" presStyleCnt="0"/>
      <dgm:spPr/>
    </dgm:pt>
    <dgm:pt modelId="{242556D7-9936-D24A-ABF2-13358A82BC24}" type="pres">
      <dgm:prSet presAssocID="{1A0F8BC5-28DA-B445-AAA5-BF9EB3705763}" presName="linNode" presStyleCnt="0"/>
      <dgm:spPr/>
    </dgm:pt>
    <dgm:pt modelId="{637E64B8-DF2C-7846-BEC1-CFF37EE0520F}" type="pres">
      <dgm:prSet presAssocID="{1A0F8BC5-28DA-B445-AAA5-BF9EB3705763}" presName="parentText" presStyleLbl="node1" presStyleIdx="4" presStyleCnt="7" custLinFactNeighborX="36846" custLinFactNeighborY="605">
        <dgm:presLayoutVars>
          <dgm:chMax val="1"/>
          <dgm:bulletEnabled val="1"/>
        </dgm:presLayoutVars>
      </dgm:prSet>
      <dgm:spPr/>
    </dgm:pt>
    <dgm:pt modelId="{96EA5A1B-3EBE-1846-9F7D-20AEE2A2D473}" type="pres">
      <dgm:prSet presAssocID="{312E447F-BE14-9742-B2DC-51B287B914AB}" presName="sp" presStyleCnt="0"/>
      <dgm:spPr/>
    </dgm:pt>
    <dgm:pt modelId="{160BE020-9B0C-3A4E-897E-291DF810CF4C}" type="pres">
      <dgm:prSet presAssocID="{664D7F72-0D49-4D44-AAA9-BFF01BAE6402}" presName="linNode" presStyleCnt="0"/>
      <dgm:spPr/>
    </dgm:pt>
    <dgm:pt modelId="{9B800DD5-8023-9D45-BA5E-0B323D0ED538}" type="pres">
      <dgm:prSet presAssocID="{664D7F72-0D49-4D44-AAA9-BFF01BAE6402}" presName="parentText" presStyleLbl="node1" presStyleIdx="5" presStyleCnt="7" custLinFactNeighborX="66007" custLinFactNeighborY="1216">
        <dgm:presLayoutVars>
          <dgm:chMax val="1"/>
          <dgm:bulletEnabled val="1"/>
        </dgm:presLayoutVars>
      </dgm:prSet>
      <dgm:spPr/>
    </dgm:pt>
    <dgm:pt modelId="{E90EC9C5-16B6-824F-8F3F-0DEC81D1AFFF}" type="pres">
      <dgm:prSet presAssocID="{3A87E83B-F32C-8A49-95B2-69D49D81119A}" presName="sp" presStyleCnt="0"/>
      <dgm:spPr/>
    </dgm:pt>
    <dgm:pt modelId="{D25BCBC2-589B-AE44-845D-9BB90D472361}" type="pres">
      <dgm:prSet presAssocID="{6F3A19D0-5184-7B4C-B696-0AFDB1613C87}" presName="linNode" presStyleCnt="0"/>
      <dgm:spPr/>
    </dgm:pt>
    <dgm:pt modelId="{252B60E7-7D66-FA4B-94FB-503A709D3335}" type="pres">
      <dgm:prSet presAssocID="{6F3A19D0-5184-7B4C-B696-0AFDB1613C87}" presName="parentText" presStyleLbl="node1" presStyleIdx="6" presStyleCnt="7" custLinFactNeighborX="88758" custLinFactNeighborY="7454">
        <dgm:presLayoutVars>
          <dgm:chMax val="1"/>
          <dgm:bulletEnabled val="1"/>
        </dgm:presLayoutVars>
      </dgm:prSet>
      <dgm:spPr/>
    </dgm:pt>
  </dgm:ptLst>
  <dgm:cxnLst>
    <dgm:cxn modelId="{F8ABBA0A-E6DA-ED42-A7D3-29DBE203A81F}" srcId="{2412D8FD-4D5A-2147-848A-07A45D4D479F}" destId="{664D7F72-0D49-4D44-AAA9-BFF01BAE6402}" srcOrd="5" destOrd="0" parTransId="{1FE294CA-A889-BD4E-8981-A5528A7FBF76}" sibTransId="{3A87E83B-F32C-8A49-95B2-69D49D81119A}"/>
    <dgm:cxn modelId="{7F67FA21-7A8F-5B48-87C0-3F82B213E33A}" srcId="{2412D8FD-4D5A-2147-848A-07A45D4D479F}" destId="{7379FAC5-6508-1F4E-A574-274C0825E49A}" srcOrd="3" destOrd="0" parTransId="{2A96B5E1-24C2-AD4D-B4AB-A0AEF2DE5E06}" sibTransId="{73375A57-CD24-F848-A2A6-5442BC85F31E}"/>
    <dgm:cxn modelId="{79654F4A-9392-9946-99B7-879EB04655EC}" type="presOf" srcId="{7379FAC5-6508-1F4E-A574-274C0825E49A}" destId="{A1593DC9-C55A-6149-A676-0749FE4E42A8}" srcOrd="0" destOrd="0" presId="urn:microsoft.com/office/officeart/2005/8/layout/vList5"/>
    <dgm:cxn modelId="{314BC970-8431-434A-AF9D-367251088AAA}" type="presOf" srcId="{6F3A19D0-5184-7B4C-B696-0AFDB1613C87}" destId="{252B60E7-7D66-FA4B-94FB-503A709D3335}" srcOrd="0" destOrd="0" presId="urn:microsoft.com/office/officeart/2005/8/layout/vList5"/>
    <dgm:cxn modelId="{2E6EA077-F6AF-824D-9B7F-0FDB950C1972}" type="presOf" srcId="{1A0F8BC5-28DA-B445-AAA5-BF9EB3705763}" destId="{637E64B8-DF2C-7846-BEC1-CFF37EE0520F}" srcOrd="0" destOrd="0" presId="urn:microsoft.com/office/officeart/2005/8/layout/vList5"/>
    <dgm:cxn modelId="{82C3E783-8535-6840-BC8B-172407F56903}" type="presOf" srcId="{664D7F72-0D49-4D44-AAA9-BFF01BAE6402}" destId="{9B800DD5-8023-9D45-BA5E-0B323D0ED538}" srcOrd="0" destOrd="0" presId="urn:microsoft.com/office/officeart/2005/8/layout/vList5"/>
    <dgm:cxn modelId="{EC285B96-23E1-EC41-A2E5-63022E9EE494}" srcId="{2412D8FD-4D5A-2147-848A-07A45D4D479F}" destId="{1A0F8BC5-28DA-B445-AAA5-BF9EB3705763}" srcOrd="4" destOrd="0" parTransId="{8FC7CA19-7DF5-814D-B5AC-EA57EB1306BD}" sibTransId="{312E447F-BE14-9742-B2DC-51B287B914AB}"/>
    <dgm:cxn modelId="{BC8CD7A4-3BCD-374A-A885-913D8DE37572}" srcId="{2412D8FD-4D5A-2147-848A-07A45D4D479F}" destId="{6F3A19D0-5184-7B4C-B696-0AFDB1613C87}" srcOrd="6" destOrd="0" parTransId="{6A37087E-3261-A04D-B8E1-423C1872D39A}" sibTransId="{23AE0E76-6551-DC45-8FC7-FCFDF79CC328}"/>
    <dgm:cxn modelId="{6A72F5AD-33F8-E14C-80F8-64FF13432E9E}" srcId="{2412D8FD-4D5A-2147-848A-07A45D4D479F}" destId="{41390F7C-45B2-944C-8210-277DC1C9DF9D}" srcOrd="1" destOrd="0" parTransId="{E279B63C-A866-714D-BD77-311DE74BB7DD}" sibTransId="{8F666872-1377-FE42-B2D4-5E04B7285008}"/>
    <dgm:cxn modelId="{25739DB1-9D1A-6643-9822-946E680FC58B}" srcId="{2412D8FD-4D5A-2147-848A-07A45D4D479F}" destId="{4958B61B-2290-EA47-94AD-168F2C59B0F1}" srcOrd="0" destOrd="0" parTransId="{28E050AD-795B-BD4D-A34A-6289E44D3E0F}" sibTransId="{5C2BCE7A-9FC5-A842-A41D-8B75822CF50F}"/>
    <dgm:cxn modelId="{247ED7B3-998A-4E41-B685-AA605BE6AD1F}" srcId="{2412D8FD-4D5A-2147-848A-07A45D4D479F}" destId="{ADE37359-1E65-2A4F-AB3D-3FB83357E8A3}" srcOrd="2" destOrd="0" parTransId="{81ECC37A-180C-5F4C-8F00-7F388EE19A68}" sibTransId="{119FE9BE-02C2-0F40-85E5-6A7B72D7424B}"/>
    <dgm:cxn modelId="{2BDBDAB4-8656-BB44-BFCE-36656AA82110}" type="presOf" srcId="{ADE37359-1E65-2A4F-AB3D-3FB83357E8A3}" destId="{394CD275-00F6-7D42-AB3E-E3D7B6284560}" srcOrd="0" destOrd="0" presId="urn:microsoft.com/office/officeart/2005/8/layout/vList5"/>
    <dgm:cxn modelId="{6D8066D7-8E06-A94F-943B-09A62CB053F7}" type="presOf" srcId="{41390F7C-45B2-944C-8210-277DC1C9DF9D}" destId="{F14A8ACD-15F7-4B4D-AAEE-3F0949857893}" srcOrd="0" destOrd="0" presId="urn:microsoft.com/office/officeart/2005/8/layout/vList5"/>
    <dgm:cxn modelId="{896AA6E3-19B0-C546-A1FD-8E096FD5E45D}" type="presOf" srcId="{4958B61B-2290-EA47-94AD-168F2C59B0F1}" destId="{A5E6B77E-3EFF-0746-9910-46D00ADFBE26}" srcOrd="0" destOrd="0" presId="urn:microsoft.com/office/officeart/2005/8/layout/vList5"/>
    <dgm:cxn modelId="{B1AB7DE6-0B01-344B-8820-515BE7DA76E1}" type="presOf" srcId="{2412D8FD-4D5A-2147-848A-07A45D4D479F}" destId="{94DB5815-33E6-FF4B-BA49-8C89837861F5}" srcOrd="0" destOrd="0" presId="urn:microsoft.com/office/officeart/2005/8/layout/vList5"/>
    <dgm:cxn modelId="{3725EC5A-10FF-9F43-B8EC-69B646BE8486}" type="presParOf" srcId="{94DB5815-33E6-FF4B-BA49-8C89837861F5}" destId="{958BCD99-9625-0D4E-94EA-A02A28C2A9AB}" srcOrd="0" destOrd="0" presId="urn:microsoft.com/office/officeart/2005/8/layout/vList5"/>
    <dgm:cxn modelId="{C8A1A6EA-94F9-1C41-808D-F7D5F5D2B52E}" type="presParOf" srcId="{958BCD99-9625-0D4E-94EA-A02A28C2A9AB}" destId="{A5E6B77E-3EFF-0746-9910-46D00ADFBE26}" srcOrd="0" destOrd="0" presId="urn:microsoft.com/office/officeart/2005/8/layout/vList5"/>
    <dgm:cxn modelId="{DD5CCFFB-F32F-5F48-99EA-5F7A4FA31F53}" type="presParOf" srcId="{94DB5815-33E6-FF4B-BA49-8C89837861F5}" destId="{0F6CFAF3-38C6-1A46-A800-EF1681259FCA}" srcOrd="1" destOrd="0" presId="urn:microsoft.com/office/officeart/2005/8/layout/vList5"/>
    <dgm:cxn modelId="{A9F5682B-5890-C54C-805C-15F679F2A509}" type="presParOf" srcId="{94DB5815-33E6-FF4B-BA49-8C89837861F5}" destId="{ADD5B42D-3C1F-F74E-A871-7C89E765264F}" srcOrd="2" destOrd="0" presId="urn:microsoft.com/office/officeart/2005/8/layout/vList5"/>
    <dgm:cxn modelId="{B8277473-C922-BE4C-A6CA-8B4DC7C99779}" type="presParOf" srcId="{ADD5B42D-3C1F-F74E-A871-7C89E765264F}" destId="{F14A8ACD-15F7-4B4D-AAEE-3F0949857893}" srcOrd="0" destOrd="0" presId="urn:microsoft.com/office/officeart/2005/8/layout/vList5"/>
    <dgm:cxn modelId="{3F58853C-87BC-6D44-8438-2745AF2EF374}" type="presParOf" srcId="{94DB5815-33E6-FF4B-BA49-8C89837861F5}" destId="{215B0880-625E-D342-915B-FE95C6E580F6}" srcOrd="3" destOrd="0" presId="urn:microsoft.com/office/officeart/2005/8/layout/vList5"/>
    <dgm:cxn modelId="{969B9D24-A319-0845-B92C-E0DAE30BCC0C}" type="presParOf" srcId="{94DB5815-33E6-FF4B-BA49-8C89837861F5}" destId="{723B43F2-2322-4D4D-B04B-2F55EAFAAE53}" srcOrd="4" destOrd="0" presId="urn:microsoft.com/office/officeart/2005/8/layout/vList5"/>
    <dgm:cxn modelId="{D75E3AE9-2DD2-1E4C-B0B9-15DC47F16946}" type="presParOf" srcId="{723B43F2-2322-4D4D-B04B-2F55EAFAAE53}" destId="{394CD275-00F6-7D42-AB3E-E3D7B6284560}" srcOrd="0" destOrd="0" presId="urn:microsoft.com/office/officeart/2005/8/layout/vList5"/>
    <dgm:cxn modelId="{CEEEE597-E2E1-2C48-8C22-FB557E8D8906}" type="presParOf" srcId="{94DB5815-33E6-FF4B-BA49-8C89837861F5}" destId="{AE57ECDF-DD49-C64D-8209-6E80E325C07F}" srcOrd="5" destOrd="0" presId="urn:microsoft.com/office/officeart/2005/8/layout/vList5"/>
    <dgm:cxn modelId="{9C0DD2F6-6DF7-AB4B-A761-7921B628D813}" type="presParOf" srcId="{94DB5815-33E6-FF4B-BA49-8C89837861F5}" destId="{E4BE0B6C-C557-0A4F-84D7-B99C21C87768}" srcOrd="6" destOrd="0" presId="urn:microsoft.com/office/officeart/2005/8/layout/vList5"/>
    <dgm:cxn modelId="{2E38627E-13DA-344E-8A89-C94CD6BDC97D}" type="presParOf" srcId="{E4BE0B6C-C557-0A4F-84D7-B99C21C87768}" destId="{A1593DC9-C55A-6149-A676-0749FE4E42A8}" srcOrd="0" destOrd="0" presId="urn:microsoft.com/office/officeart/2005/8/layout/vList5"/>
    <dgm:cxn modelId="{31494A60-52B5-2046-BC94-DD2C62659D1F}" type="presParOf" srcId="{94DB5815-33E6-FF4B-BA49-8C89837861F5}" destId="{BCE0ED32-7A65-864F-86D9-CA21B46D0896}" srcOrd="7" destOrd="0" presId="urn:microsoft.com/office/officeart/2005/8/layout/vList5"/>
    <dgm:cxn modelId="{0D0B2F0C-DB97-DE40-8DE4-8B331F87BC08}" type="presParOf" srcId="{94DB5815-33E6-FF4B-BA49-8C89837861F5}" destId="{242556D7-9936-D24A-ABF2-13358A82BC24}" srcOrd="8" destOrd="0" presId="urn:microsoft.com/office/officeart/2005/8/layout/vList5"/>
    <dgm:cxn modelId="{5FEB7ACB-D976-EA42-9E42-896CE4067477}" type="presParOf" srcId="{242556D7-9936-D24A-ABF2-13358A82BC24}" destId="{637E64B8-DF2C-7846-BEC1-CFF37EE0520F}" srcOrd="0" destOrd="0" presId="urn:microsoft.com/office/officeart/2005/8/layout/vList5"/>
    <dgm:cxn modelId="{F673871E-1236-9540-B4B3-FFFD99A8AD54}" type="presParOf" srcId="{94DB5815-33E6-FF4B-BA49-8C89837861F5}" destId="{96EA5A1B-3EBE-1846-9F7D-20AEE2A2D473}" srcOrd="9" destOrd="0" presId="urn:microsoft.com/office/officeart/2005/8/layout/vList5"/>
    <dgm:cxn modelId="{DA56ECD1-0747-0741-B644-CB4B65D2A4FB}" type="presParOf" srcId="{94DB5815-33E6-FF4B-BA49-8C89837861F5}" destId="{160BE020-9B0C-3A4E-897E-291DF810CF4C}" srcOrd="10" destOrd="0" presId="urn:microsoft.com/office/officeart/2005/8/layout/vList5"/>
    <dgm:cxn modelId="{7FBE98CD-6292-6541-A72D-974E9FFD9054}" type="presParOf" srcId="{160BE020-9B0C-3A4E-897E-291DF810CF4C}" destId="{9B800DD5-8023-9D45-BA5E-0B323D0ED538}" srcOrd="0" destOrd="0" presId="urn:microsoft.com/office/officeart/2005/8/layout/vList5"/>
    <dgm:cxn modelId="{3598127E-8372-7F46-8310-85C4B0378B89}" type="presParOf" srcId="{94DB5815-33E6-FF4B-BA49-8C89837861F5}" destId="{E90EC9C5-16B6-824F-8F3F-0DEC81D1AFFF}" srcOrd="11" destOrd="0" presId="urn:microsoft.com/office/officeart/2005/8/layout/vList5"/>
    <dgm:cxn modelId="{339049CD-1AA8-2041-BE8C-7A5995E7DAC4}" type="presParOf" srcId="{94DB5815-33E6-FF4B-BA49-8C89837861F5}" destId="{D25BCBC2-589B-AE44-845D-9BB90D472361}" srcOrd="12" destOrd="0" presId="urn:microsoft.com/office/officeart/2005/8/layout/vList5"/>
    <dgm:cxn modelId="{DD76F8A1-C309-BB47-9D8A-8451A2A94176}" type="presParOf" srcId="{D25BCBC2-589B-AE44-845D-9BB90D472361}" destId="{252B60E7-7D66-FA4B-94FB-503A709D3335}"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021EED-1CEA-4EEF-B06E-3632EEBC304D}" type="doc">
      <dgm:prSet loTypeId="urn:microsoft.com/office/officeart/2005/8/layout/vList2" loCatId="list" qsTypeId="urn:microsoft.com/office/officeart/2005/8/quickstyle/3d4" qsCatId="3D" csTypeId="urn:microsoft.com/office/officeart/2005/8/colors/accent0_1" csCatId="mainScheme"/>
      <dgm:spPr/>
      <dgm:t>
        <a:bodyPr/>
        <a:lstStyle/>
        <a:p>
          <a:endParaRPr lang="en-US"/>
        </a:p>
      </dgm:t>
    </dgm:pt>
    <dgm:pt modelId="{4EE95492-9160-4D83-A2F6-2BE7929EAD62}">
      <dgm:prSet/>
      <dgm:spPr/>
      <dgm:t>
        <a:bodyPr/>
        <a:lstStyle/>
        <a:p>
          <a:r>
            <a:rPr lang="it-IT" b="1" i="0" baseline="0">
              <a:latin typeface="Arial" panose="020B0604020202020204" pitchFamily="34" charset="0"/>
              <a:cs typeface="Arial" panose="020B0604020202020204" pitchFamily="34" charset="0"/>
            </a:rPr>
            <a:t>Key Findings</a:t>
          </a:r>
          <a:endParaRPr lang="en-US">
            <a:latin typeface="Arial" panose="020B0604020202020204" pitchFamily="34" charset="0"/>
            <a:cs typeface="Arial" panose="020B0604020202020204" pitchFamily="34" charset="0"/>
          </a:endParaRPr>
        </a:p>
      </dgm:t>
    </dgm:pt>
    <dgm:pt modelId="{84C18C82-BE99-4DC9-ACE8-2F62536C201F}" type="parTrans" cxnId="{315C295B-5381-42A1-8536-B193F297DDC5}">
      <dgm:prSet/>
      <dgm:spPr/>
      <dgm:t>
        <a:bodyPr/>
        <a:lstStyle/>
        <a:p>
          <a:endParaRPr lang="en-US"/>
        </a:p>
      </dgm:t>
    </dgm:pt>
    <dgm:pt modelId="{765EFEFC-A5AC-4E24-8EDE-0002FA287CB6}" type="sibTrans" cxnId="{315C295B-5381-42A1-8536-B193F297DDC5}">
      <dgm:prSet/>
      <dgm:spPr/>
      <dgm:t>
        <a:bodyPr/>
        <a:lstStyle/>
        <a:p>
          <a:endParaRPr lang="en-US"/>
        </a:p>
      </dgm:t>
    </dgm:pt>
    <dgm:pt modelId="{3C7AE842-6AAA-4DDF-9345-48F4F0CF9ACD}">
      <dgm:prSet/>
      <dgm:spPr/>
      <dgm:t>
        <a:bodyPr/>
        <a:lstStyle/>
        <a:p>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Participants</a:t>
          </a:r>
          <a:r>
            <a:rPr lang="it-IT" b="0" i="0" baseline="0" dirty="0">
              <a:latin typeface="Arial" panose="020B0604020202020204" pitchFamily="34" charset="0"/>
              <a:cs typeface="Arial" panose="020B0604020202020204" pitchFamily="34" charset="0"/>
            </a:rPr>
            <a:t> with </a:t>
          </a:r>
          <a:r>
            <a:rPr lang="it-IT" b="0" i="0" baseline="0" dirty="0" err="1">
              <a:latin typeface="Arial" panose="020B0604020202020204" pitchFamily="34" charset="0"/>
              <a:cs typeface="Arial" panose="020B0604020202020204" pitchFamily="34" charset="0"/>
            </a:rPr>
            <a:t>diabetes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had</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substantially</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higher</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glucose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levels</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C124808D-F294-488A-987E-2F5B7032AAC8}" type="parTrans" cxnId="{15150B0E-82BE-48A5-B139-A627F7E029F1}">
      <dgm:prSet/>
      <dgm:spPr/>
      <dgm:t>
        <a:bodyPr/>
        <a:lstStyle/>
        <a:p>
          <a:endParaRPr lang="en-US"/>
        </a:p>
      </dgm:t>
    </dgm:pt>
    <dgm:pt modelId="{EE1C298D-63CC-4BFC-B039-977CE2A8B782}" type="sibTrans" cxnId="{15150B0E-82BE-48A5-B139-A627F7E029F1}">
      <dgm:prSet/>
      <dgm:spPr/>
      <dgm:t>
        <a:bodyPr/>
        <a:lstStyle/>
        <a:p>
          <a:endParaRPr lang="en-US"/>
        </a:p>
      </dgm:t>
    </dgm:pt>
    <dgm:pt modelId="{FF84AC09-411B-4DCD-8788-D3130ECB7BC5}">
      <dgm:prSet/>
      <dgm:spPr/>
      <dgm:t>
        <a:bodyPr/>
        <a:lstStyle/>
        <a:p>
          <a:r>
            <a:rPr lang="it-IT" b="0" i="0" baseline="0">
              <a:latin typeface="Arial" panose="020B0604020202020204" pitchFamily="34" charset="0"/>
              <a:cs typeface="Arial" panose="020B0604020202020204" pitchFamily="34" charset="0"/>
            </a:rPr>
            <a:t>• Mean glucose increased from </a:t>
          </a:r>
          <a:r>
            <a:rPr lang="it-IT" b="1" i="0" baseline="0">
              <a:latin typeface="Arial" panose="020B0604020202020204" pitchFamily="34" charset="0"/>
              <a:cs typeface="Arial" panose="020B0604020202020204" pitchFamily="34" charset="0"/>
            </a:rPr>
            <a:t>110</a:t>
          </a:r>
          <a:r>
            <a:rPr lang="it-IT" b="0" i="0" baseline="0">
              <a:latin typeface="Arial" panose="020B0604020202020204" pitchFamily="34" charset="0"/>
              <a:cs typeface="Arial" panose="020B0604020202020204" pitchFamily="34" charset="0"/>
            </a:rPr>
            <a:t> to </a:t>
          </a:r>
          <a:r>
            <a:rPr lang="it-IT" b="1" i="0" baseline="0">
              <a:latin typeface="Arial" panose="020B0604020202020204" pitchFamily="34" charset="0"/>
              <a:cs typeface="Arial" panose="020B0604020202020204" pitchFamily="34" charset="0"/>
            </a:rPr>
            <a:t>141 mg/dL</a:t>
          </a:r>
          <a:r>
            <a:rPr lang="it-IT" b="0" i="0" baseline="0">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dgm:t>
    </dgm:pt>
    <dgm:pt modelId="{319B5F8A-CAF8-4A6B-808F-668F74B13D76}" type="parTrans" cxnId="{78B32A85-6E29-4746-8CF5-CB89B117B894}">
      <dgm:prSet/>
      <dgm:spPr/>
      <dgm:t>
        <a:bodyPr/>
        <a:lstStyle/>
        <a:p>
          <a:endParaRPr lang="en-US"/>
        </a:p>
      </dgm:t>
    </dgm:pt>
    <dgm:pt modelId="{C80F96C3-B58F-4BDC-AD49-AE97C7F06486}" type="sibTrans" cxnId="{78B32A85-6E29-4746-8CF5-CB89B117B894}">
      <dgm:prSet/>
      <dgm:spPr/>
      <dgm:t>
        <a:bodyPr/>
        <a:lstStyle/>
        <a:p>
          <a:endParaRPr lang="en-US"/>
        </a:p>
      </dgm:t>
    </dgm:pt>
    <dgm:pt modelId="{40FFDD62-D9F2-4AF8-ABF5-BBF7681082A2}">
      <dgm:prSet/>
      <dgm:spPr/>
      <dgm:t>
        <a:bodyPr/>
        <a:lstStyle/>
        <a:p>
          <a:r>
            <a:rPr lang="it-IT" b="0" i="0" baseline="0" dirty="0">
              <a:latin typeface="Arial" panose="020B0604020202020204" pitchFamily="34" charset="0"/>
              <a:cs typeface="Arial" panose="020B0604020202020204" pitchFamily="34" charset="0"/>
            </a:rPr>
            <a:t>• The </a:t>
          </a:r>
          <a:r>
            <a:rPr lang="it-IT" b="0" i="0" baseline="0" dirty="0" err="1">
              <a:latin typeface="Arial" panose="020B0604020202020204" pitchFamily="34" charset="0"/>
              <a:cs typeface="Arial" panose="020B0604020202020204" pitchFamily="34" charset="0"/>
            </a:rPr>
            <a:t>difference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was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statistically</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significant</a:t>
          </a:r>
          <a:r>
            <a:rPr lang="it-IT" b="0" i="0" baseline="0" dirty="0">
              <a:latin typeface="Arial" panose="020B0604020202020204" pitchFamily="34" charset="0"/>
              <a:cs typeface="Arial" panose="020B0604020202020204" pitchFamily="34" charset="0"/>
            </a:rPr>
            <a:t> (</a:t>
          </a:r>
          <a:r>
            <a:rPr lang="it-IT" b="1" i="0" baseline="0" dirty="0" err="1">
              <a:latin typeface="Arial" panose="020B0604020202020204" pitchFamily="34" charset="0"/>
              <a:cs typeface="Arial" panose="020B0604020202020204" pitchFamily="34" charset="0"/>
            </a:rPr>
            <a:t>p</a:t>
          </a:r>
          <a:r>
            <a:rPr lang="it-IT" b="1" i="0" baseline="0" dirty="0">
              <a:latin typeface="Arial" panose="020B0604020202020204" pitchFamily="34" charset="0"/>
              <a:cs typeface="Arial" panose="020B0604020202020204" pitchFamily="34" charset="0"/>
            </a:rPr>
            <a:t> &lt; 0.001</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7EA65191-1D7D-4268-A29F-AA550B86B662}" type="parTrans" cxnId="{9DEE74CE-9C97-4C4F-9180-24418AC403F8}">
      <dgm:prSet/>
      <dgm:spPr/>
      <dgm:t>
        <a:bodyPr/>
        <a:lstStyle/>
        <a:p>
          <a:endParaRPr lang="en-US"/>
        </a:p>
      </dgm:t>
    </dgm:pt>
    <dgm:pt modelId="{F2D4B144-E4E1-46A4-B048-F6D23056582B}" type="sibTrans" cxnId="{9DEE74CE-9C97-4C4F-9180-24418AC403F8}">
      <dgm:prSet/>
      <dgm:spPr/>
      <dgm:t>
        <a:bodyPr/>
        <a:lstStyle/>
        <a:p>
          <a:endParaRPr lang="en-US"/>
        </a:p>
      </dgm:t>
    </dgm:pt>
    <dgm:pt modelId="{2C9E9BEB-B830-2247-9EAC-D2402D32DEE9}" type="pres">
      <dgm:prSet presAssocID="{A5021EED-1CEA-4EEF-B06E-3632EEBC304D}" presName="linear" presStyleCnt="0">
        <dgm:presLayoutVars>
          <dgm:animLvl val="lvl"/>
          <dgm:resizeHandles val="exact"/>
        </dgm:presLayoutVars>
      </dgm:prSet>
      <dgm:spPr/>
    </dgm:pt>
    <dgm:pt modelId="{25E18E50-583D-184F-8BD7-34AA6888C915}" type="pres">
      <dgm:prSet presAssocID="{4EE95492-9160-4D83-A2F6-2BE7929EAD62}" presName="parentText" presStyleLbl="node1" presStyleIdx="0" presStyleCnt="4">
        <dgm:presLayoutVars>
          <dgm:chMax val="0"/>
          <dgm:bulletEnabled val="1"/>
        </dgm:presLayoutVars>
      </dgm:prSet>
      <dgm:spPr/>
    </dgm:pt>
    <dgm:pt modelId="{6B6F7D6F-EB9D-4D4F-B303-625B5B472667}" type="pres">
      <dgm:prSet presAssocID="{765EFEFC-A5AC-4E24-8EDE-0002FA287CB6}" presName="spacer" presStyleCnt="0"/>
      <dgm:spPr/>
    </dgm:pt>
    <dgm:pt modelId="{2322DA75-2CBD-2748-BA9A-5FBFC6D932A9}" type="pres">
      <dgm:prSet presAssocID="{3C7AE842-6AAA-4DDF-9345-48F4F0CF9ACD}" presName="parentText" presStyleLbl="node1" presStyleIdx="1" presStyleCnt="4" custLinFactNeighborX="-7570" custLinFactNeighborY="49570">
        <dgm:presLayoutVars>
          <dgm:chMax val="0"/>
          <dgm:bulletEnabled val="1"/>
        </dgm:presLayoutVars>
      </dgm:prSet>
      <dgm:spPr/>
    </dgm:pt>
    <dgm:pt modelId="{21D32A51-E7DA-6D45-B701-8A017478830A}" type="pres">
      <dgm:prSet presAssocID="{EE1C298D-63CC-4BFC-B039-977CE2A8B782}" presName="spacer" presStyleCnt="0"/>
      <dgm:spPr/>
    </dgm:pt>
    <dgm:pt modelId="{9BBAB39E-B4C7-C749-B8E0-37F67F606120}" type="pres">
      <dgm:prSet presAssocID="{FF84AC09-411B-4DCD-8788-D3130ECB7BC5}" presName="parentText" presStyleLbl="node1" presStyleIdx="2" presStyleCnt="4">
        <dgm:presLayoutVars>
          <dgm:chMax val="0"/>
          <dgm:bulletEnabled val="1"/>
        </dgm:presLayoutVars>
      </dgm:prSet>
      <dgm:spPr/>
    </dgm:pt>
    <dgm:pt modelId="{8BD5A17F-AB3F-A44F-9C3B-7933A64E09B8}" type="pres">
      <dgm:prSet presAssocID="{C80F96C3-B58F-4BDC-AD49-AE97C7F06486}" presName="spacer" presStyleCnt="0"/>
      <dgm:spPr/>
    </dgm:pt>
    <dgm:pt modelId="{0C400CBB-8AEF-7F48-8E3A-793ED7324DFA}" type="pres">
      <dgm:prSet presAssocID="{40FFDD62-D9F2-4AF8-ABF5-BBF7681082A2}" presName="parentText" presStyleLbl="node1" presStyleIdx="3" presStyleCnt="4">
        <dgm:presLayoutVars>
          <dgm:chMax val="0"/>
          <dgm:bulletEnabled val="1"/>
        </dgm:presLayoutVars>
      </dgm:prSet>
      <dgm:spPr/>
    </dgm:pt>
  </dgm:ptLst>
  <dgm:cxnLst>
    <dgm:cxn modelId="{15150B0E-82BE-48A5-B139-A627F7E029F1}" srcId="{A5021EED-1CEA-4EEF-B06E-3632EEBC304D}" destId="{3C7AE842-6AAA-4DDF-9345-48F4F0CF9ACD}" srcOrd="1" destOrd="0" parTransId="{C124808D-F294-488A-987E-2F5B7032AAC8}" sibTransId="{EE1C298D-63CC-4BFC-B039-977CE2A8B782}"/>
    <dgm:cxn modelId="{B44BA92F-514C-C84E-A9E7-A303D0CBC20E}" type="presOf" srcId="{40FFDD62-D9F2-4AF8-ABF5-BBF7681082A2}" destId="{0C400CBB-8AEF-7F48-8E3A-793ED7324DFA}" srcOrd="0" destOrd="0" presId="urn:microsoft.com/office/officeart/2005/8/layout/vList2"/>
    <dgm:cxn modelId="{67460558-233C-0044-81F3-21CF22B475F2}" type="presOf" srcId="{A5021EED-1CEA-4EEF-B06E-3632EEBC304D}" destId="{2C9E9BEB-B830-2247-9EAC-D2402D32DEE9}" srcOrd="0" destOrd="0" presId="urn:microsoft.com/office/officeart/2005/8/layout/vList2"/>
    <dgm:cxn modelId="{315C295B-5381-42A1-8536-B193F297DDC5}" srcId="{A5021EED-1CEA-4EEF-B06E-3632EEBC304D}" destId="{4EE95492-9160-4D83-A2F6-2BE7929EAD62}" srcOrd="0" destOrd="0" parTransId="{84C18C82-BE99-4DC9-ACE8-2F62536C201F}" sibTransId="{765EFEFC-A5AC-4E24-8EDE-0002FA287CB6}"/>
    <dgm:cxn modelId="{17B8637C-DD82-0C4D-A676-33EA0F353B0F}" type="presOf" srcId="{3C7AE842-6AAA-4DDF-9345-48F4F0CF9ACD}" destId="{2322DA75-2CBD-2748-BA9A-5FBFC6D932A9}" srcOrd="0" destOrd="0" presId="urn:microsoft.com/office/officeart/2005/8/layout/vList2"/>
    <dgm:cxn modelId="{78B32A85-6E29-4746-8CF5-CB89B117B894}" srcId="{A5021EED-1CEA-4EEF-B06E-3632EEBC304D}" destId="{FF84AC09-411B-4DCD-8788-D3130ECB7BC5}" srcOrd="2" destOrd="0" parTransId="{319B5F8A-CAF8-4A6B-808F-668F74B13D76}" sibTransId="{C80F96C3-B58F-4BDC-AD49-AE97C7F06486}"/>
    <dgm:cxn modelId="{48ED749D-BEFD-2E49-92CF-410B9B17F1D9}" type="presOf" srcId="{4EE95492-9160-4D83-A2F6-2BE7929EAD62}" destId="{25E18E50-583D-184F-8BD7-34AA6888C915}" srcOrd="0" destOrd="0" presId="urn:microsoft.com/office/officeart/2005/8/layout/vList2"/>
    <dgm:cxn modelId="{9DEE74CE-9C97-4C4F-9180-24418AC403F8}" srcId="{A5021EED-1CEA-4EEF-B06E-3632EEBC304D}" destId="{40FFDD62-D9F2-4AF8-ABF5-BBF7681082A2}" srcOrd="3" destOrd="0" parTransId="{7EA65191-1D7D-4268-A29F-AA550B86B662}" sibTransId="{F2D4B144-E4E1-46A4-B048-F6D23056582B}"/>
    <dgm:cxn modelId="{F0137BEF-2AC3-1542-9639-088813182EA2}" type="presOf" srcId="{FF84AC09-411B-4DCD-8788-D3130ECB7BC5}" destId="{9BBAB39E-B4C7-C749-B8E0-37F67F606120}" srcOrd="0" destOrd="0" presId="urn:microsoft.com/office/officeart/2005/8/layout/vList2"/>
    <dgm:cxn modelId="{1D80E613-1A49-684A-AC74-DB7BAD6E5536}" type="presParOf" srcId="{2C9E9BEB-B830-2247-9EAC-D2402D32DEE9}" destId="{25E18E50-583D-184F-8BD7-34AA6888C915}" srcOrd="0" destOrd="0" presId="urn:microsoft.com/office/officeart/2005/8/layout/vList2"/>
    <dgm:cxn modelId="{CB13664F-DCA9-924D-B4C6-82515DCB95F3}" type="presParOf" srcId="{2C9E9BEB-B830-2247-9EAC-D2402D32DEE9}" destId="{6B6F7D6F-EB9D-4D4F-B303-625B5B472667}" srcOrd="1" destOrd="0" presId="urn:microsoft.com/office/officeart/2005/8/layout/vList2"/>
    <dgm:cxn modelId="{801EBF59-1C11-F34F-8469-BF86C993266C}" type="presParOf" srcId="{2C9E9BEB-B830-2247-9EAC-D2402D32DEE9}" destId="{2322DA75-2CBD-2748-BA9A-5FBFC6D932A9}" srcOrd="2" destOrd="0" presId="urn:microsoft.com/office/officeart/2005/8/layout/vList2"/>
    <dgm:cxn modelId="{320C0839-57B5-4D42-AA48-5D3389D54C5A}" type="presParOf" srcId="{2C9E9BEB-B830-2247-9EAC-D2402D32DEE9}" destId="{21D32A51-E7DA-6D45-B701-8A017478830A}" srcOrd="3" destOrd="0" presId="urn:microsoft.com/office/officeart/2005/8/layout/vList2"/>
    <dgm:cxn modelId="{759EA97B-EEEE-5F41-BF82-861F549F149C}" type="presParOf" srcId="{2C9E9BEB-B830-2247-9EAC-D2402D32DEE9}" destId="{9BBAB39E-B4C7-C749-B8E0-37F67F606120}" srcOrd="4" destOrd="0" presId="urn:microsoft.com/office/officeart/2005/8/layout/vList2"/>
    <dgm:cxn modelId="{27721E1C-A43F-8C44-9456-3390F2DE0297}" type="presParOf" srcId="{2C9E9BEB-B830-2247-9EAC-D2402D32DEE9}" destId="{8BD5A17F-AB3F-A44F-9C3B-7933A64E09B8}" srcOrd="5" destOrd="0" presId="urn:microsoft.com/office/officeart/2005/8/layout/vList2"/>
    <dgm:cxn modelId="{15352E71-A815-A745-B324-6CB2DD90B3D4}" type="presParOf" srcId="{2C9E9BEB-B830-2247-9EAC-D2402D32DEE9}" destId="{0C400CBB-8AEF-7F48-8E3A-793ED7324DFA}"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F23258-5D7B-4F4E-9040-DEA8834D073D}"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D0235428-A72A-4291-B872-D7E9B243C808}">
      <dgm:prSet/>
      <dgm:spPr/>
      <dgm:t>
        <a:bodyPr/>
        <a:lstStyle/>
        <a:p>
          <a:r>
            <a:rPr lang="it-IT" b="1" i="0" baseline="0">
              <a:latin typeface="Arial" panose="020B0604020202020204" pitchFamily="34" charset="0"/>
              <a:cs typeface="Arial" panose="020B0604020202020204" pitchFamily="34" charset="0"/>
            </a:rPr>
            <a:t>Key Findings</a:t>
          </a:r>
          <a:endParaRPr lang="en-US">
            <a:latin typeface="Arial" panose="020B0604020202020204" pitchFamily="34" charset="0"/>
            <a:cs typeface="Arial" panose="020B0604020202020204" pitchFamily="34" charset="0"/>
          </a:endParaRPr>
        </a:p>
      </dgm:t>
    </dgm:pt>
    <dgm:pt modelId="{F32F55D5-9154-4022-A6DB-14AFDCB78E61}" type="parTrans" cxnId="{7B0D9355-8159-4FE6-AC25-D7608972C7AF}">
      <dgm:prSet/>
      <dgm:spPr/>
      <dgm:t>
        <a:bodyPr/>
        <a:lstStyle/>
        <a:p>
          <a:endParaRPr lang="en-US">
            <a:latin typeface="Arial" panose="020B0604020202020204" pitchFamily="34" charset="0"/>
            <a:cs typeface="Arial" panose="020B0604020202020204" pitchFamily="34" charset="0"/>
          </a:endParaRPr>
        </a:p>
      </dgm:t>
    </dgm:pt>
    <dgm:pt modelId="{13BCCDEC-AA40-42BA-AF58-66194B83208A}" type="sibTrans" cxnId="{7B0D9355-8159-4FE6-AC25-D7608972C7AF}">
      <dgm:prSet/>
      <dgm:spPr/>
      <dgm:t>
        <a:bodyPr/>
        <a:lstStyle/>
        <a:p>
          <a:endParaRPr lang="en-US">
            <a:latin typeface="Arial" panose="020B0604020202020204" pitchFamily="34" charset="0"/>
            <a:cs typeface="Arial" panose="020B0604020202020204" pitchFamily="34" charset="0"/>
          </a:endParaRPr>
        </a:p>
      </dgm:t>
    </dgm:pt>
    <dgm:pt modelId="{56AAFA0F-DA2A-4388-B582-A373B2E4716D}">
      <dgm:prSet/>
      <dgm:spPr/>
      <dgm:t>
        <a:bodyPr/>
        <a:lstStyle/>
        <a:p>
          <a:r>
            <a:rPr lang="it-IT" b="0" i="0" baseline="0">
              <a:latin typeface="Arial" panose="020B0604020202020204" pitchFamily="34" charset="0"/>
              <a:cs typeface="Arial" panose="020B0604020202020204" pitchFamily="34" charset="0"/>
            </a:rPr>
            <a:t>Diabetes prevalence increased with </a:t>
          </a:r>
          <a:r>
            <a:rPr lang="it-IT" b="1" i="0" baseline="0">
              <a:latin typeface="Arial" panose="020B0604020202020204" pitchFamily="34" charset="0"/>
              <a:cs typeface="Arial" panose="020B0604020202020204" pitchFamily="34" charset="0"/>
            </a:rPr>
            <a:t>age</a:t>
          </a:r>
          <a:r>
            <a:rPr lang="it-IT" b="0" i="0" baseline="0">
              <a:latin typeface="Arial" panose="020B0604020202020204" pitchFamily="34" charset="0"/>
              <a:cs typeface="Arial" panose="020B0604020202020204" pitchFamily="34" charset="0"/>
            </a:rPr>
            <a:t> and </a:t>
          </a:r>
          <a:r>
            <a:rPr lang="it-IT" b="1" i="0" baseline="0">
              <a:latin typeface="Arial" panose="020B0604020202020204" pitchFamily="34" charset="0"/>
              <a:cs typeface="Arial" panose="020B0604020202020204" pitchFamily="34" charset="0"/>
            </a:rPr>
            <a:t>BMI</a:t>
          </a:r>
          <a:r>
            <a:rPr lang="it-IT" b="0" i="0" baseline="0">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dgm:t>
    </dgm:pt>
    <dgm:pt modelId="{4448BBAE-39D4-45CE-BDF4-27657F44686B}" type="parTrans" cxnId="{895E2E90-B3BF-45FB-BC71-74EB5C11D881}">
      <dgm:prSet/>
      <dgm:spPr/>
      <dgm:t>
        <a:bodyPr/>
        <a:lstStyle/>
        <a:p>
          <a:endParaRPr lang="en-US">
            <a:latin typeface="Arial" panose="020B0604020202020204" pitchFamily="34" charset="0"/>
            <a:cs typeface="Arial" panose="020B0604020202020204" pitchFamily="34" charset="0"/>
          </a:endParaRPr>
        </a:p>
      </dgm:t>
    </dgm:pt>
    <dgm:pt modelId="{ECB7EDF1-1D39-4214-AD5F-2C030FFB138A}" type="sibTrans" cxnId="{895E2E90-B3BF-45FB-BC71-74EB5C11D881}">
      <dgm:prSet/>
      <dgm:spPr/>
      <dgm:t>
        <a:bodyPr/>
        <a:lstStyle/>
        <a:p>
          <a:endParaRPr lang="en-US">
            <a:latin typeface="Arial" panose="020B0604020202020204" pitchFamily="34" charset="0"/>
            <a:cs typeface="Arial" panose="020B0604020202020204" pitchFamily="34" charset="0"/>
          </a:endParaRPr>
        </a:p>
      </dgm:t>
    </dgm:pt>
    <dgm:pt modelId="{608A10AD-A437-4D2A-BA76-FF90CFE8A6F4}">
      <dgm:prSet/>
      <dgm:spPr/>
      <dgm:t>
        <a:bodyPr/>
        <a:lstStyle/>
        <a:p>
          <a:r>
            <a:rPr lang="it-IT" b="0" i="0" baseline="0">
              <a:latin typeface="Arial" panose="020B0604020202020204" pitchFamily="34" charset="0"/>
              <a:cs typeface="Arial" panose="020B0604020202020204" pitchFamily="34" charset="0"/>
            </a:rPr>
            <a:t>Individuals with diabetes had significantly </a:t>
          </a:r>
          <a:r>
            <a:rPr lang="it-IT" b="1" i="0" baseline="0">
              <a:latin typeface="Arial" panose="020B0604020202020204" pitchFamily="34" charset="0"/>
              <a:cs typeface="Arial" panose="020B0604020202020204" pitchFamily="34" charset="0"/>
            </a:rPr>
            <a:t>higher glucose levels</a:t>
          </a:r>
          <a:r>
            <a:rPr lang="it-IT" b="0" i="0" baseline="0">
              <a:latin typeface="Arial" panose="020B0604020202020204" pitchFamily="34" charset="0"/>
              <a:cs typeface="Arial" panose="020B0604020202020204" pitchFamily="34" charset="0"/>
            </a:rPr>
            <a:t>.</a:t>
          </a:r>
          <a:endParaRPr lang="en-US">
            <a:latin typeface="Arial" panose="020B0604020202020204" pitchFamily="34" charset="0"/>
            <a:cs typeface="Arial" panose="020B0604020202020204" pitchFamily="34" charset="0"/>
          </a:endParaRPr>
        </a:p>
      </dgm:t>
    </dgm:pt>
    <dgm:pt modelId="{0397F7D7-A4EB-432C-93C7-7F6A21CB1F34}" type="parTrans" cxnId="{598284E0-AA3B-49AE-AB52-EBF6C8647A81}">
      <dgm:prSet/>
      <dgm:spPr/>
      <dgm:t>
        <a:bodyPr/>
        <a:lstStyle/>
        <a:p>
          <a:endParaRPr lang="en-US">
            <a:latin typeface="Arial" panose="020B0604020202020204" pitchFamily="34" charset="0"/>
            <a:cs typeface="Arial" panose="020B0604020202020204" pitchFamily="34" charset="0"/>
          </a:endParaRPr>
        </a:p>
      </dgm:t>
    </dgm:pt>
    <dgm:pt modelId="{ECAA3E83-4837-4AE7-A6E5-BD1FD8845EFD}" type="sibTrans" cxnId="{598284E0-AA3B-49AE-AB52-EBF6C8647A81}">
      <dgm:prSet/>
      <dgm:spPr/>
      <dgm:t>
        <a:bodyPr/>
        <a:lstStyle/>
        <a:p>
          <a:endParaRPr lang="en-US">
            <a:latin typeface="Arial" panose="020B0604020202020204" pitchFamily="34" charset="0"/>
            <a:cs typeface="Arial" panose="020B0604020202020204" pitchFamily="34" charset="0"/>
          </a:endParaRPr>
        </a:p>
      </dgm:t>
    </dgm:pt>
    <dgm:pt modelId="{F2CD820A-77CB-4706-B36E-1807E5C515F5}">
      <dgm:prSet/>
      <dgm:spPr/>
      <dgm:t>
        <a:bodyPr/>
        <a:lstStyle/>
        <a:p>
          <a:r>
            <a:rPr lang="it-IT" b="0" i="0" baseline="0">
              <a:latin typeface="Arial" panose="020B0604020202020204" pitchFamily="34" charset="0"/>
              <a:cs typeface="Arial" panose="020B0604020202020204" pitchFamily="34" charset="0"/>
            </a:rPr>
            <a:t>Women with diabetes reported </a:t>
          </a:r>
          <a:r>
            <a:rPr lang="it-IT" b="1" i="0" baseline="0">
              <a:latin typeface="Arial" panose="020B0604020202020204" pitchFamily="34" charset="0"/>
              <a:cs typeface="Arial" panose="020B0604020202020204" pitchFamily="34" charset="0"/>
            </a:rPr>
            <a:t>more pregnancies</a:t>
          </a:r>
          <a:r>
            <a:rPr lang="it-IT" b="0" i="0" baseline="0">
              <a:latin typeface="Arial" panose="020B0604020202020204" pitchFamily="34" charset="0"/>
              <a:cs typeface="Arial" panose="020B0604020202020204" pitchFamily="34" charset="0"/>
            </a:rPr>
            <a:t> on average.</a:t>
          </a:r>
          <a:endParaRPr lang="en-US">
            <a:latin typeface="Arial" panose="020B0604020202020204" pitchFamily="34" charset="0"/>
            <a:cs typeface="Arial" panose="020B0604020202020204" pitchFamily="34" charset="0"/>
          </a:endParaRPr>
        </a:p>
      </dgm:t>
    </dgm:pt>
    <dgm:pt modelId="{E68FC4B0-7E29-4741-BDF6-FD4147C031F0}" type="parTrans" cxnId="{284FA8B8-FE1F-47BC-8535-872CD0BE0350}">
      <dgm:prSet/>
      <dgm:spPr/>
      <dgm:t>
        <a:bodyPr/>
        <a:lstStyle/>
        <a:p>
          <a:endParaRPr lang="en-US">
            <a:latin typeface="Arial" panose="020B0604020202020204" pitchFamily="34" charset="0"/>
            <a:cs typeface="Arial" panose="020B0604020202020204" pitchFamily="34" charset="0"/>
          </a:endParaRPr>
        </a:p>
      </dgm:t>
    </dgm:pt>
    <dgm:pt modelId="{20D1EE80-778C-402D-90E9-53FAE8816307}" type="sibTrans" cxnId="{284FA8B8-FE1F-47BC-8535-872CD0BE0350}">
      <dgm:prSet/>
      <dgm:spPr/>
      <dgm:t>
        <a:bodyPr/>
        <a:lstStyle/>
        <a:p>
          <a:endParaRPr lang="en-US">
            <a:latin typeface="Arial" panose="020B0604020202020204" pitchFamily="34" charset="0"/>
            <a:cs typeface="Arial" panose="020B0604020202020204" pitchFamily="34" charset="0"/>
          </a:endParaRPr>
        </a:p>
      </dgm:t>
    </dgm:pt>
    <dgm:pt modelId="{CC6981F6-7A1E-4029-9C1B-5C7F2F33C2E3}">
      <dgm:prSet/>
      <dgm:spPr/>
      <dgm:t>
        <a:bodyPr/>
        <a:lstStyle/>
        <a:p>
          <a:r>
            <a:rPr lang="it-IT" b="1" i="0" baseline="0" dirty="0" err="1">
              <a:latin typeface="Arial" panose="020B0604020202020204" pitchFamily="34" charset="0"/>
              <a:cs typeface="Arial" panose="020B0604020202020204" pitchFamily="34" charset="0"/>
            </a:rPr>
            <a:t>Glucose</a:t>
          </a:r>
          <a:r>
            <a:rPr lang="it-IT" b="1" i="0" baseline="0" dirty="0">
              <a:latin typeface="Arial" panose="020B0604020202020204" pitchFamily="34" charset="0"/>
              <a:cs typeface="Arial" panose="020B0604020202020204" pitchFamily="34" charset="0"/>
            </a:rPr>
            <a:t>, BMI and Age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were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significant</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predictors</a:t>
          </a:r>
          <a:r>
            <a:rPr lang="it-IT" b="0" i="0" baseline="0" dirty="0">
              <a:latin typeface="Arial" panose="020B0604020202020204" pitchFamily="34" charset="0"/>
              <a:cs typeface="Arial" panose="020B0604020202020204" pitchFamily="34" charset="0"/>
            </a:rPr>
            <a:t> of </a:t>
          </a:r>
          <a:r>
            <a:rPr lang="it-IT" b="0" i="0" baseline="0" dirty="0" err="1">
              <a:latin typeface="Arial" panose="020B0604020202020204" pitchFamily="34" charset="0"/>
              <a:cs typeface="Arial" panose="020B0604020202020204" pitchFamily="34" charset="0"/>
            </a:rPr>
            <a:t>diabetes</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182C6E5D-44CF-4363-A79A-9CEFBA87A0F9}" type="parTrans" cxnId="{954C6F12-A79F-4635-9275-24ACDF40A991}">
      <dgm:prSet/>
      <dgm:spPr/>
      <dgm:t>
        <a:bodyPr/>
        <a:lstStyle/>
        <a:p>
          <a:endParaRPr lang="en-US">
            <a:latin typeface="Arial" panose="020B0604020202020204" pitchFamily="34" charset="0"/>
            <a:cs typeface="Arial" panose="020B0604020202020204" pitchFamily="34" charset="0"/>
          </a:endParaRPr>
        </a:p>
      </dgm:t>
    </dgm:pt>
    <dgm:pt modelId="{FEEFC410-7221-4609-B226-D6754E44E3B1}" type="sibTrans" cxnId="{954C6F12-A79F-4635-9275-24ACDF40A991}">
      <dgm:prSet/>
      <dgm:spPr/>
      <dgm:t>
        <a:bodyPr/>
        <a:lstStyle/>
        <a:p>
          <a:endParaRPr lang="en-US">
            <a:latin typeface="Arial" panose="020B0604020202020204" pitchFamily="34" charset="0"/>
            <a:cs typeface="Arial" panose="020B0604020202020204" pitchFamily="34" charset="0"/>
          </a:endParaRPr>
        </a:p>
      </dgm:t>
    </dgm:pt>
    <dgm:pt modelId="{4CB705C4-FE92-4E37-8C98-331F1976D459}">
      <dgm:prSet/>
      <dgm:spPr/>
      <dgm:t>
        <a:bodyPr/>
        <a:lstStyle/>
        <a:p>
          <a:r>
            <a:rPr lang="it-IT" b="0" i="0" baseline="0">
              <a:latin typeface="Arial" panose="020B0604020202020204" pitchFamily="34" charset="0"/>
              <a:cs typeface="Arial" panose="020B0604020202020204" pitchFamily="34" charset="0"/>
            </a:rPr>
            <a:t>The </a:t>
          </a:r>
          <a:r>
            <a:rPr lang="it-IT" b="1" i="0" baseline="0">
              <a:latin typeface="Arial" panose="020B0604020202020204" pitchFamily="34" charset="0"/>
              <a:cs typeface="Arial" panose="020B0604020202020204" pitchFamily="34" charset="0"/>
            </a:rPr>
            <a:t>BMI × Age interaction</a:t>
          </a:r>
          <a:r>
            <a:rPr lang="it-IT" b="0" i="0" baseline="0">
              <a:latin typeface="Arial" panose="020B0604020202020204" pitchFamily="34" charset="0"/>
              <a:cs typeface="Arial" panose="020B0604020202020204" pitchFamily="34" charset="0"/>
            </a:rPr>
            <a:t> was not statistically significant.</a:t>
          </a:r>
          <a:endParaRPr lang="en-US">
            <a:latin typeface="Arial" panose="020B0604020202020204" pitchFamily="34" charset="0"/>
            <a:cs typeface="Arial" panose="020B0604020202020204" pitchFamily="34" charset="0"/>
          </a:endParaRPr>
        </a:p>
      </dgm:t>
    </dgm:pt>
    <dgm:pt modelId="{30AFA562-AF4D-4FBE-AE83-92EE96B6E8FF}" type="parTrans" cxnId="{F77C6544-ECA8-466E-B1F7-BE7E2034D86C}">
      <dgm:prSet/>
      <dgm:spPr/>
      <dgm:t>
        <a:bodyPr/>
        <a:lstStyle/>
        <a:p>
          <a:endParaRPr lang="en-US">
            <a:latin typeface="Arial" panose="020B0604020202020204" pitchFamily="34" charset="0"/>
            <a:cs typeface="Arial" panose="020B0604020202020204" pitchFamily="34" charset="0"/>
          </a:endParaRPr>
        </a:p>
      </dgm:t>
    </dgm:pt>
    <dgm:pt modelId="{53497A31-D872-49E1-8EA4-277B9B908D16}" type="sibTrans" cxnId="{F77C6544-ECA8-466E-B1F7-BE7E2034D86C}">
      <dgm:prSet/>
      <dgm:spPr/>
      <dgm:t>
        <a:bodyPr/>
        <a:lstStyle/>
        <a:p>
          <a:endParaRPr lang="en-US">
            <a:latin typeface="Arial" panose="020B0604020202020204" pitchFamily="34" charset="0"/>
            <a:cs typeface="Arial" panose="020B0604020202020204" pitchFamily="34" charset="0"/>
          </a:endParaRPr>
        </a:p>
      </dgm:t>
    </dgm:pt>
    <dgm:pt modelId="{B951927F-27CA-9F41-8541-075E6841F666}" type="pres">
      <dgm:prSet presAssocID="{A7F23258-5D7B-4F4E-9040-DEA8834D073D}" presName="vert0" presStyleCnt="0">
        <dgm:presLayoutVars>
          <dgm:dir/>
          <dgm:animOne val="branch"/>
          <dgm:animLvl val="lvl"/>
        </dgm:presLayoutVars>
      </dgm:prSet>
      <dgm:spPr/>
    </dgm:pt>
    <dgm:pt modelId="{F1BA55E5-B9C1-EA49-A037-7912F3540997}" type="pres">
      <dgm:prSet presAssocID="{D0235428-A72A-4291-B872-D7E9B243C808}" presName="thickLine" presStyleLbl="alignNode1" presStyleIdx="0" presStyleCnt="6"/>
      <dgm:spPr/>
    </dgm:pt>
    <dgm:pt modelId="{D94E9196-368A-FB40-B5A4-57D969E6217D}" type="pres">
      <dgm:prSet presAssocID="{D0235428-A72A-4291-B872-D7E9B243C808}" presName="horz1" presStyleCnt="0"/>
      <dgm:spPr/>
    </dgm:pt>
    <dgm:pt modelId="{34E7509A-22BA-E94D-8415-6D4DCDFD0654}" type="pres">
      <dgm:prSet presAssocID="{D0235428-A72A-4291-B872-D7E9B243C808}" presName="tx1" presStyleLbl="revTx" presStyleIdx="0" presStyleCnt="6"/>
      <dgm:spPr/>
    </dgm:pt>
    <dgm:pt modelId="{B0AF512F-571E-994E-9F1B-2745F7A06E2C}" type="pres">
      <dgm:prSet presAssocID="{D0235428-A72A-4291-B872-D7E9B243C808}" presName="vert1" presStyleCnt="0"/>
      <dgm:spPr/>
    </dgm:pt>
    <dgm:pt modelId="{A6BACA6F-A30A-8E4A-81A2-E9ECD24D2FF1}" type="pres">
      <dgm:prSet presAssocID="{56AAFA0F-DA2A-4388-B582-A373B2E4716D}" presName="thickLine" presStyleLbl="alignNode1" presStyleIdx="1" presStyleCnt="6"/>
      <dgm:spPr/>
    </dgm:pt>
    <dgm:pt modelId="{959B12BA-D79E-B943-B185-FE3A21FD3F61}" type="pres">
      <dgm:prSet presAssocID="{56AAFA0F-DA2A-4388-B582-A373B2E4716D}" presName="horz1" presStyleCnt="0"/>
      <dgm:spPr/>
    </dgm:pt>
    <dgm:pt modelId="{EE8ED833-68AB-8F41-AEC6-D12A40A05920}" type="pres">
      <dgm:prSet presAssocID="{56AAFA0F-DA2A-4388-B582-A373B2E4716D}" presName="tx1" presStyleLbl="revTx" presStyleIdx="1" presStyleCnt="6"/>
      <dgm:spPr/>
    </dgm:pt>
    <dgm:pt modelId="{69C7FD45-F76B-6744-A86D-853A0A6FDFDC}" type="pres">
      <dgm:prSet presAssocID="{56AAFA0F-DA2A-4388-B582-A373B2E4716D}" presName="vert1" presStyleCnt="0"/>
      <dgm:spPr/>
    </dgm:pt>
    <dgm:pt modelId="{281777EA-DD32-4549-B995-7E173473D576}" type="pres">
      <dgm:prSet presAssocID="{608A10AD-A437-4D2A-BA76-FF90CFE8A6F4}" presName="thickLine" presStyleLbl="alignNode1" presStyleIdx="2" presStyleCnt="6"/>
      <dgm:spPr/>
    </dgm:pt>
    <dgm:pt modelId="{F116D24E-3B9A-9F43-92FB-0BEA575F0E14}" type="pres">
      <dgm:prSet presAssocID="{608A10AD-A437-4D2A-BA76-FF90CFE8A6F4}" presName="horz1" presStyleCnt="0"/>
      <dgm:spPr/>
    </dgm:pt>
    <dgm:pt modelId="{E3F7141A-8A41-9248-B45D-1BC97718211A}" type="pres">
      <dgm:prSet presAssocID="{608A10AD-A437-4D2A-BA76-FF90CFE8A6F4}" presName="tx1" presStyleLbl="revTx" presStyleIdx="2" presStyleCnt="6"/>
      <dgm:spPr/>
    </dgm:pt>
    <dgm:pt modelId="{92C2D06C-645E-3540-AC09-D43B38092B69}" type="pres">
      <dgm:prSet presAssocID="{608A10AD-A437-4D2A-BA76-FF90CFE8A6F4}" presName="vert1" presStyleCnt="0"/>
      <dgm:spPr/>
    </dgm:pt>
    <dgm:pt modelId="{27834EF2-D4EE-6143-9CFD-B91DA92BEF08}" type="pres">
      <dgm:prSet presAssocID="{F2CD820A-77CB-4706-B36E-1807E5C515F5}" presName="thickLine" presStyleLbl="alignNode1" presStyleIdx="3" presStyleCnt="6"/>
      <dgm:spPr/>
    </dgm:pt>
    <dgm:pt modelId="{5BC45EEB-49E2-384C-ADBC-720E9D96FC7C}" type="pres">
      <dgm:prSet presAssocID="{F2CD820A-77CB-4706-B36E-1807E5C515F5}" presName="horz1" presStyleCnt="0"/>
      <dgm:spPr/>
    </dgm:pt>
    <dgm:pt modelId="{8623CA71-EA6A-6045-8D36-53950D319EF8}" type="pres">
      <dgm:prSet presAssocID="{F2CD820A-77CB-4706-B36E-1807E5C515F5}" presName="tx1" presStyleLbl="revTx" presStyleIdx="3" presStyleCnt="6"/>
      <dgm:spPr/>
    </dgm:pt>
    <dgm:pt modelId="{FC0604BD-35F7-584D-9760-6A72925DDC62}" type="pres">
      <dgm:prSet presAssocID="{F2CD820A-77CB-4706-B36E-1807E5C515F5}" presName="vert1" presStyleCnt="0"/>
      <dgm:spPr/>
    </dgm:pt>
    <dgm:pt modelId="{FBF81FEB-7A79-3E46-B971-DCC65B7526F7}" type="pres">
      <dgm:prSet presAssocID="{CC6981F6-7A1E-4029-9C1B-5C7F2F33C2E3}" presName="thickLine" presStyleLbl="alignNode1" presStyleIdx="4" presStyleCnt="6"/>
      <dgm:spPr/>
    </dgm:pt>
    <dgm:pt modelId="{D3F66429-4F7E-9B4C-A5AF-85FA3547E264}" type="pres">
      <dgm:prSet presAssocID="{CC6981F6-7A1E-4029-9C1B-5C7F2F33C2E3}" presName="horz1" presStyleCnt="0"/>
      <dgm:spPr/>
    </dgm:pt>
    <dgm:pt modelId="{A190E593-8C08-684C-9D3A-CEC263D69F74}" type="pres">
      <dgm:prSet presAssocID="{CC6981F6-7A1E-4029-9C1B-5C7F2F33C2E3}" presName="tx1" presStyleLbl="revTx" presStyleIdx="4" presStyleCnt="6"/>
      <dgm:spPr/>
    </dgm:pt>
    <dgm:pt modelId="{2428ABA6-72BE-C047-9E5A-6CC665D2A133}" type="pres">
      <dgm:prSet presAssocID="{CC6981F6-7A1E-4029-9C1B-5C7F2F33C2E3}" presName="vert1" presStyleCnt="0"/>
      <dgm:spPr/>
    </dgm:pt>
    <dgm:pt modelId="{8D26FF05-31A6-2342-86C2-B0CEB78BBE0F}" type="pres">
      <dgm:prSet presAssocID="{4CB705C4-FE92-4E37-8C98-331F1976D459}" presName="thickLine" presStyleLbl="alignNode1" presStyleIdx="5" presStyleCnt="6"/>
      <dgm:spPr/>
    </dgm:pt>
    <dgm:pt modelId="{362B9898-C959-C14E-BC4E-420CBD3AFCA9}" type="pres">
      <dgm:prSet presAssocID="{4CB705C4-FE92-4E37-8C98-331F1976D459}" presName="horz1" presStyleCnt="0"/>
      <dgm:spPr/>
    </dgm:pt>
    <dgm:pt modelId="{48BED5E0-5807-5246-8E00-3852A82CA762}" type="pres">
      <dgm:prSet presAssocID="{4CB705C4-FE92-4E37-8C98-331F1976D459}" presName="tx1" presStyleLbl="revTx" presStyleIdx="5" presStyleCnt="6"/>
      <dgm:spPr/>
    </dgm:pt>
    <dgm:pt modelId="{C6835FAC-56AE-0040-A288-72F18B7B120F}" type="pres">
      <dgm:prSet presAssocID="{4CB705C4-FE92-4E37-8C98-331F1976D459}" presName="vert1" presStyleCnt="0"/>
      <dgm:spPr/>
    </dgm:pt>
  </dgm:ptLst>
  <dgm:cxnLst>
    <dgm:cxn modelId="{954C6F12-A79F-4635-9275-24ACDF40A991}" srcId="{A7F23258-5D7B-4F4E-9040-DEA8834D073D}" destId="{CC6981F6-7A1E-4029-9C1B-5C7F2F33C2E3}" srcOrd="4" destOrd="0" parTransId="{182C6E5D-44CF-4363-A79A-9CEFBA87A0F9}" sibTransId="{FEEFC410-7221-4609-B226-D6754E44E3B1}"/>
    <dgm:cxn modelId="{188E6D25-5177-8D45-9A29-33D4E2BD2C7E}" type="presOf" srcId="{4CB705C4-FE92-4E37-8C98-331F1976D459}" destId="{48BED5E0-5807-5246-8E00-3852A82CA762}" srcOrd="0" destOrd="0" presId="urn:microsoft.com/office/officeart/2008/layout/LinedList"/>
    <dgm:cxn modelId="{C8924C36-96CE-1048-842E-D98163AC7825}" type="presOf" srcId="{A7F23258-5D7B-4F4E-9040-DEA8834D073D}" destId="{B951927F-27CA-9F41-8541-075E6841F666}" srcOrd="0" destOrd="0" presId="urn:microsoft.com/office/officeart/2008/layout/LinedList"/>
    <dgm:cxn modelId="{EBE7273E-0251-8645-A624-DD36BB5CB1DE}" type="presOf" srcId="{D0235428-A72A-4291-B872-D7E9B243C808}" destId="{34E7509A-22BA-E94D-8415-6D4DCDFD0654}" srcOrd="0" destOrd="0" presId="urn:microsoft.com/office/officeart/2008/layout/LinedList"/>
    <dgm:cxn modelId="{F77C6544-ECA8-466E-B1F7-BE7E2034D86C}" srcId="{A7F23258-5D7B-4F4E-9040-DEA8834D073D}" destId="{4CB705C4-FE92-4E37-8C98-331F1976D459}" srcOrd="5" destOrd="0" parTransId="{30AFA562-AF4D-4FBE-AE83-92EE96B6E8FF}" sibTransId="{53497A31-D872-49E1-8EA4-277B9B908D16}"/>
    <dgm:cxn modelId="{ED3BE851-5E0B-0F45-80C9-830A8FD0F82D}" type="presOf" srcId="{CC6981F6-7A1E-4029-9C1B-5C7F2F33C2E3}" destId="{A190E593-8C08-684C-9D3A-CEC263D69F74}" srcOrd="0" destOrd="0" presId="urn:microsoft.com/office/officeart/2008/layout/LinedList"/>
    <dgm:cxn modelId="{7B0D9355-8159-4FE6-AC25-D7608972C7AF}" srcId="{A7F23258-5D7B-4F4E-9040-DEA8834D073D}" destId="{D0235428-A72A-4291-B872-D7E9B243C808}" srcOrd="0" destOrd="0" parTransId="{F32F55D5-9154-4022-A6DB-14AFDCB78E61}" sibTransId="{13BCCDEC-AA40-42BA-AF58-66194B83208A}"/>
    <dgm:cxn modelId="{0BC3E96A-418A-D940-B7DD-12DB31C6B4FC}" type="presOf" srcId="{56AAFA0F-DA2A-4388-B582-A373B2E4716D}" destId="{EE8ED833-68AB-8F41-AEC6-D12A40A05920}" srcOrd="0" destOrd="0" presId="urn:microsoft.com/office/officeart/2008/layout/LinedList"/>
    <dgm:cxn modelId="{16A1046F-C7B7-C945-9CB7-60B6DF5DDC3C}" type="presOf" srcId="{F2CD820A-77CB-4706-B36E-1807E5C515F5}" destId="{8623CA71-EA6A-6045-8D36-53950D319EF8}" srcOrd="0" destOrd="0" presId="urn:microsoft.com/office/officeart/2008/layout/LinedList"/>
    <dgm:cxn modelId="{895E2E90-B3BF-45FB-BC71-74EB5C11D881}" srcId="{A7F23258-5D7B-4F4E-9040-DEA8834D073D}" destId="{56AAFA0F-DA2A-4388-B582-A373B2E4716D}" srcOrd="1" destOrd="0" parTransId="{4448BBAE-39D4-45CE-BDF4-27657F44686B}" sibTransId="{ECB7EDF1-1D39-4214-AD5F-2C030FFB138A}"/>
    <dgm:cxn modelId="{284FA8B8-FE1F-47BC-8535-872CD0BE0350}" srcId="{A7F23258-5D7B-4F4E-9040-DEA8834D073D}" destId="{F2CD820A-77CB-4706-B36E-1807E5C515F5}" srcOrd="3" destOrd="0" parTransId="{E68FC4B0-7E29-4741-BDF6-FD4147C031F0}" sibTransId="{20D1EE80-778C-402D-90E9-53FAE8816307}"/>
    <dgm:cxn modelId="{79581ADD-1890-CF43-A9B8-261400A9D772}" type="presOf" srcId="{608A10AD-A437-4D2A-BA76-FF90CFE8A6F4}" destId="{E3F7141A-8A41-9248-B45D-1BC97718211A}" srcOrd="0" destOrd="0" presId="urn:microsoft.com/office/officeart/2008/layout/LinedList"/>
    <dgm:cxn modelId="{598284E0-AA3B-49AE-AB52-EBF6C8647A81}" srcId="{A7F23258-5D7B-4F4E-9040-DEA8834D073D}" destId="{608A10AD-A437-4D2A-BA76-FF90CFE8A6F4}" srcOrd="2" destOrd="0" parTransId="{0397F7D7-A4EB-432C-93C7-7F6A21CB1F34}" sibTransId="{ECAA3E83-4837-4AE7-A6E5-BD1FD8845EFD}"/>
    <dgm:cxn modelId="{766CA9A7-BEE6-B643-99A1-BB6B87AE4B2B}" type="presParOf" srcId="{B951927F-27CA-9F41-8541-075E6841F666}" destId="{F1BA55E5-B9C1-EA49-A037-7912F3540997}" srcOrd="0" destOrd="0" presId="urn:microsoft.com/office/officeart/2008/layout/LinedList"/>
    <dgm:cxn modelId="{287C8E94-F3CB-F74E-9D85-3B871865DCF6}" type="presParOf" srcId="{B951927F-27CA-9F41-8541-075E6841F666}" destId="{D94E9196-368A-FB40-B5A4-57D969E6217D}" srcOrd="1" destOrd="0" presId="urn:microsoft.com/office/officeart/2008/layout/LinedList"/>
    <dgm:cxn modelId="{D9E8C064-FCD0-DA40-8373-E7B11BF8193C}" type="presParOf" srcId="{D94E9196-368A-FB40-B5A4-57D969E6217D}" destId="{34E7509A-22BA-E94D-8415-6D4DCDFD0654}" srcOrd="0" destOrd="0" presId="urn:microsoft.com/office/officeart/2008/layout/LinedList"/>
    <dgm:cxn modelId="{DE94745D-F837-C049-AB4B-A2CB863BDE45}" type="presParOf" srcId="{D94E9196-368A-FB40-B5A4-57D969E6217D}" destId="{B0AF512F-571E-994E-9F1B-2745F7A06E2C}" srcOrd="1" destOrd="0" presId="urn:microsoft.com/office/officeart/2008/layout/LinedList"/>
    <dgm:cxn modelId="{5CD02036-D5E5-9A41-8D5E-D9EF9F598D24}" type="presParOf" srcId="{B951927F-27CA-9F41-8541-075E6841F666}" destId="{A6BACA6F-A30A-8E4A-81A2-E9ECD24D2FF1}" srcOrd="2" destOrd="0" presId="urn:microsoft.com/office/officeart/2008/layout/LinedList"/>
    <dgm:cxn modelId="{4E333003-DB67-2A41-A3E3-7C1D6A1AAA42}" type="presParOf" srcId="{B951927F-27CA-9F41-8541-075E6841F666}" destId="{959B12BA-D79E-B943-B185-FE3A21FD3F61}" srcOrd="3" destOrd="0" presId="urn:microsoft.com/office/officeart/2008/layout/LinedList"/>
    <dgm:cxn modelId="{3FE6DC7F-1D3A-FA4C-965A-8C88A703396D}" type="presParOf" srcId="{959B12BA-D79E-B943-B185-FE3A21FD3F61}" destId="{EE8ED833-68AB-8F41-AEC6-D12A40A05920}" srcOrd="0" destOrd="0" presId="urn:microsoft.com/office/officeart/2008/layout/LinedList"/>
    <dgm:cxn modelId="{11CC1B64-C5D4-7D4B-81DB-F7088710C2C9}" type="presParOf" srcId="{959B12BA-D79E-B943-B185-FE3A21FD3F61}" destId="{69C7FD45-F76B-6744-A86D-853A0A6FDFDC}" srcOrd="1" destOrd="0" presId="urn:microsoft.com/office/officeart/2008/layout/LinedList"/>
    <dgm:cxn modelId="{941B723F-8174-A843-890D-28B367AAA550}" type="presParOf" srcId="{B951927F-27CA-9F41-8541-075E6841F666}" destId="{281777EA-DD32-4549-B995-7E173473D576}" srcOrd="4" destOrd="0" presId="urn:microsoft.com/office/officeart/2008/layout/LinedList"/>
    <dgm:cxn modelId="{DD9757F1-259C-7D4A-9F78-0CAB9A60914C}" type="presParOf" srcId="{B951927F-27CA-9F41-8541-075E6841F666}" destId="{F116D24E-3B9A-9F43-92FB-0BEA575F0E14}" srcOrd="5" destOrd="0" presId="urn:microsoft.com/office/officeart/2008/layout/LinedList"/>
    <dgm:cxn modelId="{1A199153-4C78-C347-9D2C-118C836E277E}" type="presParOf" srcId="{F116D24E-3B9A-9F43-92FB-0BEA575F0E14}" destId="{E3F7141A-8A41-9248-B45D-1BC97718211A}" srcOrd="0" destOrd="0" presId="urn:microsoft.com/office/officeart/2008/layout/LinedList"/>
    <dgm:cxn modelId="{5919511A-6A98-DD41-A3FF-775082B764F7}" type="presParOf" srcId="{F116D24E-3B9A-9F43-92FB-0BEA575F0E14}" destId="{92C2D06C-645E-3540-AC09-D43B38092B69}" srcOrd="1" destOrd="0" presId="urn:microsoft.com/office/officeart/2008/layout/LinedList"/>
    <dgm:cxn modelId="{40512F82-1038-8C4A-B89E-F4E3D0CFEF49}" type="presParOf" srcId="{B951927F-27CA-9F41-8541-075E6841F666}" destId="{27834EF2-D4EE-6143-9CFD-B91DA92BEF08}" srcOrd="6" destOrd="0" presId="urn:microsoft.com/office/officeart/2008/layout/LinedList"/>
    <dgm:cxn modelId="{96D03F1F-8868-F640-BC13-4D6A7068C8E2}" type="presParOf" srcId="{B951927F-27CA-9F41-8541-075E6841F666}" destId="{5BC45EEB-49E2-384C-ADBC-720E9D96FC7C}" srcOrd="7" destOrd="0" presId="urn:microsoft.com/office/officeart/2008/layout/LinedList"/>
    <dgm:cxn modelId="{7947F8E5-BCD0-F946-9418-F19144F66D45}" type="presParOf" srcId="{5BC45EEB-49E2-384C-ADBC-720E9D96FC7C}" destId="{8623CA71-EA6A-6045-8D36-53950D319EF8}" srcOrd="0" destOrd="0" presId="urn:microsoft.com/office/officeart/2008/layout/LinedList"/>
    <dgm:cxn modelId="{D2E07BA8-DEFE-C840-9FB8-8103396E6BAA}" type="presParOf" srcId="{5BC45EEB-49E2-384C-ADBC-720E9D96FC7C}" destId="{FC0604BD-35F7-584D-9760-6A72925DDC62}" srcOrd="1" destOrd="0" presId="urn:microsoft.com/office/officeart/2008/layout/LinedList"/>
    <dgm:cxn modelId="{D83D1FA4-13F7-C548-8A90-B44D74602FE0}" type="presParOf" srcId="{B951927F-27CA-9F41-8541-075E6841F666}" destId="{FBF81FEB-7A79-3E46-B971-DCC65B7526F7}" srcOrd="8" destOrd="0" presId="urn:microsoft.com/office/officeart/2008/layout/LinedList"/>
    <dgm:cxn modelId="{ADF512EA-CD30-1645-A1C5-3C6E03A454F2}" type="presParOf" srcId="{B951927F-27CA-9F41-8541-075E6841F666}" destId="{D3F66429-4F7E-9B4C-A5AF-85FA3547E264}" srcOrd="9" destOrd="0" presId="urn:microsoft.com/office/officeart/2008/layout/LinedList"/>
    <dgm:cxn modelId="{17482043-C76E-3C49-B178-0919A5E1CF04}" type="presParOf" srcId="{D3F66429-4F7E-9B4C-A5AF-85FA3547E264}" destId="{A190E593-8C08-684C-9D3A-CEC263D69F74}" srcOrd="0" destOrd="0" presId="urn:microsoft.com/office/officeart/2008/layout/LinedList"/>
    <dgm:cxn modelId="{2CA46D16-7D5C-5642-AFD4-596394E1802B}" type="presParOf" srcId="{D3F66429-4F7E-9B4C-A5AF-85FA3547E264}" destId="{2428ABA6-72BE-C047-9E5A-6CC665D2A133}" srcOrd="1" destOrd="0" presId="urn:microsoft.com/office/officeart/2008/layout/LinedList"/>
    <dgm:cxn modelId="{993213C2-26DF-E84F-AA1F-0678177AB6E2}" type="presParOf" srcId="{B951927F-27CA-9F41-8541-075E6841F666}" destId="{8D26FF05-31A6-2342-86C2-B0CEB78BBE0F}" srcOrd="10" destOrd="0" presId="urn:microsoft.com/office/officeart/2008/layout/LinedList"/>
    <dgm:cxn modelId="{C41D1CA9-B9DD-8A46-9DDB-B0DA60FA6014}" type="presParOf" srcId="{B951927F-27CA-9F41-8541-075E6841F666}" destId="{362B9898-C959-C14E-BC4E-420CBD3AFCA9}" srcOrd="11" destOrd="0" presId="urn:microsoft.com/office/officeart/2008/layout/LinedList"/>
    <dgm:cxn modelId="{D483F95E-3C6C-5D44-89B7-77F0E7762FF2}" type="presParOf" srcId="{362B9898-C959-C14E-BC4E-420CBD3AFCA9}" destId="{48BED5E0-5807-5246-8E00-3852A82CA762}" srcOrd="0" destOrd="0" presId="urn:microsoft.com/office/officeart/2008/layout/LinedList"/>
    <dgm:cxn modelId="{5F0A0A08-52DC-D945-B874-27E6518B5715}" type="presParOf" srcId="{362B9898-C959-C14E-BC4E-420CBD3AFCA9}" destId="{C6835FAC-56AE-0040-A288-72F18B7B120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CF8407-5C81-214F-BAE7-9581147E4070}" type="doc">
      <dgm:prSet loTypeId="urn:microsoft.com/office/officeart/2009/3/layout/OpposingIdeas" loCatId="list" qsTypeId="urn:microsoft.com/office/officeart/2005/8/quickstyle/3d4" qsCatId="3D" csTypeId="urn:microsoft.com/office/officeart/2005/8/colors/accent0_2" csCatId="mainScheme" phldr="1"/>
      <dgm:spPr/>
      <dgm:t>
        <a:bodyPr/>
        <a:lstStyle/>
        <a:p>
          <a:endParaRPr lang="it-IT"/>
        </a:p>
      </dgm:t>
    </dgm:pt>
    <dgm:pt modelId="{14E83B45-FD73-5148-96CD-C582B084D677}">
      <dgm:prSet phldrT="[Testo]"/>
      <dgm:spPr/>
      <dgm:t>
        <a:bodyPr/>
        <a:lstStyle/>
        <a:p>
          <a:r>
            <a:rPr lang="it-IT" dirty="0"/>
            <a:t>Future Work</a:t>
          </a:r>
        </a:p>
      </dgm:t>
    </dgm:pt>
    <dgm:pt modelId="{8339B974-245E-FD4B-B0C5-B279602C0488}" type="parTrans" cxnId="{8BCD51E9-7F5A-9B44-ABE4-34A674AA830B}">
      <dgm:prSet/>
      <dgm:spPr/>
      <dgm:t>
        <a:bodyPr/>
        <a:lstStyle/>
        <a:p>
          <a:endParaRPr lang="it-IT"/>
        </a:p>
      </dgm:t>
    </dgm:pt>
    <dgm:pt modelId="{133EBF6F-3A71-AC49-98FA-FF2500F0A550}" type="sibTrans" cxnId="{8BCD51E9-7F5A-9B44-ABE4-34A674AA830B}">
      <dgm:prSet/>
      <dgm:spPr/>
      <dgm:t>
        <a:bodyPr/>
        <a:lstStyle/>
        <a:p>
          <a:endParaRPr lang="it-IT"/>
        </a:p>
      </dgm:t>
    </dgm:pt>
    <dgm:pt modelId="{8E9921B8-F189-794B-8652-79BACBE2FA2B}">
      <dgm:prSet phldrT="[Testo]"/>
      <dgm:spPr/>
      <dgm:t>
        <a:bodyPr/>
        <a:lstStyle/>
        <a:p>
          <a:pPr>
            <a:buSzTx/>
            <a:buNone/>
          </a:pPr>
          <a:endParaRPr lang="it-IT" dirty="0">
            <a:latin typeface="Arial" panose="020B0604020202020204" pitchFamily="34" charset="0"/>
            <a:cs typeface="Arial" panose="020B0604020202020204" pitchFamily="34" charset="0"/>
          </a:endParaRPr>
        </a:p>
      </dgm:t>
    </dgm:pt>
    <dgm:pt modelId="{C658378B-56F8-6143-8C28-7408B10D8DDE}" type="parTrans" cxnId="{D766F596-3BE6-0042-8BC2-BD526326E69C}">
      <dgm:prSet/>
      <dgm:spPr/>
      <dgm:t>
        <a:bodyPr/>
        <a:lstStyle/>
        <a:p>
          <a:endParaRPr lang="it-IT"/>
        </a:p>
      </dgm:t>
    </dgm:pt>
    <dgm:pt modelId="{53BA7FC5-8CDA-C341-9629-6D3380C5C3D8}" type="sibTrans" cxnId="{D766F596-3BE6-0042-8BC2-BD526326E69C}">
      <dgm:prSet/>
      <dgm:spPr/>
      <dgm:t>
        <a:bodyPr/>
        <a:lstStyle/>
        <a:p>
          <a:endParaRPr lang="it-IT"/>
        </a:p>
      </dgm:t>
    </dgm:pt>
    <dgm:pt modelId="{D9469017-4145-7549-9083-F12C0C2D3B6A}">
      <dgm:prSet phldrT="[Testo]"/>
      <dgm:spPr/>
      <dgm:t>
        <a:bodyPr/>
        <a:lstStyle/>
        <a:p>
          <a:r>
            <a:rPr lang="it-IT" dirty="0" err="1"/>
            <a:t>Limitations</a:t>
          </a:r>
          <a:endParaRPr lang="it-IT" dirty="0"/>
        </a:p>
      </dgm:t>
    </dgm:pt>
    <dgm:pt modelId="{E937C1C4-B1CA-F641-B11C-1DEF42DC717F}" type="parTrans" cxnId="{67928452-5B26-F44C-B5DA-8248C20A5E88}">
      <dgm:prSet/>
      <dgm:spPr/>
      <dgm:t>
        <a:bodyPr/>
        <a:lstStyle/>
        <a:p>
          <a:endParaRPr lang="it-IT"/>
        </a:p>
      </dgm:t>
    </dgm:pt>
    <dgm:pt modelId="{F19F77AE-6F1F-C147-B50C-297F9B80D705}" type="sibTrans" cxnId="{67928452-5B26-F44C-B5DA-8248C20A5E88}">
      <dgm:prSet/>
      <dgm:spPr/>
      <dgm:t>
        <a:bodyPr/>
        <a:lstStyle/>
        <a:p>
          <a:endParaRPr lang="it-IT"/>
        </a:p>
      </dgm:t>
    </dgm:pt>
    <dgm:pt modelId="{77B5BBC6-53B1-DB43-8AA0-D3B93E88C1E8}">
      <dgm:prSet phldrT="[Testo]"/>
      <dgm:spPr/>
      <dgm:t>
        <a:bodyPr/>
        <a:lstStyle/>
        <a:p>
          <a:endParaRPr lang="it-IT" dirty="0">
            <a:latin typeface="Arial" panose="020B0604020202020204" pitchFamily="34" charset="0"/>
            <a:cs typeface="Arial" panose="020B0604020202020204" pitchFamily="34" charset="0"/>
          </a:endParaRPr>
        </a:p>
      </dgm:t>
    </dgm:pt>
    <dgm:pt modelId="{7222A36C-FA6C-1442-BD55-C1BD6C91B225}" type="parTrans" cxnId="{727B7CFB-B3D0-1E4B-A14E-3F20C86C3B27}">
      <dgm:prSet/>
      <dgm:spPr/>
      <dgm:t>
        <a:bodyPr/>
        <a:lstStyle/>
        <a:p>
          <a:endParaRPr lang="it-IT"/>
        </a:p>
      </dgm:t>
    </dgm:pt>
    <dgm:pt modelId="{F2D131D4-B742-244C-BC75-B246E9F25224}" type="sibTrans" cxnId="{727B7CFB-B3D0-1E4B-A14E-3F20C86C3B27}">
      <dgm:prSet/>
      <dgm:spPr/>
      <dgm:t>
        <a:bodyPr/>
        <a:lstStyle/>
        <a:p>
          <a:endParaRPr lang="it-IT"/>
        </a:p>
      </dgm:t>
    </dgm:pt>
    <dgm:pt modelId="{FC6195F8-0311-5C4C-A2C7-49476E866AB7}">
      <dgm:prSet/>
      <dgm:spPr/>
      <dgm:t>
        <a:bodyPr/>
        <a:lstStyle/>
        <a:p>
          <a:r>
            <a:rPr lang="it-IT" altLang="it-IT" dirty="0">
              <a:solidFill>
                <a:srgbClr val="000000"/>
              </a:solidFill>
              <a:latin typeface="Arial" panose="020B0604020202020204" pitchFamily="34" charset="0"/>
              <a:cs typeface="Arial" panose="020B0604020202020204" pitchFamily="34" charset="0"/>
            </a:rPr>
            <a:t>✔ Data </a:t>
          </a:r>
          <a:r>
            <a:rPr lang="it-IT" altLang="it-IT" dirty="0" err="1">
              <a:solidFill>
                <a:srgbClr val="000000"/>
              </a:solidFill>
              <a:latin typeface="Arial" panose="020B0604020202020204" pitchFamily="34" charset="0"/>
              <a:cs typeface="Arial" panose="020B0604020202020204" pitchFamily="34" charset="0"/>
            </a:rPr>
            <a:t>cleaning</a:t>
          </a:r>
          <a:r>
            <a:rPr lang="it-IT" altLang="it-IT" dirty="0">
              <a:solidFill>
                <a:srgbClr val="000000"/>
              </a:solidFill>
              <a:latin typeface="Arial" panose="020B0604020202020204" pitchFamily="34" charset="0"/>
              <a:cs typeface="Arial" panose="020B0604020202020204" pitchFamily="34" charset="0"/>
            </a:rPr>
            <a:t> &amp; </a:t>
          </a:r>
          <a:r>
            <a:rPr lang="it-IT" altLang="it-IT" dirty="0" err="1">
              <a:solidFill>
                <a:srgbClr val="000000"/>
              </a:solidFill>
              <a:latin typeface="Arial" panose="020B0604020202020204" pitchFamily="34" charset="0"/>
              <a:cs typeface="Arial" panose="020B0604020202020204" pitchFamily="34" charset="0"/>
            </a:rPr>
            <a:t>missing</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value</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imputation</a:t>
          </a:r>
          <a:endParaRPr lang="it-IT" altLang="it-IT" dirty="0">
            <a:latin typeface="Arial" panose="020B0604020202020204" pitchFamily="34" charset="0"/>
            <a:cs typeface="Arial" panose="020B0604020202020204" pitchFamily="34" charset="0"/>
          </a:endParaRPr>
        </a:p>
      </dgm:t>
    </dgm:pt>
    <dgm:pt modelId="{D86A81D3-E0DA-0541-AB50-2A17AA6C5952}" type="parTrans" cxnId="{62E9ACAC-98FF-A745-9F1B-5F7F4FDA2567}">
      <dgm:prSet/>
      <dgm:spPr/>
      <dgm:t>
        <a:bodyPr/>
        <a:lstStyle/>
        <a:p>
          <a:endParaRPr lang="it-IT"/>
        </a:p>
      </dgm:t>
    </dgm:pt>
    <dgm:pt modelId="{039373C2-E00D-1149-B721-64AC2CCC95BA}" type="sibTrans" cxnId="{62E9ACAC-98FF-A745-9F1B-5F7F4FDA2567}">
      <dgm:prSet/>
      <dgm:spPr/>
      <dgm:t>
        <a:bodyPr/>
        <a:lstStyle/>
        <a:p>
          <a:endParaRPr lang="it-IT"/>
        </a:p>
      </dgm:t>
    </dgm:pt>
    <dgm:pt modelId="{C2FC9337-2207-FC44-8F00-29F5BFED8F0E}">
      <dgm:prSet/>
      <dgm:spPr/>
      <dgm:t>
        <a:bodyPr/>
        <a:lstStyle/>
        <a:p>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Additional</a:t>
          </a:r>
          <a:r>
            <a:rPr lang="it-IT" altLang="it-IT" dirty="0">
              <a:solidFill>
                <a:srgbClr val="000000"/>
              </a:solidFill>
              <a:latin typeface="Arial" panose="020B0604020202020204" pitchFamily="34" charset="0"/>
              <a:cs typeface="Arial" panose="020B0604020202020204" pitchFamily="34" charset="0"/>
            </a:rPr>
            <a:t> clinical &amp; lifestyle </a:t>
          </a:r>
          <a:r>
            <a:rPr lang="it-IT" altLang="it-IT" dirty="0" err="1">
              <a:solidFill>
                <a:srgbClr val="000000"/>
              </a:solidFill>
              <a:latin typeface="Arial" panose="020B0604020202020204" pitchFamily="34" charset="0"/>
              <a:cs typeface="Arial" panose="020B0604020202020204" pitchFamily="34" charset="0"/>
            </a:rPr>
            <a:t>variables</a:t>
          </a:r>
          <a:endParaRPr lang="it-IT" altLang="it-IT" dirty="0">
            <a:latin typeface="Arial" panose="020B0604020202020204" pitchFamily="34" charset="0"/>
            <a:cs typeface="Arial" panose="020B0604020202020204" pitchFamily="34" charset="0"/>
          </a:endParaRPr>
        </a:p>
      </dgm:t>
    </dgm:pt>
    <dgm:pt modelId="{E2CE8E2C-838D-C844-9BF5-D5B296BBE8EC}" type="parTrans" cxnId="{A7A4A2FA-5C1D-604A-AC95-8411293B84E3}">
      <dgm:prSet/>
      <dgm:spPr/>
      <dgm:t>
        <a:bodyPr/>
        <a:lstStyle/>
        <a:p>
          <a:endParaRPr lang="it-IT"/>
        </a:p>
      </dgm:t>
    </dgm:pt>
    <dgm:pt modelId="{00DCF374-3562-A146-89D3-B085C4A46254}" type="sibTrans" cxnId="{A7A4A2FA-5C1D-604A-AC95-8411293B84E3}">
      <dgm:prSet/>
      <dgm:spPr/>
      <dgm:t>
        <a:bodyPr/>
        <a:lstStyle/>
        <a:p>
          <a:endParaRPr lang="it-IT"/>
        </a:p>
      </dgm:t>
    </dgm:pt>
    <dgm:pt modelId="{B08F87A9-81AA-4E4E-9791-E0EDB1ACB412}">
      <dgm:prSet/>
      <dgm:spPr/>
      <dgm:t>
        <a:bodyPr/>
        <a:lstStyle/>
        <a:p>
          <a:r>
            <a:rPr lang="it-IT" altLang="it-IT">
              <a:solidFill>
                <a:srgbClr val="000000"/>
              </a:solidFill>
              <a:latin typeface="Arial" panose="020B0604020202020204" pitchFamily="34" charset="0"/>
              <a:cs typeface="Arial" panose="020B0604020202020204" pitchFamily="34" charset="0"/>
            </a:rPr>
            <a:t>✔ Machine learning models (Random Forest, XGBoost)</a:t>
          </a:r>
          <a:endParaRPr lang="it-IT" altLang="it-IT" dirty="0">
            <a:latin typeface="Arial" panose="020B0604020202020204" pitchFamily="34" charset="0"/>
            <a:cs typeface="Arial" panose="020B0604020202020204" pitchFamily="34" charset="0"/>
          </a:endParaRPr>
        </a:p>
      </dgm:t>
    </dgm:pt>
    <dgm:pt modelId="{6D17BD5E-FCF5-984E-B670-4B41275E35B4}" type="parTrans" cxnId="{C0B520A5-7BB3-8D4B-9865-C3E99A51ABFA}">
      <dgm:prSet/>
      <dgm:spPr/>
      <dgm:t>
        <a:bodyPr/>
        <a:lstStyle/>
        <a:p>
          <a:endParaRPr lang="it-IT"/>
        </a:p>
      </dgm:t>
    </dgm:pt>
    <dgm:pt modelId="{252B1133-8912-314D-80B6-4BBF5A1C33FD}" type="sibTrans" cxnId="{C0B520A5-7BB3-8D4B-9865-C3E99A51ABFA}">
      <dgm:prSet/>
      <dgm:spPr/>
      <dgm:t>
        <a:bodyPr/>
        <a:lstStyle/>
        <a:p>
          <a:endParaRPr lang="it-IT"/>
        </a:p>
      </dgm:t>
    </dgm:pt>
    <dgm:pt modelId="{FDEE6A5E-5B33-504B-80DF-C8E362271E35}">
      <dgm:prSet/>
      <dgm:spPr/>
      <dgm:t>
        <a:bodyPr/>
        <a:lstStyle/>
        <a:p>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External</a:t>
          </a:r>
          <a:r>
            <a:rPr lang="it-IT" altLang="it-IT" dirty="0">
              <a:solidFill>
                <a:srgbClr val="000000"/>
              </a:solidFill>
              <a:latin typeface="Arial" panose="020B0604020202020204" pitchFamily="34" charset="0"/>
              <a:cs typeface="Arial" panose="020B0604020202020204" pitchFamily="34" charset="0"/>
            </a:rPr>
            <a:t> dataset </a:t>
          </a:r>
          <a:r>
            <a:rPr lang="it-IT" altLang="it-IT" dirty="0" err="1">
              <a:solidFill>
                <a:srgbClr val="000000"/>
              </a:solidFill>
              <a:latin typeface="Arial" panose="020B0604020202020204" pitchFamily="34" charset="0"/>
              <a:cs typeface="Arial" panose="020B0604020202020204" pitchFamily="34" charset="0"/>
            </a:rPr>
            <a:t>validation</a:t>
          </a:r>
          <a:endParaRPr lang="it-IT" altLang="it-IT" dirty="0">
            <a:solidFill>
              <a:srgbClr val="000000"/>
            </a:solidFill>
            <a:latin typeface="Arial" panose="020B0604020202020204" pitchFamily="34" charset="0"/>
            <a:cs typeface="Arial" panose="020B0604020202020204" pitchFamily="34" charset="0"/>
          </a:endParaRPr>
        </a:p>
      </dgm:t>
    </dgm:pt>
    <dgm:pt modelId="{FC64EEE2-D44C-CD4D-B372-4405FBFE0E6B}" type="parTrans" cxnId="{C01FCBD3-4373-6D49-B517-8BB059E3128F}">
      <dgm:prSet/>
      <dgm:spPr/>
      <dgm:t>
        <a:bodyPr/>
        <a:lstStyle/>
        <a:p>
          <a:endParaRPr lang="it-IT"/>
        </a:p>
      </dgm:t>
    </dgm:pt>
    <dgm:pt modelId="{ABC40C5F-7E4D-BF4A-9006-C2FE03B68CD8}" type="sibTrans" cxnId="{C01FCBD3-4373-6D49-B517-8BB059E3128F}">
      <dgm:prSet/>
      <dgm:spPr/>
      <dgm:t>
        <a:bodyPr/>
        <a:lstStyle/>
        <a:p>
          <a:endParaRPr lang="it-IT"/>
        </a:p>
      </dgm:t>
    </dgm:pt>
    <dgm:pt modelId="{41145614-AE84-F64D-A6B7-A9053AEE3707}">
      <dgm:prSet/>
      <dgm:spPr/>
      <dgm:t>
        <a:bodyPr/>
        <a:lstStyle/>
        <a:p>
          <a:r>
            <a:rPr lang="it-IT" altLang="it-IT" dirty="0">
              <a:solidFill>
                <a:srgbClr val="000000"/>
              </a:solidFill>
              <a:latin typeface="Arial" panose="020B0604020202020204" pitchFamily="34" charset="0"/>
              <a:cs typeface="Arial" panose="020B0604020202020204" pitchFamily="34" charset="0"/>
            </a:rPr>
            <a:t>❌ Zero </a:t>
          </a:r>
          <a:r>
            <a:rPr lang="it-IT" altLang="it-IT" dirty="0" err="1">
              <a:solidFill>
                <a:srgbClr val="000000"/>
              </a:solidFill>
              <a:latin typeface="Arial" panose="020B0604020202020204" pitchFamily="34" charset="0"/>
              <a:cs typeface="Arial" panose="020B0604020202020204" pitchFamily="34" charset="0"/>
            </a:rPr>
            <a:t>values</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treated</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as</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real</a:t>
          </a:r>
          <a:r>
            <a:rPr lang="it-IT" altLang="it-IT" dirty="0">
              <a:solidFill>
                <a:srgbClr val="000000"/>
              </a:solidFill>
              <a:latin typeface="Arial" panose="020B0604020202020204" pitchFamily="34" charset="0"/>
              <a:cs typeface="Arial" panose="020B0604020202020204" pitchFamily="34" charset="0"/>
            </a:rPr>
            <a:t> </a:t>
          </a:r>
          <a:r>
            <a:rPr lang="it-IT" altLang="it-IT" dirty="0" err="1">
              <a:solidFill>
                <a:srgbClr val="000000"/>
              </a:solidFill>
              <a:latin typeface="Arial" panose="020B0604020202020204" pitchFamily="34" charset="0"/>
              <a:cs typeface="Arial" panose="020B0604020202020204" pitchFamily="34" charset="0"/>
            </a:rPr>
            <a:t>observations</a:t>
          </a:r>
          <a:endParaRPr lang="it-IT" altLang="it-IT" dirty="0">
            <a:latin typeface="Arial" panose="020B0604020202020204" pitchFamily="34" charset="0"/>
            <a:cs typeface="Arial" panose="020B0604020202020204" pitchFamily="34" charset="0"/>
          </a:endParaRPr>
        </a:p>
      </dgm:t>
    </dgm:pt>
    <dgm:pt modelId="{9411A21B-7715-FC42-84BB-BDB2DA8537E9}" type="parTrans" cxnId="{C408A8CD-2207-5746-8714-0DB190490235}">
      <dgm:prSet/>
      <dgm:spPr/>
      <dgm:t>
        <a:bodyPr/>
        <a:lstStyle/>
        <a:p>
          <a:endParaRPr lang="it-IT"/>
        </a:p>
      </dgm:t>
    </dgm:pt>
    <dgm:pt modelId="{FE52AD3E-ED08-324C-869D-C43848C5DB3A}" type="sibTrans" cxnId="{C408A8CD-2207-5746-8714-0DB190490235}">
      <dgm:prSet/>
      <dgm:spPr/>
      <dgm:t>
        <a:bodyPr/>
        <a:lstStyle/>
        <a:p>
          <a:endParaRPr lang="it-IT"/>
        </a:p>
      </dgm:t>
    </dgm:pt>
    <dgm:pt modelId="{F0B3EDCE-484C-8047-8063-C8ECF6FAF192}">
      <dgm:prSet/>
      <dgm:spPr/>
      <dgm:t>
        <a:bodyPr/>
        <a:lstStyle/>
        <a:p>
          <a:r>
            <a:rPr lang="it-IT" altLang="it-IT">
              <a:solidFill>
                <a:srgbClr val="000000"/>
              </a:solidFill>
              <a:latin typeface="Arial" panose="020B0604020202020204" pitchFamily="34" charset="0"/>
              <a:cs typeface="Arial" panose="020B0604020202020204" pitchFamily="34" charset="0"/>
            </a:rPr>
            <a:t>❌ Cross-sectional dataset</a:t>
          </a:r>
          <a:endParaRPr lang="it-IT" altLang="it-IT" dirty="0">
            <a:latin typeface="Arial" panose="020B0604020202020204" pitchFamily="34" charset="0"/>
            <a:cs typeface="Arial" panose="020B0604020202020204" pitchFamily="34" charset="0"/>
          </a:endParaRPr>
        </a:p>
      </dgm:t>
    </dgm:pt>
    <dgm:pt modelId="{596A2427-B967-4F41-A48A-CEE52F822683}" type="parTrans" cxnId="{B950798E-18F9-6E4A-9383-9D01CBF026FF}">
      <dgm:prSet/>
      <dgm:spPr/>
      <dgm:t>
        <a:bodyPr/>
        <a:lstStyle/>
        <a:p>
          <a:endParaRPr lang="it-IT"/>
        </a:p>
      </dgm:t>
    </dgm:pt>
    <dgm:pt modelId="{AF5F3A53-A20F-A745-A7B2-779BEA94C323}" type="sibTrans" cxnId="{B950798E-18F9-6E4A-9383-9D01CBF026FF}">
      <dgm:prSet/>
      <dgm:spPr/>
      <dgm:t>
        <a:bodyPr/>
        <a:lstStyle/>
        <a:p>
          <a:endParaRPr lang="it-IT"/>
        </a:p>
      </dgm:t>
    </dgm:pt>
    <dgm:pt modelId="{D6BEE495-85E6-024D-8B1D-D7EB159EBDD0}">
      <dgm:prSet/>
      <dgm:spPr/>
      <dgm:t>
        <a:bodyPr/>
        <a:lstStyle/>
        <a:p>
          <a:r>
            <a:rPr lang="it-IT" altLang="it-IT">
              <a:solidFill>
                <a:srgbClr val="000000"/>
              </a:solidFill>
              <a:latin typeface="Arial" panose="020B0604020202020204" pitchFamily="34" charset="0"/>
              <a:cs typeface="Arial" panose="020B0604020202020204" pitchFamily="34" charset="0"/>
            </a:rPr>
            <a:t>❌ Limited predictor variables</a:t>
          </a:r>
          <a:endParaRPr lang="it-IT" altLang="it-IT" dirty="0">
            <a:latin typeface="Arial" panose="020B0604020202020204" pitchFamily="34" charset="0"/>
            <a:cs typeface="Arial" panose="020B0604020202020204" pitchFamily="34" charset="0"/>
          </a:endParaRPr>
        </a:p>
      </dgm:t>
    </dgm:pt>
    <dgm:pt modelId="{812EC01B-9A37-5F41-B73B-F2A310822645}" type="parTrans" cxnId="{723717C5-B3AA-4E41-8F59-8B6473A12FCD}">
      <dgm:prSet/>
      <dgm:spPr/>
      <dgm:t>
        <a:bodyPr/>
        <a:lstStyle/>
        <a:p>
          <a:endParaRPr lang="it-IT"/>
        </a:p>
      </dgm:t>
    </dgm:pt>
    <dgm:pt modelId="{835458AC-ACCB-9A45-AD82-8C936B70EEFD}" type="sibTrans" cxnId="{723717C5-B3AA-4E41-8F59-8B6473A12FCD}">
      <dgm:prSet/>
      <dgm:spPr/>
      <dgm:t>
        <a:bodyPr/>
        <a:lstStyle/>
        <a:p>
          <a:endParaRPr lang="it-IT"/>
        </a:p>
      </dgm:t>
    </dgm:pt>
    <dgm:pt modelId="{2E61761C-CF81-2B4E-A569-273DE5910AF3}">
      <dgm:prSet/>
      <dgm:spPr/>
      <dgm:t>
        <a:bodyPr/>
        <a:lstStyle/>
        <a:p>
          <a:r>
            <a:rPr lang="it-IT" altLang="it-IT" dirty="0">
              <a:solidFill>
                <a:srgbClr val="000000"/>
              </a:solidFill>
              <a:latin typeface="Arial" panose="020B0604020202020204" pitchFamily="34" charset="0"/>
              <a:cs typeface="Arial" panose="020B0604020202020204" pitchFamily="34" charset="0"/>
            </a:rPr>
            <a:t>❌ Moderate model performance (R² = 23%)</a:t>
          </a:r>
          <a:endParaRPr lang="it-IT" altLang="it-IT" dirty="0">
            <a:latin typeface="Arial" panose="020B0604020202020204" pitchFamily="34" charset="0"/>
            <a:cs typeface="Arial" panose="020B0604020202020204" pitchFamily="34" charset="0"/>
          </a:endParaRPr>
        </a:p>
      </dgm:t>
    </dgm:pt>
    <dgm:pt modelId="{4C899F7E-6E3F-8D4A-8AB3-DFF3317C26A0}" type="parTrans" cxnId="{F3123DCC-2557-E148-9C68-47694DA0FF27}">
      <dgm:prSet/>
      <dgm:spPr/>
      <dgm:t>
        <a:bodyPr/>
        <a:lstStyle/>
        <a:p>
          <a:endParaRPr lang="it-IT"/>
        </a:p>
      </dgm:t>
    </dgm:pt>
    <dgm:pt modelId="{D9BAF432-96F3-9746-9096-403B0AD411E2}" type="sibTrans" cxnId="{F3123DCC-2557-E148-9C68-47694DA0FF27}">
      <dgm:prSet/>
      <dgm:spPr/>
      <dgm:t>
        <a:bodyPr/>
        <a:lstStyle/>
        <a:p>
          <a:endParaRPr lang="it-IT"/>
        </a:p>
      </dgm:t>
    </dgm:pt>
    <dgm:pt modelId="{DA9A35DE-3389-C14F-B603-8525DCAA2392}" type="pres">
      <dgm:prSet presAssocID="{21CF8407-5C81-214F-BAE7-9581147E4070}" presName="Name0" presStyleCnt="0">
        <dgm:presLayoutVars>
          <dgm:chMax val="2"/>
          <dgm:dir/>
          <dgm:animOne val="branch"/>
          <dgm:animLvl val="lvl"/>
          <dgm:resizeHandles val="exact"/>
        </dgm:presLayoutVars>
      </dgm:prSet>
      <dgm:spPr/>
    </dgm:pt>
    <dgm:pt modelId="{21223493-2A19-304E-AE1B-8DFB8317D28D}" type="pres">
      <dgm:prSet presAssocID="{21CF8407-5C81-214F-BAE7-9581147E4070}" presName="Background" presStyleLbl="node1" presStyleIdx="0" presStyleCnt="1" custLinFactNeighborX="-7036" custLinFactNeighborY="-12336"/>
      <dgm:spPr/>
    </dgm:pt>
    <dgm:pt modelId="{54FC53C8-5C62-BA4A-BE65-3333575CD404}" type="pres">
      <dgm:prSet presAssocID="{21CF8407-5C81-214F-BAE7-9581147E4070}" presName="Divider" presStyleLbl="callout" presStyleIdx="0" presStyleCnt="1"/>
      <dgm:spPr/>
    </dgm:pt>
    <dgm:pt modelId="{3D75778B-4437-144F-A41B-E1F8DFF83AD4}" type="pres">
      <dgm:prSet presAssocID="{21CF8407-5C81-214F-BAE7-9581147E4070}" presName="ChildText1" presStyleLbl="revTx" presStyleIdx="0" presStyleCnt="0" custLinFactNeighborX="-147" custLinFactNeighborY="-12529">
        <dgm:presLayoutVars>
          <dgm:chMax val="0"/>
          <dgm:chPref val="0"/>
          <dgm:bulletEnabled val="1"/>
        </dgm:presLayoutVars>
      </dgm:prSet>
      <dgm:spPr/>
    </dgm:pt>
    <dgm:pt modelId="{2C1FDDBB-DDDF-2F40-ACC3-39EA782029B0}" type="pres">
      <dgm:prSet presAssocID="{21CF8407-5C81-214F-BAE7-9581147E4070}" presName="ChildText2" presStyleLbl="revTx" presStyleIdx="0" presStyleCnt="0" custLinFactNeighborX="241" custLinFactNeighborY="-16311">
        <dgm:presLayoutVars>
          <dgm:chMax val="0"/>
          <dgm:chPref val="0"/>
          <dgm:bulletEnabled val="1"/>
        </dgm:presLayoutVars>
      </dgm:prSet>
      <dgm:spPr/>
    </dgm:pt>
    <dgm:pt modelId="{497ADDC0-5185-3A47-97F5-9952A58E111D}" type="pres">
      <dgm:prSet presAssocID="{21CF8407-5C81-214F-BAE7-9581147E4070}" presName="ParentText1" presStyleLbl="revTx" presStyleIdx="0" presStyleCnt="0">
        <dgm:presLayoutVars>
          <dgm:chMax val="1"/>
          <dgm:chPref val="1"/>
        </dgm:presLayoutVars>
      </dgm:prSet>
      <dgm:spPr/>
    </dgm:pt>
    <dgm:pt modelId="{2D60F5DF-1C56-414F-A35F-51482EAF91E6}" type="pres">
      <dgm:prSet presAssocID="{21CF8407-5C81-214F-BAE7-9581147E4070}" presName="ParentShape1" presStyleLbl="alignImgPlace1" presStyleIdx="0" presStyleCnt="2">
        <dgm:presLayoutVars/>
      </dgm:prSet>
      <dgm:spPr/>
    </dgm:pt>
    <dgm:pt modelId="{6950C6DC-08DC-4A4B-85A9-7A13B271BF51}" type="pres">
      <dgm:prSet presAssocID="{21CF8407-5C81-214F-BAE7-9581147E4070}" presName="ParentText2" presStyleLbl="revTx" presStyleIdx="0" presStyleCnt="0">
        <dgm:presLayoutVars>
          <dgm:chMax val="1"/>
          <dgm:chPref val="1"/>
        </dgm:presLayoutVars>
      </dgm:prSet>
      <dgm:spPr/>
    </dgm:pt>
    <dgm:pt modelId="{A5D0452E-3488-4043-A684-D8F296091C0A}" type="pres">
      <dgm:prSet presAssocID="{21CF8407-5C81-214F-BAE7-9581147E4070}" presName="ParentShape2" presStyleLbl="alignImgPlace1" presStyleIdx="1" presStyleCnt="2" custLinFactNeighborX="-69372" custLinFactNeighborY="-12394">
        <dgm:presLayoutVars/>
      </dgm:prSet>
      <dgm:spPr/>
    </dgm:pt>
  </dgm:ptLst>
  <dgm:cxnLst>
    <dgm:cxn modelId="{D97BB300-4405-BC44-A2B7-CDE73C97D89C}" type="presOf" srcId="{FDEE6A5E-5B33-504B-80DF-C8E362271E35}" destId="{3D75778B-4437-144F-A41B-E1F8DFF83AD4}" srcOrd="0" destOrd="4" presId="urn:microsoft.com/office/officeart/2009/3/layout/OpposingIdeas"/>
    <dgm:cxn modelId="{0765B532-19AB-F54B-AECC-04CAD2182541}" type="presOf" srcId="{F0B3EDCE-484C-8047-8063-C8ECF6FAF192}" destId="{2C1FDDBB-DDDF-2F40-ACC3-39EA782029B0}" srcOrd="0" destOrd="2" presId="urn:microsoft.com/office/officeart/2009/3/layout/OpposingIdeas"/>
    <dgm:cxn modelId="{0B281238-2D8D-6A40-AC44-F75548FDE04B}" type="presOf" srcId="{77B5BBC6-53B1-DB43-8AA0-D3B93E88C1E8}" destId="{2C1FDDBB-DDDF-2F40-ACC3-39EA782029B0}" srcOrd="0" destOrd="0" presId="urn:microsoft.com/office/officeart/2009/3/layout/OpposingIdeas"/>
    <dgm:cxn modelId="{67928452-5B26-F44C-B5DA-8248C20A5E88}" srcId="{21CF8407-5C81-214F-BAE7-9581147E4070}" destId="{D9469017-4145-7549-9083-F12C0C2D3B6A}" srcOrd="1" destOrd="0" parTransId="{E937C1C4-B1CA-F641-B11C-1DEF42DC717F}" sibTransId="{F19F77AE-6F1F-C147-B50C-297F9B80D705}"/>
    <dgm:cxn modelId="{06CCFB8C-0995-B241-9755-B86754DA2AFA}" type="presOf" srcId="{D9469017-4145-7549-9083-F12C0C2D3B6A}" destId="{6950C6DC-08DC-4A4B-85A9-7A13B271BF51}" srcOrd="0" destOrd="0" presId="urn:microsoft.com/office/officeart/2009/3/layout/OpposingIdeas"/>
    <dgm:cxn modelId="{D7FE388E-4903-784F-B334-96C1A5E919B3}" type="presOf" srcId="{2E61761C-CF81-2B4E-A569-273DE5910AF3}" destId="{2C1FDDBB-DDDF-2F40-ACC3-39EA782029B0}" srcOrd="0" destOrd="4" presId="urn:microsoft.com/office/officeart/2009/3/layout/OpposingIdeas"/>
    <dgm:cxn modelId="{B950798E-18F9-6E4A-9383-9D01CBF026FF}" srcId="{D9469017-4145-7549-9083-F12C0C2D3B6A}" destId="{F0B3EDCE-484C-8047-8063-C8ECF6FAF192}" srcOrd="2" destOrd="0" parTransId="{596A2427-B967-4F41-A48A-CEE52F822683}" sibTransId="{AF5F3A53-A20F-A745-A7B2-779BEA94C323}"/>
    <dgm:cxn modelId="{4D0C9C90-1C94-F645-B3E5-4F0A2B484F99}" type="presOf" srcId="{C2FC9337-2207-FC44-8F00-29F5BFED8F0E}" destId="{3D75778B-4437-144F-A41B-E1F8DFF83AD4}" srcOrd="0" destOrd="2" presId="urn:microsoft.com/office/officeart/2009/3/layout/OpposingIdeas"/>
    <dgm:cxn modelId="{D766F596-3BE6-0042-8BC2-BD526326E69C}" srcId="{14E83B45-FD73-5148-96CD-C582B084D677}" destId="{8E9921B8-F189-794B-8652-79BACBE2FA2B}" srcOrd="0" destOrd="0" parTransId="{C658378B-56F8-6143-8C28-7408B10D8DDE}" sibTransId="{53BA7FC5-8CDA-C341-9629-6D3380C5C3D8}"/>
    <dgm:cxn modelId="{040579A3-C48B-9C4C-926A-D9BD82F85372}" type="presOf" srcId="{B08F87A9-81AA-4E4E-9791-E0EDB1ACB412}" destId="{3D75778B-4437-144F-A41B-E1F8DFF83AD4}" srcOrd="0" destOrd="3" presId="urn:microsoft.com/office/officeart/2009/3/layout/OpposingIdeas"/>
    <dgm:cxn modelId="{C0B520A5-7BB3-8D4B-9865-C3E99A51ABFA}" srcId="{14E83B45-FD73-5148-96CD-C582B084D677}" destId="{B08F87A9-81AA-4E4E-9791-E0EDB1ACB412}" srcOrd="3" destOrd="0" parTransId="{6D17BD5E-FCF5-984E-B670-4B41275E35B4}" sibTransId="{252B1133-8912-314D-80B6-4BBF5A1C33FD}"/>
    <dgm:cxn modelId="{62E9ACAC-98FF-A745-9F1B-5F7F4FDA2567}" srcId="{14E83B45-FD73-5148-96CD-C582B084D677}" destId="{FC6195F8-0311-5C4C-A2C7-49476E866AB7}" srcOrd="1" destOrd="0" parTransId="{D86A81D3-E0DA-0541-AB50-2A17AA6C5952}" sibTransId="{039373C2-E00D-1149-B721-64AC2CCC95BA}"/>
    <dgm:cxn modelId="{5AA211B5-B109-5041-9FD3-22E60601566B}" type="presOf" srcId="{21CF8407-5C81-214F-BAE7-9581147E4070}" destId="{DA9A35DE-3389-C14F-B603-8525DCAA2392}" srcOrd="0" destOrd="0" presId="urn:microsoft.com/office/officeart/2009/3/layout/OpposingIdeas"/>
    <dgm:cxn modelId="{723717C5-B3AA-4E41-8F59-8B6473A12FCD}" srcId="{D9469017-4145-7549-9083-F12C0C2D3B6A}" destId="{D6BEE495-85E6-024D-8B1D-D7EB159EBDD0}" srcOrd="3" destOrd="0" parTransId="{812EC01B-9A37-5F41-B73B-F2A310822645}" sibTransId="{835458AC-ACCB-9A45-AD82-8C936B70EEFD}"/>
    <dgm:cxn modelId="{9D82A1C5-D4A8-014B-8881-3659EA37CAC2}" type="presOf" srcId="{D6BEE495-85E6-024D-8B1D-D7EB159EBDD0}" destId="{2C1FDDBB-DDDF-2F40-ACC3-39EA782029B0}" srcOrd="0" destOrd="3" presId="urn:microsoft.com/office/officeart/2009/3/layout/OpposingIdeas"/>
    <dgm:cxn modelId="{F3123DCC-2557-E148-9C68-47694DA0FF27}" srcId="{D9469017-4145-7549-9083-F12C0C2D3B6A}" destId="{2E61761C-CF81-2B4E-A569-273DE5910AF3}" srcOrd="4" destOrd="0" parTransId="{4C899F7E-6E3F-8D4A-8AB3-DFF3317C26A0}" sibTransId="{D9BAF432-96F3-9746-9096-403B0AD411E2}"/>
    <dgm:cxn modelId="{C408A8CD-2207-5746-8714-0DB190490235}" srcId="{D9469017-4145-7549-9083-F12C0C2D3B6A}" destId="{41145614-AE84-F64D-A6B7-A9053AEE3707}" srcOrd="1" destOrd="0" parTransId="{9411A21B-7715-FC42-84BB-BDB2DA8537E9}" sibTransId="{FE52AD3E-ED08-324C-869D-C43848C5DB3A}"/>
    <dgm:cxn modelId="{67A23FD0-F4BF-5C4B-8D7A-F329A3292D71}" type="presOf" srcId="{D9469017-4145-7549-9083-F12C0C2D3B6A}" destId="{A5D0452E-3488-4043-A684-D8F296091C0A}" srcOrd="1" destOrd="0" presId="urn:microsoft.com/office/officeart/2009/3/layout/OpposingIdeas"/>
    <dgm:cxn modelId="{C01FCBD3-4373-6D49-B517-8BB059E3128F}" srcId="{14E83B45-FD73-5148-96CD-C582B084D677}" destId="{FDEE6A5E-5B33-504B-80DF-C8E362271E35}" srcOrd="4" destOrd="0" parTransId="{FC64EEE2-D44C-CD4D-B372-4405FBFE0E6B}" sibTransId="{ABC40C5F-7E4D-BF4A-9006-C2FE03B68CD8}"/>
    <dgm:cxn modelId="{150D0CD7-5DB6-4540-81CA-919C027B0B39}" type="presOf" srcId="{8E9921B8-F189-794B-8652-79BACBE2FA2B}" destId="{3D75778B-4437-144F-A41B-E1F8DFF83AD4}" srcOrd="0" destOrd="0" presId="urn:microsoft.com/office/officeart/2009/3/layout/OpposingIdeas"/>
    <dgm:cxn modelId="{A87DA7DA-E58D-A342-80D5-FFB2D23AC219}" type="presOf" srcId="{41145614-AE84-F64D-A6B7-A9053AEE3707}" destId="{2C1FDDBB-DDDF-2F40-ACC3-39EA782029B0}" srcOrd="0" destOrd="1" presId="urn:microsoft.com/office/officeart/2009/3/layout/OpposingIdeas"/>
    <dgm:cxn modelId="{1B841BDE-188C-404E-81B2-1406CBE5EADD}" type="presOf" srcId="{14E83B45-FD73-5148-96CD-C582B084D677}" destId="{2D60F5DF-1C56-414F-A35F-51482EAF91E6}" srcOrd="1" destOrd="0" presId="urn:microsoft.com/office/officeart/2009/3/layout/OpposingIdeas"/>
    <dgm:cxn modelId="{3190C6E1-85AB-2E42-894E-06A050CD9C4D}" type="presOf" srcId="{14E83B45-FD73-5148-96CD-C582B084D677}" destId="{497ADDC0-5185-3A47-97F5-9952A58E111D}" srcOrd="0" destOrd="0" presId="urn:microsoft.com/office/officeart/2009/3/layout/OpposingIdeas"/>
    <dgm:cxn modelId="{372360E2-8108-4C42-84B8-D894DD94B78E}" type="presOf" srcId="{FC6195F8-0311-5C4C-A2C7-49476E866AB7}" destId="{3D75778B-4437-144F-A41B-E1F8DFF83AD4}" srcOrd="0" destOrd="1" presId="urn:microsoft.com/office/officeart/2009/3/layout/OpposingIdeas"/>
    <dgm:cxn modelId="{8BCD51E9-7F5A-9B44-ABE4-34A674AA830B}" srcId="{21CF8407-5C81-214F-BAE7-9581147E4070}" destId="{14E83B45-FD73-5148-96CD-C582B084D677}" srcOrd="0" destOrd="0" parTransId="{8339B974-245E-FD4B-B0C5-B279602C0488}" sibTransId="{133EBF6F-3A71-AC49-98FA-FF2500F0A550}"/>
    <dgm:cxn modelId="{A7A4A2FA-5C1D-604A-AC95-8411293B84E3}" srcId="{14E83B45-FD73-5148-96CD-C582B084D677}" destId="{C2FC9337-2207-FC44-8F00-29F5BFED8F0E}" srcOrd="2" destOrd="0" parTransId="{E2CE8E2C-838D-C844-9BF5-D5B296BBE8EC}" sibTransId="{00DCF374-3562-A146-89D3-B085C4A46254}"/>
    <dgm:cxn modelId="{727B7CFB-B3D0-1E4B-A14E-3F20C86C3B27}" srcId="{D9469017-4145-7549-9083-F12C0C2D3B6A}" destId="{77B5BBC6-53B1-DB43-8AA0-D3B93E88C1E8}" srcOrd="0" destOrd="0" parTransId="{7222A36C-FA6C-1442-BD55-C1BD6C91B225}" sibTransId="{F2D131D4-B742-244C-BC75-B246E9F25224}"/>
    <dgm:cxn modelId="{DB11D9BD-C9A8-154E-8A1A-7D7F3CB0D165}" type="presParOf" srcId="{DA9A35DE-3389-C14F-B603-8525DCAA2392}" destId="{21223493-2A19-304E-AE1B-8DFB8317D28D}" srcOrd="0" destOrd="0" presId="urn:microsoft.com/office/officeart/2009/3/layout/OpposingIdeas"/>
    <dgm:cxn modelId="{56444712-886A-5F4E-BE01-69A6D9767A1A}" type="presParOf" srcId="{DA9A35DE-3389-C14F-B603-8525DCAA2392}" destId="{54FC53C8-5C62-BA4A-BE65-3333575CD404}" srcOrd="1" destOrd="0" presId="urn:microsoft.com/office/officeart/2009/3/layout/OpposingIdeas"/>
    <dgm:cxn modelId="{337AF79F-4291-3343-B40E-A397BD9E493E}" type="presParOf" srcId="{DA9A35DE-3389-C14F-B603-8525DCAA2392}" destId="{3D75778B-4437-144F-A41B-E1F8DFF83AD4}" srcOrd="2" destOrd="0" presId="urn:microsoft.com/office/officeart/2009/3/layout/OpposingIdeas"/>
    <dgm:cxn modelId="{BCCFF09F-5C4A-A245-97B0-E4964D870267}" type="presParOf" srcId="{DA9A35DE-3389-C14F-B603-8525DCAA2392}" destId="{2C1FDDBB-DDDF-2F40-ACC3-39EA782029B0}" srcOrd="3" destOrd="0" presId="urn:microsoft.com/office/officeart/2009/3/layout/OpposingIdeas"/>
    <dgm:cxn modelId="{D3776CD9-69A6-4644-A777-F0ABDF0728C0}" type="presParOf" srcId="{DA9A35DE-3389-C14F-B603-8525DCAA2392}" destId="{497ADDC0-5185-3A47-97F5-9952A58E111D}" srcOrd="4" destOrd="0" presId="urn:microsoft.com/office/officeart/2009/3/layout/OpposingIdeas"/>
    <dgm:cxn modelId="{42CE1797-41EE-6049-9923-7FC1FE6EF803}" type="presParOf" srcId="{DA9A35DE-3389-C14F-B603-8525DCAA2392}" destId="{2D60F5DF-1C56-414F-A35F-51482EAF91E6}" srcOrd="5" destOrd="0" presId="urn:microsoft.com/office/officeart/2009/3/layout/OpposingIdeas"/>
    <dgm:cxn modelId="{2A212AE1-5B75-9D4B-8FCA-680435E72935}" type="presParOf" srcId="{DA9A35DE-3389-C14F-B603-8525DCAA2392}" destId="{6950C6DC-08DC-4A4B-85A9-7A13B271BF51}" srcOrd="6" destOrd="0" presId="urn:microsoft.com/office/officeart/2009/3/layout/OpposingIdeas"/>
    <dgm:cxn modelId="{F44B3B7A-88B2-0045-AABE-75A9D0C1875E}" type="presParOf" srcId="{DA9A35DE-3389-C14F-B603-8525DCAA2392}" destId="{A5D0452E-3488-4043-A684-D8F296091C0A}" srcOrd="7" destOrd="0" presId="urn:microsoft.com/office/officeart/2009/3/layout/OpposingIdea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989885-5A20-46E1-BA79-DDF746FBCECF}" type="doc">
      <dgm:prSet loTypeId="urn:microsoft.com/office/officeart/2005/8/layout/vList2" loCatId="list" qsTypeId="urn:microsoft.com/office/officeart/2005/8/quickstyle/3d3" qsCatId="3D" csTypeId="urn:microsoft.com/office/officeart/2005/8/colors/accent6_1" csCatId="accent6" phldr="1"/>
      <dgm:spPr/>
      <dgm:t>
        <a:bodyPr/>
        <a:lstStyle/>
        <a:p>
          <a:endParaRPr lang="en-US"/>
        </a:p>
      </dgm:t>
    </dgm:pt>
    <dgm:pt modelId="{0BEDD6E4-CE99-4344-998F-22A64A64B0B9}">
      <dgm:prSet/>
      <dgm:spPr/>
      <dgm:t>
        <a:bodyPr/>
        <a:lstStyle/>
        <a:p>
          <a:r>
            <a:rPr lang="it-IT" b="0" i="0" baseline="0" dirty="0">
              <a:latin typeface="Arial" panose="020B0604020202020204" pitchFamily="34" charset="0"/>
              <a:cs typeface="Arial" panose="020B0604020202020204" pitchFamily="34" charset="0"/>
            </a:rPr>
            <a:t> </a:t>
          </a:r>
          <a:r>
            <a:rPr lang="it-IT" b="1" i="0" baseline="0" dirty="0">
              <a:latin typeface="Arial" panose="020B0604020202020204" pitchFamily="34" charset="0"/>
              <a:cs typeface="Arial" panose="020B0604020202020204" pitchFamily="34" charset="0"/>
            </a:rPr>
            <a:t>768 </a:t>
          </a:r>
          <a:r>
            <a:rPr lang="it-IT" b="1" i="0" baseline="0" dirty="0" err="1">
              <a:latin typeface="Arial" panose="020B0604020202020204" pitchFamily="34" charset="0"/>
              <a:cs typeface="Arial" panose="020B0604020202020204" pitchFamily="34" charset="0"/>
            </a:rPr>
            <a:t>participants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were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analysed</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A2BB16DC-5A63-46D8-BA8F-CA4378519ED5}" type="parTrans" cxnId="{80DAC10C-E2C1-4739-B6A7-E88364CBBEDD}">
      <dgm:prSet/>
      <dgm:spPr/>
      <dgm:t>
        <a:bodyPr/>
        <a:lstStyle/>
        <a:p>
          <a:endParaRPr lang="en-US"/>
        </a:p>
      </dgm:t>
    </dgm:pt>
    <dgm:pt modelId="{3B364905-5CDD-4555-988F-37E54A644351}" type="sibTrans" cxnId="{80DAC10C-E2C1-4739-B6A7-E88364CBBEDD}">
      <dgm:prSet/>
      <dgm:spPr/>
      <dgm:t>
        <a:bodyPr/>
        <a:lstStyle/>
        <a:p>
          <a:endParaRPr lang="en-US"/>
        </a:p>
      </dgm:t>
    </dgm:pt>
    <dgm:pt modelId="{B4CA3017-3974-42CD-99A3-1A717E361643}">
      <dgm:prSet/>
      <dgm:spPr/>
      <dgm:t>
        <a:bodyPr/>
        <a:lstStyle/>
        <a:p>
          <a:r>
            <a:rPr lang="it-IT" b="0" i="0" baseline="0" dirty="0">
              <a:latin typeface="Arial" panose="020B0604020202020204" pitchFamily="34" charset="0"/>
              <a:cs typeface="Arial" panose="020B0604020202020204" pitchFamily="34" charset="0"/>
            </a:rPr>
            <a:t> </a:t>
          </a:r>
          <a:r>
            <a:rPr lang="it-IT" b="1" i="0" baseline="0" dirty="0">
              <a:latin typeface="Arial" panose="020B0604020202020204" pitchFamily="34" charset="0"/>
              <a:cs typeface="Arial" panose="020B0604020202020204" pitchFamily="34" charset="0"/>
            </a:rPr>
            <a:t>34.9%</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were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diagnosed</a:t>
          </a:r>
          <a:r>
            <a:rPr lang="it-IT" b="0" i="0" baseline="0" dirty="0">
              <a:latin typeface="Arial" panose="020B0604020202020204" pitchFamily="34" charset="0"/>
              <a:cs typeface="Arial" panose="020B0604020202020204" pitchFamily="34" charset="0"/>
            </a:rPr>
            <a:t> with </a:t>
          </a:r>
          <a:r>
            <a:rPr lang="it-IT" b="0" i="0" baseline="0" dirty="0" err="1">
              <a:latin typeface="Arial" panose="020B0604020202020204" pitchFamily="34" charset="0"/>
              <a:cs typeface="Arial" panose="020B0604020202020204" pitchFamily="34" charset="0"/>
            </a:rPr>
            <a:t>diabetes</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68D86FC2-D482-4355-8F30-FB54123F3057}" type="parTrans" cxnId="{DB5B528C-CDF1-4C2C-B749-D36EE0697501}">
      <dgm:prSet/>
      <dgm:spPr/>
      <dgm:t>
        <a:bodyPr/>
        <a:lstStyle/>
        <a:p>
          <a:endParaRPr lang="en-US"/>
        </a:p>
      </dgm:t>
    </dgm:pt>
    <dgm:pt modelId="{C5E1E5FD-687A-48A2-BC21-5FB1A2F6C1F6}" type="sibTrans" cxnId="{DB5B528C-CDF1-4C2C-B749-D36EE0697501}">
      <dgm:prSet/>
      <dgm:spPr/>
      <dgm:t>
        <a:bodyPr/>
        <a:lstStyle/>
        <a:p>
          <a:endParaRPr lang="en-US"/>
        </a:p>
      </dgm:t>
    </dgm:pt>
    <dgm:pt modelId="{64749FB2-B25F-4403-82E5-9B5EC798EABF}">
      <dgm:prSet/>
      <dgm:spPr/>
      <dgm:t>
        <a:bodyPr/>
        <a:lstStyle/>
        <a:p>
          <a:r>
            <a:rPr lang="it-IT" b="1" i="0" baseline="0" dirty="0">
              <a:latin typeface="Arial" panose="020B0604020202020204" pitchFamily="34" charset="0"/>
              <a:cs typeface="Arial" panose="020B0604020202020204" pitchFamily="34" charset="0"/>
            </a:rPr>
            <a:t>Age, BMI and </a:t>
          </a:r>
          <a:r>
            <a:rPr lang="it-IT" b="1" i="0" baseline="0" dirty="0" err="1">
              <a:latin typeface="Arial" panose="020B0604020202020204" pitchFamily="34" charset="0"/>
              <a:cs typeface="Arial" panose="020B0604020202020204" pitchFamily="34" charset="0"/>
            </a:rPr>
            <a:t>Glucose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were</a:t>
          </a:r>
          <a:r>
            <a:rPr lang="it-IT" b="0" i="0" baseline="0" dirty="0">
              <a:latin typeface="Arial" panose="020B0604020202020204" pitchFamily="34" charset="0"/>
              <a:cs typeface="Arial" panose="020B0604020202020204" pitchFamily="34" charset="0"/>
            </a:rPr>
            <a:t> the </a:t>
          </a:r>
          <a:r>
            <a:rPr lang="it-IT" b="0" i="0" baseline="0" dirty="0" err="1">
              <a:latin typeface="Arial" panose="020B0604020202020204" pitchFamily="34" charset="0"/>
              <a:cs typeface="Arial" panose="020B0604020202020204" pitchFamily="34" charset="0"/>
            </a:rPr>
            <a:t>strongest</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factors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associated</a:t>
          </a:r>
          <a:r>
            <a:rPr lang="it-IT" b="0" i="0" baseline="0" dirty="0">
              <a:latin typeface="Arial" panose="020B0604020202020204" pitchFamily="34" charset="0"/>
              <a:cs typeface="Arial" panose="020B0604020202020204" pitchFamily="34" charset="0"/>
            </a:rPr>
            <a:t> with </a:t>
          </a:r>
          <a:r>
            <a:rPr lang="it-IT" b="0" i="0" baseline="0" dirty="0" err="1">
              <a:latin typeface="Arial" panose="020B0604020202020204" pitchFamily="34" charset="0"/>
              <a:cs typeface="Arial" panose="020B0604020202020204" pitchFamily="34" charset="0"/>
            </a:rPr>
            <a:t>diabetes</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3BE0381A-1576-46DF-81F7-84F7C7B517A9}" type="parTrans" cxnId="{0943FD7C-8B8B-4866-9E9B-38143F6038FD}">
      <dgm:prSet/>
      <dgm:spPr/>
      <dgm:t>
        <a:bodyPr/>
        <a:lstStyle/>
        <a:p>
          <a:endParaRPr lang="en-US"/>
        </a:p>
      </dgm:t>
    </dgm:pt>
    <dgm:pt modelId="{2663F1BF-B31F-4786-9C38-8C83432185E2}" type="sibTrans" cxnId="{0943FD7C-8B8B-4866-9E9B-38143F6038FD}">
      <dgm:prSet/>
      <dgm:spPr/>
      <dgm:t>
        <a:bodyPr/>
        <a:lstStyle/>
        <a:p>
          <a:endParaRPr lang="en-US"/>
        </a:p>
      </dgm:t>
    </dgm:pt>
    <dgm:pt modelId="{223AC1F7-4898-4D06-9326-CF664E3972B9}">
      <dgm:prSet/>
      <dgm:spPr/>
      <dgm:t>
        <a:bodyPr/>
        <a:lstStyle/>
        <a:p>
          <a:r>
            <a:rPr lang="it-IT" b="0" i="0" baseline="0" dirty="0" err="1">
              <a:latin typeface="Arial" panose="020B0604020202020204" pitchFamily="34" charset="0"/>
              <a:cs typeface="Arial" panose="020B0604020202020204" pitchFamily="34" charset="0"/>
            </a:rPr>
            <a:t>Significant</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differences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were</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found</a:t>
          </a:r>
          <a:r>
            <a:rPr lang="it-IT" b="0" i="0" baseline="0" dirty="0">
              <a:latin typeface="Arial" panose="020B0604020202020204" pitchFamily="34" charset="0"/>
              <a:cs typeface="Arial" panose="020B0604020202020204" pitchFamily="34" charset="0"/>
            </a:rPr>
            <a:t> in </a:t>
          </a:r>
          <a:r>
            <a:rPr lang="it-IT" b="1" i="0" baseline="0" dirty="0" err="1">
              <a:latin typeface="Arial" panose="020B0604020202020204" pitchFamily="34" charset="0"/>
              <a:cs typeface="Arial" panose="020B0604020202020204" pitchFamily="34" charset="0"/>
            </a:rPr>
            <a:t>glucose</a:t>
          </a:r>
          <a:r>
            <a:rPr lang="it-IT" b="1" i="0" baseline="0" dirty="0">
              <a:latin typeface="Arial" panose="020B0604020202020204" pitchFamily="34" charset="0"/>
              <a:cs typeface="Arial" panose="020B0604020202020204" pitchFamily="34" charset="0"/>
            </a:rPr>
            <a:t> </a:t>
          </a:r>
          <a:r>
            <a:rPr lang="it-IT" b="1" i="0" baseline="0" dirty="0" err="1">
              <a:latin typeface="Arial" panose="020B0604020202020204" pitchFamily="34" charset="0"/>
              <a:cs typeface="Arial" panose="020B0604020202020204" pitchFamily="34" charset="0"/>
            </a:rPr>
            <a:t>levels</a:t>
          </a:r>
          <a:r>
            <a:rPr lang="it-IT" b="0" i="0" baseline="0" dirty="0">
              <a:latin typeface="Arial" panose="020B0604020202020204" pitchFamily="34" charset="0"/>
              <a:cs typeface="Arial" panose="020B0604020202020204" pitchFamily="34" charset="0"/>
            </a:rPr>
            <a:t> and </a:t>
          </a:r>
          <a:r>
            <a:rPr lang="it-IT" b="1" i="0" baseline="0" dirty="0" err="1">
              <a:latin typeface="Arial" panose="020B0604020202020204" pitchFamily="34" charset="0"/>
              <a:cs typeface="Arial" panose="020B0604020202020204" pitchFamily="34" charset="0"/>
            </a:rPr>
            <a:t>number</a:t>
          </a:r>
          <a:r>
            <a:rPr lang="it-IT" b="1" i="0" baseline="0" dirty="0">
              <a:latin typeface="Arial" panose="020B0604020202020204" pitchFamily="34" charset="0"/>
              <a:cs typeface="Arial" panose="020B0604020202020204" pitchFamily="34" charset="0"/>
            </a:rPr>
            <a:t> of </a:t>
          </a:r>
          <a:r>
            <a:rPr lang="it-IT" b="1" i="0" baseline="0" dirty="0" err="1">
              <a:latin typeface="Arial" panose="020B0604020202020204" pitchFamily="34" charset="0"/>
              <a:cs typeface="Arial" panose="020B0604020202020204" pitchFamily="34" charset="0"/>
            </a:rPr>
            <a:t>pregnancies</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between</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diabetic</a:t>
          </a:r>
          <a:r>
            <a:rPr lang="it-IT" b="0" i="0" baseline="0" dirty="0">
              <a:latin typeface="Arial" panose="020B0604020202020204" pitchFamily="34" charset="0"/>
              <a:cs typeface="Arial" panose="020B0604020202020204" pitchFamily="34" charset="0"/>
            </a:rPr>
            <a:t> and non-</a:t>
          </a:r>
          <a:r>
            <a:rPr lang="it-IT" b="0" i="0" baseline="0" dirty="0" err="1">
              <a:latin typeface="Arial" panose="020B0604020202020204" pitchFamily="34" charset="0"/>
              <a:cs typeface="Arial" panose="020B0604020202020204" pitchFamily="34" charset="0"/>
            </a:rPr>
            <a:t>diabetic</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individuals</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BAB38B9E-06D1-4A33-84CE-5DEE180FE709}" type="parTrans" cxnId="{F9F3E71D-38CD-4C2F-B57B-D8F30D065141}">
      <dgm:prSet/>
      <dgm:spPr/>
      <dgm:t>
        <a:bodyPr/>
        <a:lstStyle/>
        <a:p>
          <a:endParaRPr lang="en-US"/>
        </a:p>
      </dgm:t>
    </dgm:pt>
    <dgm:pt modelId="{990D4A68-89F1-405F-B3A8-21D13CA653A1}" type="sibTrans" cxnId="{F9F3E71D-38CD-4C2F-B57B-D8F30D065141}">
      <dgm:prSet/>
      <dgm:spPr/>
      <dgm:t>
        <a:bodyPr/>
        <a:lstStyle/>
        <a:p>
          <a:endParaRPr lang="en-US"/>
        </a:p>
      </dgm:t>
    </dgm:pt>
    <dgm:pt modelId="{D12F11EC-CF35-4F3E-8147-685492F14FD7}">
      <dgm:prSet/>
      <dgm:spPr/>
      <dgm:t>
        <a:bodyPr/>
        <a:lstStyle/>
        <a:p>
          <a:r>
            <a:rPr lang="it-IT" b="0" i="0" baseline="0" dirty="0" err="1">
              <a:latin typeface="Arial" panose="020B0604020202020204" pitchFamily="34" charset="0"/>
              <a:cs typeface="Arial" panose="020B0604020202020204" pitchFamily="34" charset="0"/>
            </a:rPr>
            <a:t>Logistic</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regression</a:t>
          </a:r>
          <a:r>
            <a:rPr lang="it-IT" b="0" i="0" baseline="0" dirty="0">
              <a:latin typeface="Arial" panose="020B0604020202020204" pitchFamily="34" charset="0"/>
              <a:cs typeface="Arial" panose="020B0604020202020204" pitchFamily="34" charset="0"/>
            </a:rPr>
            <a:t> </a:t>
          </a:r>
          <a:r>
            <a:rPr lang="it-IT" b="0" i="0" baseline="0" dirty="0" err="1">
              <a:latin typeface="Arial" panose="020B0604020202020204" pitchFamily="34" charset="0"/>
              <a:cs typeface="Arial" panose="020B0604020202020204" pitchFamily="34" charset="0"/>
            </a:rPr>
            <a:t>achieved</a:t>
          </a:r>
          <a:r>
            <a:rPr lang="it-IT" b="0" i="0" baseline="0" dirty="0">
              <a:latin typeface="Arial" panose="020B0604020202020204" pitchFamily="34" charset="0"/>
              <a:cs typeface="Arial" panose="020B0604020202020204" pitchFamily="34" charset="0"/>
            </a:rPr>
            <a:t> </a:t>
          </a:r>
          <a:r>
            <a:rPr lang="it-IT" b="1" i="0" baseline="0" dirty="0">
              <a:latin typeface="Arial" panose="020B0604020202020204" pitchFamily="34" charset="0"/>
              <a:cs typeface="Arial" panose="020B0604020202020204" pitchFamily="34" charset="0"/>
            </a:rPr>
            <a:t>76.8% </a:t>
          </a:r>
          <a:r>
            <a:rPr lang="it-IT" b="1" i="0" baseline="0" dirty="0" err="1">
              <a:latin typeface="Arial" panose="020B0604020202020204" pitchFamily="34" charset="0"/>
              <a:cs typeface="Arial" panose="020B0604020202020204" pitchFamily="34" charset="0"/>
            </a:rPr>
            <a:t>classification</a:t>
          </a:r>
          <a:r>
            <a:rPr lang="it-IT" b="1" i="0" baseline="0" dirty="0">
              <a:latin typeface="Arial" panose="020B0604020202020204" pitchFamily="34" charset="0"/>
              <a:cs typeface="Arial" panose="020B0604020202020204" pitchFamily="34" charset="0"/>
            </a:rPr>
            <a:t> </a:t>
          </a:r>
          <a:r>
            <a:rPr lang="it-IT" b="1" i="0" baseline="0" dirty="0" err="1">
              <a:latin typeface="Arial" panose="020B0604020202020204" pitchFamily="34" charset="0"/>
              <a:cs typeface="Arial" panose="020B0604020202020204" pitchFamily="34" charset="0"/>
            </a:rPr>
            <a:t>accuracy</a:t>
          </a:r>
          <a:r>
            <a:rPr lang="it-IT" b="0" i="0" baseline="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03C6D095-9B48-45C9-8037-F6C6DC28BC9A}" type="parTrans" cxnId="{AFC1A570-9377-4C93-A892-92C2DDC3F21F}">
      <dgm:prSet/>
      <dgm:spPr/>
      <dgm:t>
        <a:bodyPr/>
        <a:lstStyle/>
        <a:p>
          <a:endParaRPr lang="en-US"/>
        </a:p>
      </dgm:t>
    </dgm:pt>
    <dgm:pt modelId="{40BC5E39-0A77-4F13-B12E-CD8040453D11}" type="sibTrans" cxnId="{AFC1A570-9377-4C93-A892-92C2DDC3F21F}">
      <dgm:prSet/>
      <dgm:spPr/>
      <dgm:t>
        <a:bodyPr/>
        <a:lstStyle/>
        <a:p>
          <a:endParaRPr lang="en-US"/>
        </a:p>
      </dgm:t>
    </dgm:pt>
    <dgm:pt modelId="{FCE473F2-9985-4DD3-AF98-B3584B86ADC9}">
      <dgm:prSet/>
      <dgm:spPr>
        <a:noFill/>
      </dgm:spPr>
      <dgm:t>
        <a:bodyPr/>
        <a:lstStyle/>
        <a:p>
          <a:r>
            <a:rPr lang="it-IT" b="1" i="0" baseline="0" dirty="0">
              <a:latin typeface="Arial" panose="020B0604020202020204" pitchFamily="34" charset="0"/>
              <a:cs typeface="Arial" panose="020B0604020202020204" pitchFamily="34" charset="0"/>
            </a:rPr>
            <a:t>Key </a:t>
          </a:r>
          <a:r>
            <a:rPr lang="it-IT" b="1" i="0" baseline="0" dirty="0" err="1">
              <a:latin typeface="Arial" panose="020B0604020202020204" pitchFamily="34" charset="0"/>
              <a:cs typeface="Arial" panose="020B0604020202020204" pitchFamily="34" charset="0"/>
            </a:rPr>
            <a:t>Findings</a:t>
          </a:r>
          <a:endParaRPr lang="en-US" dirty="0">
            <a:latin typeface="Arial" panose="020B0604020202020204" pitchFamily="34" charset="0"/>
            <a:cs typeface="Arial" panose="020B0604020202020204" pitchFamily="34" charset="0"/>
          </a:endParaRPr>
        </a:p>
      </dgm:t>
    </dgm:pt>
    <dgm:pt modelId="{F49BA2C9-5006-4CDC-AC88-1A71FF24787A}" type="sibTrans" cxnId="{86CD783C-7AED-4C36-A724-8E9CE314C924}">
      <dgm:prSet/>
      <dgm:spPr/>
      <dgm:t>
        <a:bodyPr/>
        <a:lstStyle/>
        <a:p>
          <a:endParaRPr lang="en-US"/>
        </a:p>
      </dgm:t>
    </dgm:pt>
    <dgm:pt modelId="{E5D27B92-568B-4C0A-A1DF-8C34E2151A0B}" type="parTrans" cxnId="{86CD783C-7AED-4C36-A724-8E9CE314C924}">
      <dgm:prSet/>
      <dgm:spPr/>
      <dgm:t>
        <a:bodyPr/>
        <a:lstStyle/>
        <a:p>
          <a:endParaRPr lang="en-US"/>
        </a:p>
      </dgm:t>
    </dgm:pt>
    <dgm:pt modelId="{128FABF4-DBBD-B944-BFEC-079153CD4510}" type="pres">
      <dgm:prSet presAssocID="{7C989885-5A20-46E1-BA79-DDF746FBCECF}" presName="linear" presStyleCnt="0">
        <dgm:presLayoutVars>
          <dgm:animLvl val="lvl"/>
          <dgm:resizeHandles val="exact"/>
        </dgm:presLayoutVars>
      </dgm:prSet>
      <dgm:spPr/>
    </dgm:pt>
    <dgm:pt modelId="{042EE050-01E1-7244-BAAE-288CA8977C7C}" type="pres">
      <dgm:prSet presAssocID="{FCE473F2-9985-4DD3-AF98-B3584B86ADC9}" presName="parentText" presStyleLbl="node1" presStyleIdx="0" presStyleCnt="6">
        <dgm:presLayoutVars>
          <dgm:chMax val="0"/>
          <dgm:bulletEnabled val="1"/>
        </dgm:presLayoutVars>
      </dgm:prSet>
      <dgm:spPr/>
    </dgm:pt>
    <dgm:pt modelId="{E4BEADA5-1419-7645-9200-09A010BCCA0A}" type="pres">
      <dgm:prSet presAssocID="{F49BA2C9-5006-4CDC-AC88-1A71FF24787A}" presName="spacer" presStyleCnt="0"/>
      <dgm:spPr/>
    </dgm:pt>
    <dgm:pt modelId="{9896CE08-C7C7-354E-91A4-F89D6C6395F0}" type="pres">
      <dgm:prSet presAssocID="{0BEDD6E4-CE99-4344-998F-22A64A64B0B9}" presName="parentText" presStyleLbl="node1" presStyleIdx="1" presStyleCnt="6">
        <dgm:presLayoutVars>
          <dgm:chMax val="0"/>
          <dgm:bulletEnabled val="1"/>
        </dgm:presLayoutVars>
      </dgm:prSet>
      <dgm:spPr/>
    </dgm:pt>
    <dgm:pt modelId="{C4479E4C-C205-C34F-81F1-A68AF48DD5BA}" type="pres">
      <dgm:prSet presAssocID="{3B364905-5CDD-4555-988F-37E54A644351}" presName="spacer" presStyleCnt="0"/>
      <dgm:spPr/>
    </dgm:pt>
    <dgm:pt modelId="{FA82D0B2-DB4C-A74E-A207-1BDF18288589}" type="pres">
      <dgm:prSet presAssocID="{B4CA3017-3974-42CD-99A3-1A717E361643}" presName="parentText" presStyleLbl="node1" presStyleIdx="2" presStyleCnt="6">
        <dgm:presLayoutVars>
          <dgm:chMax val="0"/>
          <dgm:bulletEnabled val="1"/>
        </dgm:presLayoutVars>
      </dgm:prSet>
      <dgm:spPr/>
    </dgm:pt>
    <dgm:pt modelId="{F2A6A88B-0018-0046-A2A8-423F87845B3E}" type="pres">
      <dgm:prSet presAssocID="{C5E1E5FD-687A-48A2-BC21-5FB1A2F6C1F6}" presName="spacer" presStyleCnt="0"/>
      <dgm:spPr/>
    </dgm:pt>
    <dgm:pt modelId="{7FC8DD25-7B95-8940-95B1-0030734011B0}" type="pres">
      <dgm:prSet presAssocID="{64749FB2-B25F-4403-82E5-9B5EC798EABF}" presName="parentText" presStyleLbl="node1" presStyleIdx="3" presStyleCnt="6">
        <dgm:presLayoutVars>
          <dgm:chMax val="0"/>
          <dgm:bulletEnabled val="1"/>
        </dgm:presLayoutVars>
      </dgm:prSet>
      <dgm:spPr/>
    </dgm:pt>
    <dgm:pt modelId="{775A39F6-05B4-624A-BE4E-EB856A4E2F9E}" type="pres">
      <dgm:prSet presAssocID="{2663F1BF-B31F-4786-9C38-8C83432185E2}" presName="spacer" presStyleCnt="0"/>
      <dgm:spPr/>
    </dgm:pt>
    <dgm:pt modelId="{65D66A8F-E930-3448-A252-1E5DC30FCE50}" type="pres">
      <dgm:prSet presAssocID="{223AC1F7-4898-4D06-9326-CF664E3972B9}" presName="parentText" presStyleLbl="node1" presStyleIdx="4" presStyleCnt="6">
        <dgm:presLayoutVars>
          <dgm:chMax val="0"/>
          <dgm:bulletEnabled val="1"/>
        </dgm:presLayoutVars>
      </dgm:prSet>
      <dgm:spPr/>
    </dgm:pt>
    <dgm:pt modelId="{8E9F2584-564C-0348-949E-BDC767AA2222}" type="pres">
      <dgm:prSet presAssocID="{990D4A68-89F1-405F-B3A8-21D13CA653A1}" presName="spacer" presStyleCnt="0"/>
      <dgm:spPr/>
    </dgm:pt>
    <dgm:pt modelId="{56C764E2-FDC8-354E-B62D-894E635E67F6}" type="pres">
      <dgm:prSet presAssocID="{D12F11EC-CF35-4F3E-8147-685492F14FD7}" presName="parentText" presStyleLbl="node1" presStyleIdx="5" presStyleCnt="6">
        <dgm:presLayoutVars>
          <dgm:chMax val="0"/>
          <dgm:bulletEnabled val="1"/>
        </dgm:presLayoutVars>
      </dgm:prSet>
      <dgm:spPr/>
    </dgm:pt>
  </dgm:ptLst>
  <dgm:cxnLst>
    <dgm:cxn modelId="{80DAC10C-E2C1-4739-B6A7-E88364CBBEDD}" srcId="{7C989885-5A20-46E1-BA79-DDF746FBCECF}" destId="{0BEDD6E4-CE99-4344-998F-22A64A64B0B9}" srcOrd="1" destOrd="0" parTransId="{A2BB16DC-5A63-46D8-BA8F-CA4378519ED5}" sibTransId="{3B364905-5CDD-4555-988F-37E54A644351}"/>
    <dgm:cxn modelId="{F9F3E71D-38CD-4C2F-B57B-D8F30D065141}" srcId="{7C989885-5A20-46E1-BA79-DDF746FBCECF}" destId="{223AC1F7-4898-4D06-9326-CF664E3972B9}" srcOrd="4" destOrd="0" parTransId="{BAB38B9E-06D1-4A33-84CE-5DEE180FE709}" sibTransId="{990D4A68-89F1-405F-B3A8-21D13CA653A1}"/>
    <dgm:cxn modelId="{6510D53B-819F-C545-A844-457ADF503BC7}" type="presOf" srcId="{223AC1F7-4898-4D06-9326-CF664E3972B9}" destId="{65D66A8F-E930-3448-A252-1E5DC30FCE50}" srcOrd="0" destOrd="0" presId="urn:microsoft.com/office/officeart/2005/8/layout/vList2"/>
    <dgm:cxn modelId="{86CD783C-7AED-4C36-A724-8E9CE314C924}" srcId="{7C989885-5A20-46E1-BA79-DDF746FBCECF}" destId="{FCE473F2-9985-4DD3-AF98-B3584B86ADC9}" srcOrd="0" destOrd="0" parTransId="{E5D27B92-568B-4C0A-A1DF-8C34E2151A0B}" sibTransId="{F49BA2C9-5006-4CDC-AC88-1A71FF24787A}"/>
    <dgm:cxn modelId="{66356946-A6E3-FA45-A552-CFA48A1B95A6}" type="presOf" srcId="{0BEDD6E4-CE99-4344-998F-22A64A64B0B9}" destId="{9896CE08-C7C7-354E-91A4-F89D6C6395F0}" srcOrd="0" destOrd="0" presId="urn:microsoft.com/office/officeart/2005/8/layout/vList2"/>
    <dgm:cxn modelId="{AFC1A570-9377-4C93-A892-92C2DDC3F21F}" srcId="{7C989885-5A20-46E1-BA79-DDF746FBCECF}" destId="{D12F11EC-CF35-4F3E-8147-685492F14FD7}" srcOrd="5" destOrd="0" parTransId="{03C6D095-9B48-45C9-8037-F6C6DC28BC9A}" sibTransId="{40BC5E39-0A77-4F13-B12E-CD8040453D11}"/>
    <dgm:cxn modelId="{0943FD7C-8B8B-4866-9E9B-38143F6038FD}" srcId="{7C989885-5A20-46E1-BA79-DDF746FBCECF}" destId="{64749FB2-B25F-4403-82E5-9B5EC798EABF}" srcOrd="3" destOrd="0" parTransId="{3BE0381A-1576-46DF-81F7-84F7C7B517A9}" sibTransId="{2663F1BF-B31F-4786-9C38-8C83432185E2}"/>
    <dgm:cxn modelId="{05F0C77F-6996-DD41-8D83-9D06EED59442}" type="presOf" srcId="{FCE473F2-9985-4DD3-AF98-B3584B86ADC9}" destId="{042EE050-01E1-7244-BAAE-288CA8977C7C}" srcOrd="0" destOrd="0" presId="urn:microsoft.com/office/officeart/2005/8/layout/vList2"/>
    <dgm:cxn modelId="{DB5B528C-CDF1-4C2C-B749-D36EE0697501}" srcId="{7C989885-5A20-46E1-BA79-DDF746FBCECF}" destId="{B4CA3017-3974-42CD-99A3-1A717E361643}" srcOrd="2" destOrd="0" parTransId="{68D86FC2-D482-4355-8F30-FB54123F3057}" sibTransId="{C5E1E5FD-687A-48A2-BC21-5FB1A2F6C1F6}"/>
    <dgm:cxn modelId="{C5D84693-4533-AF49-BA69-9A02F5DD5073}" type="presOf" srcId="{B4CA3017-3974-42CD-99A3-1A717E361643}" destId="{FA82D0B2-DB4C-A74E-A207-1BDF18288589}" srcOrd="0" destOrd="0" presId="urn:microsoft.com/office/officeart/2005/8/layout/vList2"/>
    <dgm:cxn modelId="{B0B66EDF-2396-B741-BE6C-F6BC4A8619DF}" type="presOf" srcId="{D12F11EC-CF35-4F3E-8147-685492F14FD7}" destId="{56C764E2-FDC8-354E-B62D-894E635E67F6}" srcOrd="0" destOrd="0" presId="urn:microsoft.com/office/officeart/2005/8/layout/vList2"/>
    <dgm:cxn modelId="{02DCB2EA-6238-8144-99F0-DB8FE3A11590}" type="presOf" srcId="{7C989885-5A20-46E1-BA79-DDF746FBCECF}" destId="{128FABF4-DBBD-B944-BFEC-079153CD4510}" srcOrd="0" destOrd="0" presId="urn:microsoft.com/office/officeart/2005/8/layout/vList2"/>
    <dgm:cxn modelId="{863FF6F2-6769-C442-B805-21A39174468E}" type="presOf" srcId="{64749FB2-B25F-4403-82E5-9B5EC798EABF}" destId="{7FC8DD25-7B95-8940-95B1-0030734011B0}" srcOrd="0" destOrd="0" presId="urn:microsoft.com/office/officeart/2005/8/layout/vList2"/>
    <dgm:cxn modelId="{DA5E4491-0451-0940-92B5-410AA4AECB51}" type="presParOf" srcId="{128FABF4-DBBD-B944-BFEC-079153CD4510}" destId="{042EE050-01E1-7244-BAAE-288CA8977C7C}" srcOrd="0" destOrd="0" presId="urn:microsoft.com/office/officeart/2005/8/layout/vList2"/>
    <dgm:cxn modelId="{CF80FBD6-81B8-6840-AFF8-4328F301C9D6}" type="presParOf" srcId="{128FABF4-DBBD-B944-BFEC-079153CD4510}" destId="{E4BEADA5-1419-7645-9200-09A010BCCA0A}" srcOrd="1" destOrd="0" presId="urn:microsoft.com/office/officeart/2005/8/layout/vList2"/>
    <dgm:cxn modelId="{941E408C-3ED1-7449-8346-1CB6E3B2CFC6}" type="presParOf" srcId="{128FABF4-DBBD-B944-BFEC-079153CD4510}" destId="{9896CE08-C7C7-354E-91A4-F89D6C6395F0}" srcOrd="2" destOrd="0" presId="urn:microsoft.com/office/officeart/2005/8/layout/vList2"/>
    <dgm:cxn modelId="{75AE81BA-67CD-8441-8EF4-6CCF17C93CBB}" type="presParOf" srcId="{128FABF4-DBBD-B944-BFEC-079153CD4510}" destId="{C4479E4C-C205-C34F-81F1-A68AF48DD5BA}" srcOrd="3" destOrd="0" presId="urn:microsoft.com/office/officeart/2005/8/layout/vList2"/>
    <dgm:cxn modelId="{BC8F48D5-C8A7-9D4B-8335-3C1EDC3CB7C5}" type="presParOf" srcId="{128FABF4-DBBD-B944-BFEC-079153CD4510}" destId="{FA82D0B2-DB4C-A74E-A207-1BDF18288589}" srcOrd="4" destOrd="0" presId="urn:microsoft.com/office/officeart/2005/8/layout/vList2"/>
    <dgm:cxn modelId="{D0D96DA5-7743-844E-BF09-63DDBCB61CE8}" type="presParOf" srcId="{128FABF4-DBBD-B944-BFEC-079153CD4510}" destId="{F2A6A88B-0018-0046-A2A8-423F87845B3E}" srcOrd="5" destOrd="0" presId="urn:microsoft.com/office/officeart/2005/8/layout/vList2"/>
    <dgm:cxn modelId="{B75FD259-5502-0D42-894E-D1383E627483}" type="presParOf" srcId="{128FABF4-DBBD-B944-BFEC-079153CD4510}" destId="{7FC8DD25-7B95-8940-95B1-0030734011B0}" srcOrd="6" destOrd="0" presId="urn:microsoft.com/office/officeart/2005/8/layout/vList2"/>
    <dgm:cxn modelId="{97D044A5-D337-3748-AFDC-81047E01ED62}" type="presParOf" srcId="{128FABF4-DBBD-B944-BFEC-079153CD4510}" destId="{775A39F6-05B4-624A-BE4E-EB856A4E2F9E}" srcOrd="7" destOrd="0" presId="urn:microsoft.com/office/officeart/2005/8/layout/vList2"/>
    <dgm:cxn modelId="{F8E59AA7-5855-0545-8BD7-C40AA1213F32}" type="presParOf" srcId="{128FABF4-DBBD-B944-BFEC-079153CD4510}" destId="{65D66A8F-E930-3448-A252-1E5DC30FCE50}" srcOrd="8" destOrd="0" presId="urn:microsoft.com/office/officeart/2005/8/layout/vList2"/>
    <dgm:cxn modelId="{F57074D0-D89A-234E-888A-4593FC16C75B}" type="presParOf" srcId="{128FABF4-DBBD-B944-BFEC-079153CD4510}" destId="{8E9F2584-564C-0348-949E-BDC767AA2222}" srcOrd="9" destOrd="0" presId="urn:microsoft.com/office/officeart/2005/8/layout/vList2"/>
    <dgm:cxn modelId="{A97F5455-6196-F74B-A47F-F780B3713E3F}" type="presParOf" srcId="{128FABF4-DBBD-B944-BFEC-079153CD4510}" destId="{56C764E2-FDC8-354E-B62D-894E635E67F6}"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E6B77E-3EFF-0746-9910-46D00ADFBE26}">
      <dsp:nvSpPr>
        <dsp:cNvPr id="0" name=""/>
        <dsp:cNvSpPr/>
      </dsp:nvSpPr>
      <dsp:spPr>
        <a:xfrm>
          <a:off x="34298" y="29244"/>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dirty="0">
              <a:latin typeface="Arial" panose="020B0604020202020204" pitchFamily="34" charset="0"/>
              <a:cs typeface="Arial" panose="020B0604020202020204" pitchFamily="34" charset="0"/>
            </a:rPr>
            <a:t>Import Dataset</a:t>
          </a:r>
        </a:p>
      </dsp:txBody>
      <dsp:txXfrm>
        <a:off x="58800" y="53746"/>
        <a:ext cx="2123303" cy="452922"/>
      </dsp:txXfrm>
    </dsp:sp>
    <dsp:sp modelId="{F14A8ACD-15F7-4B4D-AAEE-3F0949857893}">
      <dsp:nvSpPr>
        <dsp:cNvPr id="0" name=""/>
        <dsp:cNvSpPr/>
      </dsp:nvSpPr>
      <dsp:spPr>
        <a:xfrm>
          <a:off x="682645" y="544802"/>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dirty="0">
              <a:latin typeface="Arial" panose="020B0604020202020204" pitchFamily="34" charset="0"/>
              <a:cs typeface="Arial" panose="020B0604020202020204" pitchFamily="34" charset="0"/>
            </a:rPr>
            <a:t>Data </a:t>
          </a:r>
          <a:r>
            <a:rPr lang="it-IT" sz="1500" kern="1200" dirty="0" err="1">
              <a:latin typeface="Arial" panose="020B0604020202020204" pitchFamily="34" charset="0"/>
              <a:cs typeface="Arial" panose="020B0604020202020204" pitchFamily="34" charset="0"/>
            </a:rPr>
            <a:t>exploration</a:t>
          </a:r>
          <a:endParaRPr lang="it-IT" sz="1500" kern="1200" dirty="0">
            <a:latin typeface="Arial" panose="020B0604020202020204" pitchFamily="34" charset="0"/>
            <a:cs typeface="Arial" panose="020B0604020202020204" pitchFamily="34" charset="0"/>
          </a:endParaRPr>
        </a:p>
      </dsp:txBody>
      <dsp:txXfrm>
        <a:off x="707147" y="569304"/>
        <a:ext cx="2123303" cy="452922"/>
      </dsp:txXfrm>
    </dsp:sp>
    <dsp:sp modelId="{394CD275-00F6-7D42-AB3E-E3D7B6284560}">
      <dsp:nvSpPr>
        <dsp:cNvPr id="0" name=""/>
        <dsp:cNvSpPr/>
      </dsp:nvSpPr>
      <dsp:spPr>
        <a:xfrm>
          <a:off x="1305032" y="1060305"/>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err="1">
              <a:latin typeface="Arial" panose="020B0604020202020204" pitchFamily="34" charset="0"/>
              <a:cs typeface="Arial" panose="020B0604020202020204" pitchFamily="34" charset="0"/>
            </a:rPr>
            <a:t>Descriptive</a:t>
          </a:r>
          <a:r>
            <a:rPr lang="it-IT" sz="1500" kern="1200">
              <a:latin typeface="Arial" panose="020B0604020202020204" pitchFamily="34" charset="0"/>
              <a:cs typeface="Arial" panose="020B0604020202020204" pitchFamily="34" charset="0"/>
            </a:rPr>
            <a:t> </a:t>
          </a:r>
          <a:r>
            <a:rPr lang="it-IT" sz="1500" kern="1200" err="1">
              <a:latin typeface="Arial" panose="020B0604020202020204" pitchFamily="34" charset="0"/>
              <a:cs typeface="Arial" panose="020B0604020202020204" pitchFamily="34" charset="0"/>
            </a:rPr>
            <a:t>Statistics</a:t>
          </a:r>
          <a:endParaRPr lang="it-IT" sz="1500" kern="1200">
            <a:latin typeface="Arial" panose="020B0604020202020204" pitchFamily="34" charset="0"/>
            <a:cs typeface="Arial" panose="020B0604020202020204" pitchFamily="34" charset="0"/>
          </a:endParaRPr>
        </a:p>
      </dsp:txBody>
      <dsp:txXfrm>
        <a:off x="1329534" y="1084807"/>
        <a:ext cx="2123303" cy="452922"/>
      </dsp:txXfrm>
    </dsp:sp>
    <dsp:sp modelId="{A1593DC9-C55A-6149-A676-0749FE4E42A8}">
      <dsp:nvSpPr>
        <dsp:cNvPr id="0" name=""/>
        <dsp:cNvSpPr/>
      </dsp:nvSpPr>
      <dsp:spPr>
        <a:xfrm>
          <a:off x="1930939" y="1581380"/>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err="1">
              <a:latin typeface="Arial" panose="020B0604020202020204" pitchFamily="34" charset="0"/>
              <a:cs typeface="Arial" panose="020B0604020202020204" pitchFamily="34" charset="0"/>
            </a:rPr>
            <a:t>Exploratory</a:t>
          </a:r>
          <a:r>
            <a:rPr lang="it-IT" sz="1500" kern="1200">
              <a:latin typeface="Arial" panose="020B0604020202020204" pitchFamily="34" charset="0"/>
              <a:cs typeface="Arial" panose="020B0604020202020204" pitchFamily="34" charset="0"/>
            </a:rPr>
            <a:t> </a:t>
          </a:r>
          <a:r>
            <a:rPr lang="it-IT" sz="1500" kern="1200" err="1">
              <a:latin typeface="Arial" panose="020B0604020202020204" pitchFamily="34" charset="0"/>
              <a:cs typeface="Arial" panose="020B0604020202020204" pitchFamily="34" charset="0"/>
            </a:rPr>
            <a:t>Visualisation</a:t>
          </a:r>
          <a:endParaRPr lang="it-IT" sz="1500" kern="1200">
            <a:latin typeface="Arial" panose="020B0604020202020204" pitchFamily="34" charset="0"/>
            <a:cs typeface="Arial" panose="020B0604020202020204" pitchFamily="34" charset="0"/>
          </a:endParaRPr>
        </a:p>
      </dsp:txBody>
      <dsp:txXfrm>
        <a:off x="1955441" y="1605882"/>
        <a:ext cx="2123303" cy="452922"/>
      </dsp:txXfrm>
    </dsp:sp>
    <dsp:sp modelId="{637E64B8-DF2C-7846-BEC1-CFF37EE0520F}">
      <dsp:nvSpPr>
        <dsp:cNvPr id="0" name=""/>
        <dsp:cNvSpPr/>
      </dsp:nvSpPr>
      <dsp:spPr>
        <a:xfrm>
          <a:off x="2731348" y="2111439"/>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dirty="0" err="1">
              <a:latin typeface="Arial" panose="020B0604020202020204" pitchFamily="34" charset="0"/>
              <a:cs typeface="Arial" panose="020B0604020202020204" pitchFamily="34" charset="0"/>
            </a:rPr>
            <a:t>Hypothesis</a:t>
          </a:r>
          <a:r>
            <a:rPr lang="it-IT" sz="1500" kern="1200" dirty="0">
              <a:latin typeface="Arial" panose="020B0604020202020204" pitchFamily="34" charset="0"/>
              <a:cs typeface="Arial" panose="020B0604020202020204" pitchFamily="34" charset="0"/>
            </a:rPr>
            <a:t> Testing</a:t>
          </a:r>
        </a:p>
      </dsp:txBody>
      <dsp:txXfrm>
        <a:off x="2755850" y="2135941"/>
        <a:ext cx="2123303" cy="452922"/>
      </dsp:txXfrm>
    </dsp:sp>
    <dsp:sp modelId="{9B800DD5-8023-9D45-BA5E-0B323D0ED538}">
      <dsp:nvSpPr>
        <dsp:cNvPr id="0" name=""/>
        <dsp:cNvSpPr/>
      </dsp:nvSpPr>
      <dsp:spPr>
        <a:xfrm>
          <a:off x="3364814" y="2641528"/>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dirty="0" err="1">
              <a:latin typeface="Arial" panose="020B0604020202020204" pitchFamily="34" charset="0"/>
              <a:cs typeface="Arial" panose="020B0604020202020204" pitchFamily="34" charset="0"/>
            </a:rPr>
            <a:t>Regression</a:t>
          </a:r>
          <a:r>
            <a:rPr lang="it-IT" sz="1500" kern="1200" dirty="0">
              <a:latin typeface="Arial" panose="020B0604020202020204" pitchFamily="34" charset="0"/>
              <a:cs typeface="Arial" panose="020B0604020202020204" pitchFamily="34" charset="0"/>
            </a:rPr>
            <a:t> Models</a:t>
          </a:r>
        </a:p>
      </dsp:txBody>
      <dsp:txXfrm>
        <a:off x="3389316" y="2666030"/>
        <a:ext cx="2123303" cy="452922"/>
      </dsp:txXfrm>
    </dsp:sp>
    <dsp:sp modelId="{252B60E7-7D66-FA4B-94FB-503A709D3335}">
      <dsp:nvSpPr>
        <dsp:cNvPr id="0" name=""/>
        <dsp:cNvSpPr/>
      </dsp:nvSpPr>
      <dsp:spPr>
        <a:xfrm>
          <a:off x="3859036" y="3162760"/>
          <a:ext cx="2172307" cy="501926"/>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it-IT" sz="1500" kern="1200" dirty="0">
              <a:latin typeface="Arial" panose="020B0604020202020204" pitchFamily="34" charset="0"/>
              <a:cs typeface="Arial" panose="020B0604020202020204" pitchFamily="34" charset="0"/>
            </a:rPr>
            <a:t>Model Evaluation</a:t>
          </a:r>
        </a:p>
      </dsp:txBody>
      <dsp:txXfrm>
        <a:off x="3883538" y="3187262"/>
        <a:ext cx="2123303" cy="45292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E18E50-583D-184F-8BD7-34AA6888C915}">
      <dsp:nvSpPr>
        <dsp:cNvPr id="0" name=""/>
        <dsp:cNvSpPr/>
      </dsp:nvSpPr>
      <dsp:spPr>
        <a:xfrm>
          <a:off x="0" y="14622"/>
          <a:ext cx="6138862" cy="83655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it-IT" sz="2200" b="1" i="0" kern="1200" baseline="0">
              <a:latin typeface="Arial" panose="020B0604020202020204" pitchFamily="34" charset="0"/>
              <a:cs typeface="Arial" panose="020B0604020202020204" pitchFamily="34" charset="0"/>
            </a:rPr>
            <a:t>Key Findings</a:t>
          </a:r>
          <a:endParaRPr lang="en-US" sz="2200" kern="1200">
            <a:latin typeface="Arial" panose="020B0604020202020204" pitchFamily="34" charset="0"/>
            <a:cs typeface="Arial" panose="020B0604020202020204" pitchFamily="34" charset="0"/>
          </a:endParaRPr>
        </a:p>
      </dsp:txBody>
      <dsp:txXfrm>
        <a:off x="40837" y="55459"/>
        <a:ext cx="6057188" cy="754876"/>
      </dsp:txXfrm>
    </dsp:sp>
    <dsp:sp modelId="{2322DA75-2CBD-2748-BA9A-5FBFC6D932A9}">
      <dsp:nvSpPr>
        <dsp:cNvPr id="0" name=""/>
        <dsp:cNvSpPr/>
      </dsp:nvSpPr>
      <dsp:spPr>
        <a:xfrm>
          <a:off x="0" y="945940"/>
          <a:ext cx="6138862" cy="83655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Participants</a:t>
          </a:r>
          <a:r>
            <a:rPr lang="it-IT" sz="2200" b="0" i="0" kern="1200" baseline="0" dirty="0">
              <a:latin typeface="Arial" panose="020B0604020202020204" pitchFamily="34" charset="0"/>
              <a:cs typeface="Arial" panose="020B0604020202020204" pitchFamily="34" charset="0"/>
            </a:rPr>
            <a:t> with </a:t>
          </a:r>
          <a:r>
            <a:rPr lang="it-IT" sz="2200" b="0" i="0" kern="1200" baseline="0" dirty="0" err="1">
              <a:latin typeface="Arial" panose="020B0604020202020204" pitchFamily="34" charset="0"/>
              <a:cs typeface="Arial" panose="020B0604020202020204" pitchFamily="34" charset="0"/>
            </a:rPr>
            <a:t>diabetes</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had</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substantially</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higher</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glucose</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levels</a:t>
          </a:r>
          <a:r>
            <a:rPr lang="it-IT" sz="2200" b="0" i="0" kern="1200" baseline="0" dirty="0">
              <a:latin typeface="Arial" panose="020B0604020202020204" pitchFamily="34" charset="0"/>
              <a:cs typeface="Arial" panose="020B0604020202020204" pitchFamily="34" charset="0"/>
            </a:rPr>
            <a:t>.</a:t>
          </a:r>
          <a:endParaRPr lang="en-US" sz="2200" kern="1200" dirty="0">
            <a:latin typeface="Arial" panose="020B0604020202020204" pitchFamily="34" charset="0"/>
            <a:cs typeface="Arial" panose="020B0604020202020204" pitchFamily="34" charset="0"/>
          </a:endParaRPr>
        </a:p>
      </dsp:txBody>
      <dsp:txXfrm>
        <a:off x="40837" y="986777"/>
        <a:ext cx="6057188" cy="754876"/>
      </dsp:txXfrm>
    </dsp:sp>
    <dsp:sp modelId="{9BBAB39E-B4C7-C749-B8E0-37F67F606120}">
      <dsp:nvSpPr>
        <dsp:cNvPr id="0" name=""/>
        <dsp:cNvSpPr/>
      </dsp:nvSpPr>
      <dsp:spPr>
        <a:xfrm>
          <a:off x="0" y="1814442"/>
          <a:ext cx="6138862" cy="83655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it-IT" sz="2200" b="0" i="0" kern="1200" baseline="0">
              <a:latin typeface="Arial" panose="020B0604020202020204" pitchFamily="34" charset="0"/>
              <a:cs typeface="Arial" panose="020B0604020202020204" pitchFamily="34" charset="0"/>
            </a:rPr>
            <a:t>• Mean glucose increased from </a:t>
          </a:r>
          <a:r>
            <a:rPr lang="it-IT" sz="2200" b="1" i="0" kern="1200" baseline="0">
              <a:latin typeface="Arial" panose="020B0604020202020204" pitchFamily="34" charset="0"/>
              <a:cs typeface="Arial" panose="020B0604020202020204" pitchFamily="34" charset="0"/>
            </a:rPr>
            <a:t>110</a:t>
          </a:r>
          <a:r>
            <a:rPr lang="it-IT" sz="2200" b="0" i="0" kern="1200" baseline="0">
              <a:latin typeface="Arial" panose="020B0604020202020204" pitchFamily="34" charset="0"/>
              <a:cs typeface="Arial" panose="020B0604020202020204" pitchFamily="34" charset="0"/>
            </a:rPr>
            <a:t> to </a:t>
          </a:r>
          <a:r>
            <a:rPr lang="it-IT" sz="2200" b="1" i="0" kern="1200" baseline="0">
              <a:latin typeface="Arial" panose="020B0604020202020204" pitchFamily="34" charset="0"/>
              <a:cs typeface="Arial" panose="020B0604020202020204" pitchFamily="34" charset="0"/>
            </a:rPr>
            <a:t>141 mg/dL</a:t>
          </a:r>
          <a:r>
            <a:rPr lang="it-IT" sz="2200" b="0" i="0" kern="1200" baseline="0">
              <a:latin typeface="Arial" panose="020B0604020202020204" pitchFamily="34" charset="0"/>
              <a:cs typeface="Arial" panose="020B0604020202020204" pitchFamily="34" charset="0"/>
            </a:rPr>
            <a:t>.</a:t>
          </a:r>
          <a:endParaRPr lang="en-US" sz="2200" kern="1200">
            <a:latin typeface="Arial" panose="020B0604020202020204" pitchFamily="34" charset="0"/>
            <a:cs typeface="Arial" panose="020B0604020202020204" pitchFamily="34" charset="0"/>
          </a:endParaRPr>
        </a:p>
      </dsp:txBody>
      <dsp:txXfrm>
        <a:off x="40837" y="1855279"/>
        <a:ext cx="6057188" cy="754876"/>
      </dsp:txXfrm>
    </dsp:sp>
    <dsp:sp modelId="{0C400CBB-8AEF-7F48-8E3A-793ED7324DFA}">
      <dsp:nvSpPr>
        <dsp:cNvPr id="0" name=""/>
        <dsp:cNvSpPr/>
      </dsp:nvSpPr>
      <dsp:spPr>
        <a:xfrm>
          <a:off x="0" y="2714352"/>
          <a:ext cx="6138862" cy="836550"/>
        </a:xfrm>
        <a:prstGeom prst="roundRect">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it-IT" sz="2200" b="0" i="0" kern="1200" baseline="0" dirty="0">
              <a:latin typeface="Arial" panose="020B0604020202020204" pitchFamily="34" charset="0"/>
              <a:cs typeface="Arial" panose="020B0604020202020204" pitchFamily="34" charset="0"/>
            </a:rPr>
            <a:t>• The </a:t>
          </a:r>
          <a:r>
            <a:rPr lang="it-IT" sz="2200" b="0" i="0" kern="1200" baseline="0" dirty="0" err="1">
              <a:latin typeface="Arial" panose="020B0604020202020204" pitchFamily="34" charset="0"/>
              <a:cs typeface="Arial" panose="020B0604020202020204" pitchFamily="34" charset="0"/>
            </a:rPr>
            <a:t>difference</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was</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statistically</a:t>
          </a:r>
          <a:r>
            <a:rPr lang="it-IT" sz="2200" b="0" i="0" kern="1200" baseline="0" dirty="0">
              <a:latin typeface="Arial" panose="020B0604020202020204" pitchFamily="34" charset="0"/>
              <a:cs typeface="Arial" panose="020B0604020202020204" pitchFamily="34" charset="0"/>
            </a:rPr>
            <a:t> </a:t>
          </a:r>
          <a:r>
            <a:rPr lang="it-IT" sz="2200" b="0" i="0" kern="1200" baseline="0" dirty="0" err="1">
              <a:latin typeface="Arial" panose="020B0604020202020204" pitchFamily="34" charset="0"/>
              <a:cs typeface="Arial" panose="020B0604020202020204" pitchFamily="34" charset="0"/>
            </a:rPr>
            <a:t>significant</a:t>
          </a:r>
          <a:r>
            <a:rPr lang="it-IT" sz="2200" b="0" i="0" kern="1200" baseline="0" dirty="0">
              <a:latin typeface="Arial" panose="020B0604020202020204" pitchFamily="34" charset="0"/>
              <a:cs typeface="Arial" panose="020B0604020202020204" pitchFamily="34" charset="0"/>
            </a:rPr>
            <a:t> (</a:t>
          </a:r>
          <a:r>
            <a:rPr lang="it-IT" sz="2200" b="1" i="0" kern="1200" baseline="0" dirty="0" err="1">
              <a:latin typeface="Arial" panose="020B0604020202020204" pitchFamily="34" charset="0"/>
              <a:cs typeface="Arial" panose="020B0604020202020204" pitchFamily="34" charset="0"/>
            </a:rPr>
            <a:t>p</a:t>
          </a:r>
          <a:r>
            <a:rPr lang="it-IT" sz="2200" b="1" i="0" kern="1200" baseline="0" dirty="0">
              <a:latin typeface="Arial" panose="020B0604020202020204" pitchFamily="34" charset="0"/>
              <a:cs typeface="Arial" panose="020B0604020202020204" pitchFamily="34" charset="0"/>
            </a:rPr>
            <a:t> &lt; 0.001</a:t>
          </a:r>
          <a:r>
            <a:rPr lang="it-IT" sz="2200" b="0" i="0" kern="1200" baseline="0" dirty="0">
              <a:latin typeface="Arial" panose="020B0604020202020204" pitchFamily="34" charset="0"/>
              <a:cs typeface="Arial" panose="020B0604020202020204" pitchFamily="34" charset="0"/>
            </a:rPr>
            <a:t>).</a:t>
          </a:r>
          <a:endParaRPr lang="en-US" sz="2200" kern="1200" dirty="0">
            <a:latin typeface="Arial" panose="020B0604020202020204" pitchFamily="34" charset="0"/>
            <a:cs typeface="Arial" panose="020B0604020202020204" pitchFamily="34" charset="0"/>
          </a:endParaRPr>
        </a:p>
      </dsp:txBody>
      <dsp:txXfrm>
        <a:off x="40837" y="2755189"/>
        <a:ext cx="6057188" cy="7548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A55E5-B9C1-EA49-A037-7912F3540997}">
      <dsp:nvSpPr>
        <dsp:cNvPr id="0" name=""/>
        <dsp:cNvSpPr/>
      </dsp:nvSpPr>
      <dsp:spPr>
        <a:xfrm>
          <a:off x="0" y="1502"/>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7509A-22BA-E94D-8415-6D4DCDFD0654}">
      <dsp:nvSpPr>
        <dsp:cNvPr id="0" name=""/>
        <dsp:cNvSpPr/>
      </dsp:nvSpPr>
      <dsp:spPr>
        <a:xfrm>
          <a:off x="0" y="1502"/>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1" i="0" kern="1200" baseline="0">
              <a:latin typeface="Arial" panose="020B0604020202020204" pitchFamily="34" charset="0"/>
              <a:cs typeface="Arial" panose="020B0604020202020204" pitchFamily="34" charset="0"/>
            </a:rPr>
            <a:t>Key Findings</a:t>
          </a:r>
          <a:endParaRPr lang="en-US" sz="1500" kern="1200">
            <a:latin typeface="Arial" panose="020B0604020202020204" pitchFamily="34" charset="0"/>
            <a:cs typeface="Arial" panose="020B0604020202020204" pitchFamily="34" charset="0"/>
          </a:endParaRPr>
        </a:p>
      </dsp:txBody>
      <dsp:txXfrm>
        <a:off x="0" y="1502"/>
        <a:ext cx="5944256" cy="512460"/>
      </dsp:txXfrm>
    </dsp:sp>
    <dsp:sp modelId="{A6BACA6F-A30A-8E4A-81A2-E9ECD24D2FF1}">
      <dsp:nvSpPr>
        <dsp:cNvPr id="0" name=""/>
        <dsp:cNvSpPr/>
      </dsp:nvSpPr>
      <dsp:spPr>
        <a:xfrm>
          <a:off x="0" y="513962"/>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8ED833-68AB-8F41-AEC6-D12A40A05920}">
      <dsp:nvSpPr>
        <dsp:cNvPr id="0" name=""/>
        <dsp:cNvSpPr/>
      </dsp:nvSpPr>
      <dsp:spPr>
        <a:xfrm>
          <a:off x="0" y="513962"/>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0" i="0" kern="1200" baseline="0">
              <a:latin typeface="Arial" panose="020B0604020202020204" pitchFamily="34" charset="0"/>
              <a:cs typeface="Arial" panose="020B0604020202020204" pitchFamily="34" charset="0"/>
            </a:rPr>
            <a:t>Diabetes prevalence increased with </a:t>
          </a:r>
          <a:r>
            <a:rPr lang="it-IT" sz="1500" b="1" i="0" kern="1200" baseline="0">
              <a:latin typeface="Arial" panose="020B0604020202020204" pitchFamily="34" charset="0"/>
              <a:cs typeface="Arial" panose="020B0604020202020204" pitchFamily="34" charset="0"/>
            </a:rPr>
            <a:t>age</a:t>
          </a:r>
          <a:r>
            <a:rPr lang="it-IT" sz="1500" b="0" i="0" kern="1200" baseline="0">
              <a:latin typeface="Arial" panose="020B0604020202020204" pitchFamily="34" charset="0"/>
              <a:cs typeface="Arial" panose="020B0604020202020204" pitchFamily="34" charset="0"/>
            </a:rPr>
            <a:t> and </a:t>
          </a:r>
          <a:r>
            <a:rPr lang="it-IT" sz="1500" b="1" i="0" kern="1200" baseline="0">
              <a:latin typeface="Arial" panose="020B0604020202020204" pitchFamily="34" charset="0"/>
              <a:cs typeface="Arial" panose="020B0604020202020204" pitchFamily="34" charset="0"/>
            </a:rPr>
            <a:t>BMI</a:t>
          </a:r>
          <a:r>
            <a:rPr lang="it-IT" sz="1500" b="0" i="0" kern="1200" baseline="0">
              <a:latin typeface="Arial" panose="020B0604020202020204" pitchFamily="34" charset="0"/>
              <a:cs typeface="Arial" panose="020B0604020202020204" pitchFamily="34" charset="0"/>
            </a:rPr>
            <a:t>.</a:t>
          </a:r>
          <a:endParaRPr lang="en-US" sz="1500" kern="1200">
            <a:latin typeface="Arial" panose="020B0604020202020204" pitchFamily="34" charset="0"/>
            <a:cs typeface="Arial" panose="020B0604020202020204" pitchFamily="34" charset="0"/>
          </a:endParaRPr>
        </a:p>
      </dsp:txBody>
      <dsp:txXfrm>
        <a:off x="0" y="513962"/>
        <a:ext cx="5944256" cy="512460"/>
      </dsp:txXfrm>
    </dsp:sp>
    <dsp:sp modelId="{281777EA-DD32-4549-B995-7E173473D576}">
      <dsp:nvSpPr>
        <dsp:cNvPr id="0" name=""/>
        <dsp:cNvSpPr/>
      </dsp:nvSpPr>
      <dsp:spPr>
        <a:xfrm>
          <a:off x="0" y="1026422"/>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F7141A-8A41-9248-B45D-1BC97718211A}">
      <dsp:nvSpPr>
        <dsp:cNvPr id="0" name=""/>
        <dsp:cNvSpPr/>
      </dsp:nvSpPr>
      <dsp:spPr>
        <a:xfrm>
          <a:off x="0" y="1026422"/>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0" i="0" kern="1200" baseline="0">
              <a:latin typeface="Arial" panose="020B0604020202020204" pitchFamily="34" charset="0"/>
              <a:cs typeface="Arial" panose="020B0604020202020204" pitchFamily="34" charset="0"/>
            </a:rPr>
            <a:t>Individuals with diabetes had significantly </a:t>
          </a:r>
          <a:r>
            <a:rPr lang="it-IT" sz="1500" b="1" i="0" kern="1200" baseline="0">
              <a:latin typeface="Arial" panose="020B0604020202020204" pitchFamily="34" charset="0"/>
              <a:cs typeface="Arial" panose="020B0604020202020204" pitchFamily="34" charset="0"/>
            </a:rPr>
            <a:t>higher glucose levels</a:t>
          </a:r>
          <a:r>
            <a:rPr lang="it-IT" sz="1500" b="0" i="0" kern="1200" baseline="0">
              <a:latin typeface="Arial" panose="020B0604020202020204" pitchFamily="34" charset="0"/>
              <a:cs typeface="Arial" panose="020B0604020202020204" pitchFamily="34" charset="0"/>
            </a:rPr>
            <a:t>.</a:t>
          </a:r>
          <a:endParaRPr lang="en-US" sz="1500" kern="1200">
            <a:latin typeface="Arial" panose="020B0604020202020204" pitchFamily="34" charset="0"/>
            <a:cs typeface="Arial" panose="020B0604020202020204" pitchFamily="34" charset="0"/>
          </a:endParaRPr>
        </a:p>
      </dsp:txBody>
      <dsp:txXfrm>
        <a:off x="0" y="1026422"/>
        <a:ext cx="5944256" cy="512460"/>
      </dsp:txXfrm>
    </dsp:sp>
    <dsp:sp modelId="{27834EF2-D4EE-6143-9CFD-B91DA92BEF08}">
      <dsp:nvSpPr>
        <dsp:cNvPr id="0" name=""/>
        <dsp:cNvSpPr/>
      </dsp:nvSpPr>
      <dsp:spPr>
        <a:xfrm>
          <a:off x="0" y="1538883"/>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23CA71-EA6A-6045-8D36-53950D319EF8}">
      <dsp:nvSpPr>
        <dsp:cNvPr id="0" name=""/>
        <dsp:cNvSpPr/>
      </dsp:nvSpPr>
      <dsp:spPr>
        <a:xfrm>
          <a:off x="0" y="1538883"/>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0" i="0" kern="1200" baseline="0">
              <a:latin typeface="Arial" panose="020B0604020202020204" pitchFamily="34" charset="0"/>
              <a:cs typeface="Arial" panose="020B0604020202020204" pitchFamily="34" charset="0"/>
            </a:rPr>
            <a:t>Women with diabetes reported </a:t>
          </a:r>
          <a:r>
            <a:rPr lang="it-IT" sz="1500" b="1" i="0" kern="1200" baseline="0">
              <a:latin typeface="Arial" panose="020B0604020202020204" pitchFamily="34" charset="0"/>
              <a:cs typeface="Arial" panose="020B0604020202020204" pitchFamily="34" charset="0"/>
            </a:rPr>
            <a:t>more pregnancies</a:t>
          </a:r>
          <a:r>
            <a:rPr lang="it-IT" sz="1500" b="0" i="0" kern="1200" baseline="0">
              <a:latin typeface="Arial" panose="020B0604020202020204" pitchFamily="34" charset="0"/>
              <a:cs typeface="Arial" panose="020B0604020202020204" pitchFamily="34" charset="0"/>
            </a:rPr>
            <a:t> on average.</a:t>
          </a:r>
          <a:endParaRPr lang="en-US" sz="1500" kern="1200">
            <a:latin typeface="Arial" panose="020B0604020202020204" pitchFamily="34" charset="0"/>
            <a:cs typeface="Arial" panose="020B0604020202020204" pitchFamily="34" charset="0"/>
          </a:endParaRPr>
        </a:p>
      </dsp:txBody>
      <dsp:txXfrm>
        <a:off x="0" y="1538883"/>
        <a:ext cx="5944256" cy="512460"/>
      </dsp:txXfrm>
    </dsp:sp>
    <dsp:sp modelId="{FBF81FEB-7A79-3E46-B971-DCC65B7526F7}">
      <dsp:nvSpPr>
        <dsp:cNvPr id="0" name=""/>
        <dsp:cNvSpPr/>
      </dsp:nvSpPr>
      <dsp:spPr>
        <a:xfrm>
          <a:off x="0" y="2051343"/>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90E593-8C08-684C-9D3A-CEC263D69F74}">
      <dsp:nvSpPr>
        <dsp:cNvPr id="0" name=""/>
        <dsp:cNvSpPr/>
      </dsp:nvSpPr>
      <dsp:spPr>
        <a:xfrm>
          <a:off x="0" y="2051343"/>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1" i="0" kern="1200" baseline="0" dirty="0" err="1">
              <a:latin typeface="Arial" panose="020B0604020202020204" pitchFamily="34" charset="0"/>
              <a:cs typeface="Arial" panose="020B0604020202020204" pitchFamily="34" charset="0"/>
            </a:rPr>
            <a:t>Glucose</a:t>
          </a:r>
          <a:r>
            <a:rPr lang="it-IT" sz="1500" b="1" i="0" kern="1200" baseline="0" dirty="0">
              <a:latin typeface="Arial" panose="020B0604020202020204" pitchFamily="34" charset="0"/>
              <a:cs typeface="Arial" panose="020B0604020202020204" pitchFamily="34" charset="0"/>
            </a:rPr>
            <a:t>, BMI and Age</a:t>
          </a:r>
          <a:r>
            <a:rPr lang="it-IT" sz="1500" b="0" i="0" kern="1200" baseline="0" dirty="0">
              <a:latin typeface="Arial" panose="020B0604020202020204" pitchFamily="34" charset="0"/>
              <a:cs typeface="Arial" panose="020B0604020202020204" pitchFamily="34" charset="0"/>
            </a:rPr>
            <a:t> </a:t>
          </a:r>
          <a:r>
            <a:rPr lang="it-IT" sz="1500" b="0" i="0" kern="1200" baseline="0" dirty="0" err="1">
              <a:latin typeface="Arial" panose="020B0604020202020204" pitchFamily="34" charset="0"/>
              <a:cs typeface="Arial" panose="020B0604020202020204" pitchFamily="34" charset="0"/>
            </a:rPr>
            <a:t>were</a:t>
          </a:r>
          <a:r>
            <a:rPr lang="it-IT" sz="1500" b="0" i="0" kern="1200" baseline="0" dirty="0">
              <a:latin typeface="Arial" panose="020B0604020202020204" pitchFamily="34" charset="0"/>
              <a:cs typeface="Arial" panose="020B0604020202020204" pitchFamily="34" charset="0"/>
            </a:rPr>
            <a:t> </a:t>
          </a:r>
          <a:r>
            <a:rPr lang="it-IT" sz="1500" b="0" i="0" kern="1200" baseline="0" dirty="0" err="1">
              <a:latin typeface="Arial" panose="020B0604020202020204" pitchFamily="34" charset="0"/>
              <a:cs typeface="Arial" panose="020B0604020202020204" pitchFamily="34" charset="0"/>
            </a:rPr>
            <a:t>significant</a:t>
          </a:r>
          <a:r>
            <a:rPr lang="it-IT" sz="1500" b="0" i="0" kern="1200" baseline="0" dirty="0">
              <a:latin typeface="Arial" panose="020B0604020202020204" pitchFamily="34" charset="0"/>
              <a:cs typeface="Arial" panose="020B0604020202020204" pitchFamily="34" charset="0"/>
            </a:rPr>
            <a:t> </a:t>
          </a:r>
          <a:r>
            <a:rPr lang="it-IT" sz="1500" b="0" i="0" kern="1200" baseline="0" dirty="0" err="1">
              <a:latin typeface="Arial" panose="020B0604020202020204" pitchFamily="34" charset="0"/>
              <a:cs typeface="Arial" panose="020B0604020202020204" pitchFamily="34" charset="0"/>
            </a:rPr>
            <a:t>predictors</a:t>
          </a:r>
          <a:r>
            <a:rPr lang="it-IT" sz="1500" b="0" i="0" kern="1200" baseline="0" dirty="0">
              <a:latin typeface="Arial" panose="020B0604020202020204" pitchFamily="34" charset="0"/>
              <a:cs typeface="Arial" panose="020B0604020202020204" pitchFamily="34" charset="0"/>
            </a:rPr>
            <a:t> of </a:t>
          </a:r>
          <a:r>
            <a:rPr lang="it-IT" sz="1500" b="0" i="0" kern="1200" baseline="0" dirty="0" err="1">
              <a:latin typeface="Arial" panose="020B0604020202020204" pitchFamily="34" charset="0"/>
              <a:cs typeface="Arial" panose="020B0604020202020204" pitchFamily="34" charset="0"/>
            </a:rPr>
            <a:t>diabetes</a:t>
          </a:r>
          <a:r>
            <a:rPr lang="it-IT" sz="1500" b="0" i="0" kern="1200" baseline="0" dirty="0">
              <a:latin typeface="Arial" panose="020B0604020202020204" pitchFamily="34" charset="0"/>
              <a:cs typeface="Arial" panose="020B0604020202020204" pitchFamily="34" charset="0"/>
            </a:rPr>
            <a:t>.</a:t>
          </a:r>
          <a:endParaRPr lang="en-US" sz="1500" kern="1200" dirty="0">
            <a:latin typeface="Arial" panose="020B0604020202020204" pitchFamily="34" charset="0"/>
            <a:cs typeface="Arial" panose="020B0604020202020204" pitchFamily="34" charset="0"/>
          </a:endParaRPr>
        </a:p>
      </dsp:txBody>
      <dsp:txXfrm>
        <a:off x="0" y="2051343"/>
        <a:ext cx="5944256" cy="512460"/>
      </dsp:txXfrm>
    </dsp:sp>
    <dsp:sp modelId="{8D26FF05-31A6-2342-86C2-B0CEB78BBE0F}">
      <dsp:nvSpPr>
        <dsp:cNvPr id="0" name=""/>
        <dsp:cNvSpPr/>
      </dsp:nvSpPr>
      <dsp:spPr>
        <a:xfrm>
          <a:off x="0" y="2563803"/>
          <a:ext cx="5944256"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8BED5E0-5807-5246-8E00-3852A82CA762}">
      <dsp:nvSpPr>
        <dsp:cNvPr id="0" name=""/>
        <dsp:cNvSpPr/>
      </dsp:nvSpPr>
      <dsp:spPr>
        <a:xfrm>
          <a:off x="0" y="2563803"/>
          <a:ext cx="5944256" cy="51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it-IT" sz="1500" b="0" i="0" kern="1200" baseline="0">
              <a:latin typeface="Arial" panose="020B0604020202020204" pitchFamily="34" charset="0"/>
              <a:cs typeface="Arial" panose="020B0604020202020204" pitchFamily="34" charset="0"/>
            </a:rPr>
            <a:t>The </a:t>
          </a:r>
          <a:r>
            <a:rPr lang="it-IT" sz="1500" b="1" i="0" kern="1200" baseline="0">
              <a:latin typeface="Arial" panose="020B0604020202020204" pitchFamily="34" charset="0"/>
              <a:cs typeface="Arial" panose="020B0604020202020204" pitchFamily="34" charset="0"/>
            </a:rPr>
            <a:t>BMI × Age interaction</a:t>
          </a:r>
          <a:r>
            <a:rPr lang="it-IT" sz="1500" b="0" i="0" kern="1200" baseline="0">
              <a:latin typeface="Arial" panose="020B0604020202020204" pitchFamily="34" charset="0"/>
              <a:cs typeface="Arial" panose="020B0604020202020204" pitchFamily="34" charset="0"/>
            </a:rPr>
            <a:t> was not statistically significant.</a:t>
          </a:r>
          <a:endParaRPr lang="en-US" sz="1500" kern="1200">
            <a:latin typeface="Arial" panose="020B0604020202020204" pitchFamily="34" charset="0"/>
            <a:cs typeface="Arial" panose="020B0604020202020204" pitchFamily="34" charset="0"/>
          </a:endParaRPr>
        </a:p>
      </dsp:txBody>
      <dsp:txXfrm>
        <a:off x="0" y="2563803"/>
        <a:ext cx="5944256" cy="5124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223493-2A19-304E-AE1B-8DFB8317D28D}">
      <dsp:nvSpPr>
        <dsp:cNvPr id="0" name=""/>
        <dsp:cNvSpPr/>
      </dsp:nvSpPr>
      <dsp:spPr>
        <a:xfrm>
          <a:off x="587085" y="665821"/>
          <a:ext cx="6095999" cy="3278220"/>
        </a:xfrm>
        <a:prstGeom prst="round2DiagRect">
          <a:avLst>
            <a:gd name="adj1" fmla="val 0"/>
            <a:gd name="adj2" fmla="val 16670"/>
          </a:avLst>
        </a:prstGeom>
        <a:solidFill>
          <a:schemeClr val="l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4FC53C8-5C62-BA4A-BE65-3333575CD404}">
      <dsp:nvSpPr>
        <dsp:cNvPr id="0" name=""/>
        <dsp:cNvSpPr/>
      </dsp:nvSpPr>
      <dsp:spPr>
        <a:xfrm>
          <a:off x="4064000" y="1417913"/>
          <a:ext cx="812" cy="258284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a:scene3d>
          <a:camera prst="orthographicFront"/>
          <a:lightRig rig="chilly" dir="t"/>
        </a:scene3d>
        <a:sp3d z="127000" prstMaterial="matte"/>
      </dsp:spPr>
      <dsp:style>
        <a:lnRef idx="2">
          <a:scrgbClr r="0" g="0" b="0"/>
        </a:lnRef>
        <a:fillRef idx="1">
          <a:scrgbClr r="0" g="0" b="0"/>
        </a:fillRef>
        <a:effectRef idx="0">
          <a:scrgbClr r="0" g="0" b="0"/>
        </a:effectRef>
        <a:fontRef idx="minor"/>
      </dsp:style>
    </dsp:sp>
    <dsp:sp modelId="{3D75778B-4437-144F-A41B-E1F8DFF83AD4}">
      <dsp:nvSpPr>
        <dsp:cNvPr id="0" name=""/>
        <dsp:cNvSpPr/>
      </dsp:nvSpPr>
      <dsp:spPr>
        <a:xfrm>
          <a:off x="1215316" y="970076"/>
          <a:ext cx="2641600" cy="27815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SzTx/>
            <a:buNone/>
          </a:pPr>
          <a:endParaRPr 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dirty="0">
              <a:solidFill>
                <a:srgbClr val="000000"/>
              </a:solidFill>
              <a:latin typeface="Arial" panose="020B0604020202020204" pitchFamily="34" charset="0"/>
              <a:cs typeface="Arial" panose="020B0604020202020204" pitchFamily="34" charset="0"/>
            </a:rPr>
            <a:t>✔ Data </a:t>
          </a:r>
          <a:r>
            <a:rPr lang="it-IT" altLang="it-IT" sz="1600" kern="1200" dirty="0" err="1">
              <a:solidFill>
                <a:srgbClr val="000000"/>
              </a:solidFill>
              <a:latin typeface="Arial" panose="020B0604020202020204" pitchFamily="34" charset="0"/>
              <a:cs typeface="Arial" panose="020B0604020202020204" pitchFamily="34" charset="0"/>
            </a:rPr>
            <a:t>cleaning</a:t>
          </a:r>
          <a:r>
            <a:rPr lang="it-IT" altLang="it-IT" sz="1600" kern="1200" dirty="0">
              <a:solidFill>
                <a:srgbClr val="000000"/>
              </a:solidFill>
              <a:latin typeface="Arial" panose="020B0604020202020204" pitchFamily="34" charset="0"/>
              <a:cs typeface="Arial" panose="020B0604020202020204" pitchFamily="34" charset="0"/>
            </a:rPr>
            <a:t> &amp; </a:t>
          </a:r>
          <a:r>
            <a:rPr lang="it-IT" altLang="it-IT" sz="1600" kern="1200" dirty="0" err="1">
              <a:solidFill>
                <a:srgbClr val="000000"/>
              </a:solidFill>
              <a:latin typeface="Arial" panose="020B0604020202020204" pitchFamily="34" charset="0"/>
              <a:cs typeface="Arial" panose="020B0604020202020204" pitchFamily="34" charset="0"/>
            </a:rPr>
            <a:t>missing</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value</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imputation</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Additional</a:t>
          </a:r>
          <a:r>
            <a:rPr lang="it-IT" altLang="it-IT" sz="1600" kern="1200" dirty="0">
              <a:solidFill>
                <a:srgbClr val="000000"/>
              </a:solidFill>
              <a:latin typeface="Arial" panose="020B0604020202020204" pitchFamily="34" charset="0"/>
              <a:cs typeface="Arial" panose="020B0604020202020204" pitchFamily="34" charset="0"/>
            </a:rPr>
            <a:t> clinical &amp; lifestyle </a:t>
          </a:r>
          <a:r>
            <a:rPr lang="it-IT" altLang="it-IT" sz="1600" kern="1200" dirty="0" err="1">
              <a:solidFill>
                <a:srgbClr val="000000"/>
              </a:solidFill>
              <a:latin typeface="Arial" panose="020B0604020202020204" pitchFamily="34" charset="0"/>
              <a:cs typeface="Arial" panose="020B0604020202020204" pitchFamily="34" charset="0"/>
            </a:rPr>
            <a:t>variables</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a:solidFill>
                <a:srgbClr val="000000"/>
              </a:solidFill>
              <a:latin typeface="Arial" panose="020B0604020202020204" pitchFamily="34" charset="0"/>
              <a:cs typeface="Arial" panose="020B0604020202020204" pitchFamily="34" charset="0"/>
            </a:rPr>
            <a:t>✔ Machine learning models (Random Forest, XGBoost)</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External</a:t>
          </a:r>
          <a:r>
            <a:rPr lang="it-IT" altLang="it-IT" sz="1600" kern="1200" dirty="0">
              <a:solidFill>
                <a:srgbClr val="000000"/>
              </a:solidFill>
              <a:latin typeface="Arial" panose="020B0604020202020204" pitchFamily="34" charset="0"/>
              <a:cs typeface="Arial" panose="020B0604020202020204" pitchFamily="34" charset="0"/>
            </a:rPr>
            <a:t> dataset </a:t>
          </a:r>
          <a:r>
            <a:rPr lang="it-IT" altLang="it-IT" sz="1600" kern="1200" dirty="0" err="1">
              <a:solidFill>
                <a:srgbClr val="000000"/>
              </a:solidFill>
              <a:latin typeface="Arial" panose="020B0604020202020204" pitchFamily="34" charset="0"/>
              <a:cs typeface="Arial" panose="020B0604020202020204" pitchFamily="34" charset="0"/>
            </a:rPr>
            <a:t>validation</a:t>
          </a:r>
          <a:endParaRPr lang="it-IT" altLang="it-IT" sz="1600" kern="1200" dirty="0">
            <a:solidFill>
              <a:srgbClr val="000000"/>
            </a:solidFill>
            <a:latin typeface="Arial" panose="020B0604020202020204" pitchFamily="34" charset="0"/>
            <a:cs typeface="Arial" panose="020B0604020202020204" pitchFamily="34" charset="0"/>
          </a:endParaRPr>
        </a:p>
      </dsp:txBody>
      <dsp:txXfrm>
        <a:off x="1215316" y="970076"/>
        <a:ext cx="2641600" cy="2781520"/>
      </dsp:txXfrm>
    </dsp:sp>
    <dsp:sp modelId="{2C1FDDBB-DDDF-2F40-ACC3-39EA782029B0}">
      <dsp:nvSpPr>
        <dsp:cNvPr id="0" name=""/>
        <dsp:cNvSpPr/>
      </dsp:nvSpPr>
      <dsp:spPr>
        <a:xfrm>
          <a:off x="4273566" y="864879"/>
          <a:ext cx="2641600" cy="27815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endParaRPr 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dirty="0">
              <a:solidFill>
                <a:srgbClr val="000000"/>
              </a:solidFill>
              <a:latin typeface="Arial" panose="020B0604020202020204" pitchFamily="34" charset="0"/>
              <a:cs typeface="Arial" panose="020B0604020202020204" pitchFamily="34" charset="0"/>
            </a:rPr>
            <a:t>❌ Zero </a:t>
          </a:r>
          <a:r>
            <a:rPr lang="it-IT" altLang="it-IT" sz="1600" kern="1200" dirty="0" err="1">
              <a:solidFill>
                <a:srgbClr val="000000"/>
              </a:solidFill>
              <a:latin typeface="Arial" panose="020B0604020202020204" pitchFamily="34" charset="0"/>
              <a:cs typeface="Arial" panose="020B0604020202020204" pitchFamily="34" charset="0"/>
            </a:rPr>
            <a:t>values</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treated</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as</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real</a:t>
          </a:r>
          <a:r>
            <a:rPr lang="it-IT" altLang="it-IT" sz="1600" kern="1200" dirty="0">
              <a:solidFill>
                <a:srgbClr val="000000"/>
              </a:solidFill>
              <a:latin typeface="Arial" panose="020B0604020202020204" pitchFamily="34" charset="0"/>
              <a:cs typeface="Arial" panose="020B0604020202020204" pitchFamily="34" charset="0"/>
            </a:rPr>
            <a:t> </a:t>
          </a:r>
          <a:r>
            <a:rPr lang="it-IT" altLang="it-IT" sz="1600" kern="1200" dirty="0" err="1">
              <a:solidFill>
                <a:srgbClr val="000000"/>
              </a:solidFill>
              <a:latin typeface="Arial" panose="020B0604020202020204" pitchFamily="34" charset="0"/>
              <a:cs typeface="Arial" panose="020B0604020202020204" pitchFamily="34" charset="0"/>
            </a:rPr>
            <a:t>observations</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a:solidFill>
                <a:srgbClr val="000000"/>
              </a:solidFill>
              <a:latin typeface="Arial" panose="020B0604020202020204" pitchFamily="34" charset="0"/>
              <a:cs typeface="Arial" panose="020B0604020202020204" pitchFamily="34" charset="0"/>
            </a:rPr>
            <a:t>❌ Cross-sectional dataset</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a:solidFill>
                <a:srgbClr val="000000"/>
              </a:solidFill>
              <a:latin typeface="Arial" panose="020B0604020202020204" pitchFamily="34" charset="0"/>
              <a:cs typeface="Arial" panose="020B0604020202020204" pitchFamily="34" charset="0"/>
            </a:rPr>
            <a:t>❌ Limited predictor variables</a:t>
          </a:r>
          <a:endParaRPr lang="it-IT" altLang="it-IT" sz="1600" kern="1200" dirty="0">
            <a:latin typeface="Arial" panose="020B0604020202020204" pitchFamily="34" charset="0"/>
            <a:cs typeface="Arial" panose="020B0604020202020204" pitchFamily="34" charset="0"/>
          </a:endParaRPr>
        </a:p>
        <a:p>
          <a:pPr marL="0" lvl="0" indent="0" algn="l" defTabSz="711200">
            <a:lnSpc>
              <a:spcPct val="90000"/>
            </a:lnSpc>
            <a:spcBef>
              <a:spcPct val="0"/>
            </a:spcBef>
            <a:spcAft>
              <a:spcPct val="35000"/>
            </a:spcAft>
            <a:buNone/>
          </a:pPr>
          <a:r>
            <a:rPr lang="it-IT" altLang="it-IT" sz="1600" kern="1200" dirty="0">
              <a:solidFill>
                <a:srgbClr val="000000"/>
              </a:solidFill>
              <a:latin typeface="Arial" panose="020B0604020202020204" pitchFamily="34" charset="0"/>
              <a:cs typeface="Arial" panose="020B0604020202020204" pitchFamily="34" charset="0"/>
            </a:rPr>
            <a:t>❌ Moderate model performance (R² = 23%)</a:t>
          </a:r>
          <a:endParaRPr lang="it-IT" altLang="it-IT" sz="1600" kern="1200" dirty="0">
            <a:latin typeface="Arial" panose="020B0604020202020204" pitchFamily="34" charset="0"/>
            <a:cs typeface="Arial" panose="020B0604020202020204" pitchFamily="34" charset="0"/>
          </a:endParaRPr>
        </a:p>
      </dsp:txBody>
      <dsp:txXfrm>
        <a:off x="4273566" y="864879"/>
        <a:ext cx="2641600" cy="2781520"/>
      </dsp:txXfrm>
    </dsp:sp>
    <dsp:sp modelId="{2D60F5DF-1C56-414F-A35F-51482EAF91E6}">
      <dsp:nvSpPr>
        <dsp:cNvPr id="0" name=""/>
        <dsp:cNvSpPr/>
      </dsp:nvSpPr>
      <dsp:spPr>
        <a:xfrm rot="16200000">
          <a:off x="-1280120" y="1505953"/>
          <a:ext cx="3576240" cy="1016000"/>
        </a:xfrm>
        <a:prstGeom prst="rightArrow">
          <a:avLst>
            <a:gd name="adj1" fmla="val 49830"/>
            <a:gd name="adj2" fmla="val 60660"/>
          </a:avLst>
        </a:prstGeom>
        <a:solidFill>
          <a:schemeClr val="dk2">
            <a:tint val="4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r" defTabSz="1022350">
            <a:lnSpc>
              <a:spcPct val="90000"/>
            </a:lnSpc>
            <a:spcBef>
              <a:spcPct val="0"/>
            </a:spcBef>
            <a:spcAft>
              <a:spcPct val="35000"/>
            </a:spcAft>
            <a:buNone/>
          </a:pPr>
          <a:r>
            <a:rPr lang="it-IT" sz="2300" kern="1200" dirty="0"/>
            <a:t>Future Work</a:t>
          </a:r>
        </a:p>
      </dsp:txBody>
      <dsp:txXfrm>
        <a:off x="-1126567" y="1914370"/>
        <a:ext cx="3269135" cy="506272"/>
      </dsp:txXfrm>
    </dsp:sp>
    <dsp:sp modelId="{A5D0452E-3488-4043-A684-D8F296091C0A}">
      <dsp:nvSpPr>
        <dsp:cNvPr id="0" name=""/>
        <dsp:cNvSpPr/>
      </dsp:nvSpPr>
      <dsp:spPr>
        <a:xfrm rot="5400000">
          <a:off x="5127060" y="2453474"/>
          <a:ext cx="3576240" cy="1016000"/>
        </a:xfrm>
        <a:prstGeom prst="rightArrow">
          <a:avLst>
            <a:gd name="adj1" fmla="val 49830"/>
            <a:gd name="adj2" fmla="val 60660"/>
          </a:avLst>
        </a:prstGeom>
        <a:solidFill>
          <a:schemeClr val="dk2">
            <a:tint val="4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r" defTabSz="1022350">
            <a:lnSpc>
              <a:spcPct val="90000"/>
            </a:lnSpc>
            <a:spcBef>
              <a:spcPct val="0"/>
            </a:spcBef>
            <a:spcAft>
              <a:spcPct val="35000"/>
            </a:spcAft>
            <a:buNone/>
          </a:pPr>
          <a:r>
            <a:rPr lang="it-IT" sz="2300" kern="1200" dirty="0" err="1"/>
            <a:t>Limitations</a:t>
          </a:r>
          <a:endParaRPr lang="it-IT" sz="2300" kern="1200" dirty="0"/>
        </a:p>
      </dsp:txBody>
      <dsp:txXfrm>
        <a:off x="5280613" y="2554786"/>
        <a:ext cx="3269135" cy="5062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2EE050-01E1-7244-BAAE-288CA8977C7C}">
      <dsp:nvSpPr>
        <dsp:cNvPr id="0" name=""/>
        <dsp:cNvSpPr/>
      </dsp:nvSpPr>
      <dsp:spPr>
        <a:xfrm>
          <a:off x="0" y="699480"/>
          <a:ext cx="10890928" cy="327600"/>
        </a:xfrm>
        <a:prstGeom prst="roundRect">
          <a:avLst/>
        </a:prstGeom>
        <a:no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1" i="0" kern="1200" baseline="0" dirty="0">
              <a:latin typeface="Arial" panose="020B0604020202020204" pitchFamily="34" charset="0"/>
              <a:cs typeface="Arial" panose="020B0604020202020204" pitchFamily="34" charset="0"/>
            </a:rPr>
            <a:t>Key </a:t>
          </a:r>
          <a:r>
            <a:rPr lang="it-IT" sz="1400" b="1" i="0" kern="1200" baseline="0" dirty="0" err="1">
              <a:latin typeface="Arial" panose="020B0604020202020204" pitchFamily="34" charset="0"/>
              <a:cs typeface="Arial" panose="020B0604020202020204" pitchFamily="34" charset="0"/>
            </a:rPr>
            <a:t>Findings</a:t>
          </a:r>
          <a:endParaRPr lang="en-US" sz="1400" kern="1200" dirty="0">
            <a:latin typeface="Arial" panose="020B0604020202020204" pitchFamily="34" charset="0"/>
            <a:cs typeface="Arial" panose="020B0604020202020204" pitchFamily="34" charset="0"/>
          </a:endParaRPr>
        </a:p>
      </dsp:txBody>
      <dsp:txXfrm>
        <a:off x="15992" y="715472"/>
        <a:ext cx="10858944" cy="295616"/>
      </dsp:txXfrm>
    </dsp:sp>
    <dsp:sp modelId="{9896CE08-C7C7-354E-91A4-F89D6C6395F0}">
      <dsp:nvSpPr>
        <dsp:cNvPr id="0" name=""/>
        <dsp:cNvSpPr/>
      </dsp:nvSpPr>
      <dsp:spPr>
        <a:xfrm>
          <a:off x="0" y="1067400"/>
          <a:ext cx="10890928" cy="3276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0" i="0" kern="1200" baseline="0" dirty="0">
              <a:latin typeface="Arial" panose="020B0604020202020204" pitchFamily="34" charset="0"/>
              <a:cs typeface="Arial" panose="020B0604020202020204" pitchFamily="34" charset="0"/>
            </a:rPr>
            <a:t> </a:t>
          </a:r>
          <a:r>
            <a:rPr lang="it-IT" sz="1400" b="1" i="0" kern="1200" baseline="0" dirty="0">
              <a:latin typeface="Arial" panose="020B0604020202020204" pitchFamily="34" charset="0"/>
              <a:cs typeface="Arial" panose="020B0604020202020204" pitchFamily="34" charset="0"/>
            </a:rPr>
            <a:t>768 </a:t>
          </a:r>
          <a:r>
            <a:rPr lang="it-IT" sz="1400" b="1" i="0" kern="1200" baseline="0" dirty="0" err="1">
              <a:latin typeface="Arial" panose="020B0604020202020204" pitchFamily="34" charset="0"/>
              <a:cs typeface="Arial" panose="020B0604020202020204" pitchFamily="34" charset="0"/>
            </a:rPr>
            <a:t>participants</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were</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analysed</a:t>
          </a:r>
          <a:r>
            <a:rPr lang="it-IT" sz="1400" b="0" i="0" kern="1200" baseline="0" dirty="0">
              <a:latin typeface="Arial" panose="020B0604020202020204" pitchFamily="34" charset="0"/>
              <a:cs typeface="Arial" panose="020B0604020202020204" pitchFamily="34" charset="0"/>
            </a:rPr>
            <a:t>.</a:t>
          </a:r>
          <a:endParaRPr lang="en-US" sz="1400" kern="1200" dirty="0">
            <a:latin typeface="Arial" panose="020B0604020202020204" pitchFamily="34" charset="0"/>
            <a:cs typeface="Arial" panose="020B0604020202020204" pitchFamily="34" charset="0"/>
          </a:endParaRPr>
        </a:p>
      </dsp:txBody>
      <dsp:txXfrm>
        <a:off x="15992" y="1083392"/>
        <a:ext cx="10858944" cy="295616"/>
      </dsp:txXfrm>
    </dsp:sp>
    <dsp:sp modelId="{FA82D0B2-DB4C-A74E-A207-1BDF18288589}">
      <dsp:nvSpPr>
        <dsp:cNvPr id="0" name=""/>
        <dsp:cNvSpPr/>
      </dsp:nvSpPr>
      <dsp:spPr>
        <a:xfrm>
          <a:off x="0" y="1435320"/>
          <a:ext cx="10890928" cy="3276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0" i="0" kern="1200" baseline="0" dirty="0">
              <a:latin typeface="Arial" panose="020B0604020202020204" pitchFamily="34" charset="0"/>
              <a:cs typeface="Arial" panose="020B0604020202020204" pitchFamily="34" charset="0"/>
            </a:rPr>
            <a:t> </a:t>
          </a:r>
          <a:r>
            <a:rPr lang="it-IT" sz="1400" b="1" i="0" kern="1200" baseline="0" dirty="0">
              <a:latin typeface="Arial" panose="020B0604020202020204" pitchFamily="34" charset="0"/>
              <a:cs typeface="Arial" panose="020B0604020202020204" pitchFamily="34" charset="0"/>
            </a:rPr>
            <a:t>34.9%</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were</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diagnosed</a:t>
          </a:r>
          <a:r>
            <a:rPr lang="it-IT" sz="1400" b="0" i="0" kern="1200" baseline="0" dirty="0">
              <a:latin typeface="Arial" panose="020B0604020202020204" pitchFamily="34" charset="0"/>
              <a:cs typeface="Arial" panose="020B0604020202020204" pitchFamily="34" charset="0"/>
            </a:rPr>
            <a:t> with </a:t>
          </a:r>
          <a:r>
            <a:rPr lang="it-IT" sz="1400" b="0" i="0" kern="1200" baseline="0" dirty="0" err="1">
              <a:latin typeface="Arial" panose="020B0604020202020204" pitchFamily="34" charset="0"/>
              <a:cs typeface="Arial" panose="020B0604020202020204" pitchFamily="34" charset="0"/>
            </a:rPr>
            <a:t>diabetes</a:t>
          </a:r>
          <a:r>
            <a:rPr lang="it-IT" sz="1400" b="0" i="0" kern="1200" baseline="0" dirty="0">
              <a:latin typeface="Arial" panose="020B0604020202020204" pitchFamily="34" charset="0"/>
              <a:cs typeface="Arial" panose="020B0604020202020204" pitchFamily="34" charset="0"/>
            </a:rPr>
            <a:t>.</a:t>
          </a:r>
          <a:endParaRPr lang="en-US" sz="1400" kern="1200" dirty="0">
            <a:latin typeface="Arial" panose="020B0604020202020204" pitchFamily="34" charset="0"/>
            <a:cs typeface="Arial" panose="020B0604020202020204" pitchFamily="34" charset="0"/>
          </a:endParaRPr>
        </a:p>
      </dsp:txBody>
      <dsp:txXfrm>
        <a:off x="15992" y="1451312"/>
        <a:ext cx="10858944" cy="295616"/>
      </dsp:txXfrm>
    </dsp:sp>
    <dsp:sp modelId="{7FC8DD25-7B95-8940-95B1-0030734011B0}">
      <dsp:nvSpPr>
        <dsp:cNvPr id="0" name=""/>
        <dsp:cNvSpPr/>
      </dsp:nvSpPr>
      <dsp:spPr>
        <a:xfrm>
          <a:off x="0" y="1803240"/>
          <a:ext cx="10890928" cy="3276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1" i="0" kern="1200" baseline="0" dirty="0">
              <a:latin typeface="Arial" panose="020B0604020202020204" pitchFamily="34" charset="0"/>
              <a:cs typeface="Arial" panose="020B0604020202020204" pitchFamily="34" charset="0"/>
            </a:rPr>
            <a:t>Age, BMI and </a:t>
          </a:r>
          <a:r>
            <a:rPr lang="it-IT" sz="1400" b="1" i="0" kern="1200" baseline="0" dirty="0" err="1">
              <a:latin typeface="Arial" panose="020B0604020202020204" pitchFamily="34" charset="0"/>
              <a:cs typeface="Arial" panose="020B0604020202020204" pitchFamily="34" charset="0"/>
            </a:rPr>
            <a:t>Glucose</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were</a:t>
          </a:r>
          <a:r>
            <a:rPr lang="it-IT" sz="1400" b="0" i="0" kern="1200" baseline="0" dirty="0">
              <a:latin typeface="Arial" panose="020B0604020202020204" pitchFamily="34" charset="0"/>
              <a:cs typeface="Arial" panose="020B0604020202020204" pitchFamily="34" charset="0"/>
            </a:rPr>
            <a:t> the </a:t>
          </a:r>
          <a:r>
            <a:rPr lang="it-IT" sz="1400" b="0" i="0" kern="1200" baseline="0" dirty="0" err="1">
              <a:latin typeface="Arial" panose="020B0604020202020204" pitchFamily="34" charset="0"/>
              <a:cs typeface="Arial" panose="020B0604020202020204" pitchFamily="34" charset="0"/>
            </a:rPr>
            <a:t>strongest</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factors</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associated</a:t>
          </a:r>
          <a:r>
            <a:rPr lang="it-IT" sz="1400" b="0" i="0" kern="1200" baseline="0" dirty="0">
              <a:latin typeface="Arial" panose="020B0604020202020204" pitchFamily="34" charset="0"/>
              <a:cs typeface="Arial" panose="020B0604020202020204" pitchFamily="34" charset="0"/>
            </a:rPr>
            <a:t> with </a:t>
          </a:r>
          <a:r>
            <a:rPr lang="it-IT" sz="1400" b="0" i="0" kern="1200" baseline="0" dirty="0" err="1">
              <a:latin typeface="Arial" panose="020B0604020202020204" pitchFamily="34" charset="0"/>
              <a:cs typeface="Arial" panose="020B0604020202020204" pitchFamily="34" charset="0"/>
            </a:rPr>
            <a:t>diabetes</a:t>
          </a:r>
          <a:r>
            <a:rPr lang="it-IT" sz="1400" b="0" i="0" kern="1200" baseline="0" dirty="0">
              <a:latin typeface="Arial" panose="020B0604020202020204" pitchFamily="34" charset="0"/>
              <a:cs typeface="Arial" panose="020B0604020202020204" pitchFamily="34" charset="0"/>
            </a:rPr>
            <a:t>.</a:t>
          </a:r>
          <a:endParaRPr lang="en-US" sz="1400" kern="1200" dirty="0">
            <a:latin typeface="Arial" panose="020B0604020202020204" pitchFamily="34" charset="0"/>
            <a:cs typeface="Arial" panose="020B0604020202020204" pitchFamily="34" charset="0"/>
          </a:endParaRPr>
        </a:p>
      </dsp:txBody>
      <dsp:txXfrm>
        <a:off x="15992" y="1819232"/>
        <a:ext cx="10858944" cy="295616"/>
      </dsp:txXfrm>
    </dsp:sp>
    <dsp:sp modelId="{65D66A8F-E930-3448-A252-1E5DC30FCE50}">
      <dsp:nvSpPr>
        <dsp:cNvPr id="0" name=""/>
        <dsp:cNvSpPr/>
      </dsp:nvSpPr>
      <dsp:spPr>
        <a:xfrm>
          <a:off x="0" y="2171160"/>
          <a:ext cx="10890928" cy="3276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0" i="0" kern="1200" baseline="0" dirty="0" err="1">
              <a:latin typeface="Arial" panose="020B0604020202020204" pitchFamily="34" charset="0"/>
              <a:cs typeface="Arial" panose="020B0604020202020204" pitchFamily="34" charset="0"/>
            </a:rPr>
            <a:t>Significant</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differences</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were</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found</a:t>
          </a:r>
          <a:r>
            <a:rPr lang="it-IT" sz="1400" b="0" i="0" kern="1200" baseline="0" dirty="0">
              <a:latin typeface="Arial" panose="020B0604020202020204" pitchFamily="34" charset="0"/>
              <a:cs typeface="Arial" panose="020B0604020202020204" pitchFamily="34" charset="0"/>
            </a:rPr>
            <a:t> in </a:t>
          </a:r>
          <a:r>
            <a:rPr lang="it-IT" sz="1400" b="1" i="0" kern="1200" baseline="0" dirty="0" err="1">
              <a:latin typeface="Arial" panose="020B0604020202020204" pitchFamily="34" charset="0"/>
              <a:cs typeface="Arial" panose="020B0604020202020204" pitchFamily="34" charset="0"/>
            </a:rPr>
            <a:t>glucose</a:t>
          </a:r>
          <a:r>
            <a:rPr lang="it-IT" sz="1400" b="1" i="0" kern="1200" baseline="0" dirty="0">
              <a:latin typeface="Arial" panose="020B0604020202020204" pitchFamily="34" charset="0"/>
              <a:cs typeface="Arial" panose="020B0604020202020204" pitchFamily="34" charset="0"/>
            </a:rPr>
            <a:t> </a:t>
          </a:r>
          <a:r>
            <a:rPr lang="it-IT" sz="1400" b="1" i="0" kern="1200" baseline="0" dirty="0" err="1">
              <a:latin typeface="Arial" panose="020B0604020202020204" pitchFamily="34" charset="0"/>
              <a:cs typeface="Arial" panose="020B0604020202020204" pitchFamily="34" charset="0"/>
            </a:rPr>
            <a:t>levels</a:t>
          </a:r>
          <a:r>
            <a:rPr lang="it-IT" sz="1400" b="0" i="0" kern="1200" baseline="0" dirty="0">
              <a:latin typeface="Arial" panose="020B0604020202020204" pitchFamily="34" charset="0"/>
              <a:cs typeface="Arial" panose="020B0604020202020204" pitchFamily="34" charset="0"/>
            </a:rPr>
            <a:t> and </a:t>
          </a:r>
          <a:r>
            <a:rPr lang="it-IT" sz="1400" b="1" i="0" kern="1200" baseline="0" dirty="0" err="1">
              <a:latin typeface="Arial" panose="020B0604020202020204" pitchFamily="34" charset="0"/>
              <a:cs typeface="Arial" panose="020B0604020202020204" pitchFamily="34" charset="0"/>
            </a:rPr>
            <a:t>number</a:t>
          </a:r>
          <a:r>
            <a:rPr lang="it-IT" sz="1400" b="1" i="0" kern="1200" baseline="0" dirty="0">
              <a:latin typeface="Arial" panose="020B0604020202020204" pitchFamily="34" charset="0"/>
              <a:cs typeface="Arial" panose="020B0604020202020204" pitchFamily="34" charset="0"/>
            </a:rPr>
            <a:t> of </a:t>
          </a:r>
          <a:r>
            <a:rPr lang="it-IT" sz="1400" b="1" i="0" kern="1200" baseline="0" dirty="0" err="1">
              <a:latin typeface="Arial" panose="020B0604020202020204" pitchFamily="34" charset="0"/>
              <a:cs typeface="Arial" panose="020B0604020202020204" pitchFamily="34" charset="0"/>
            </a:rPr>
            <a:t>pregnancies</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between</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diabetic</a:t>
          </a:r>
          <a:r>
            <a:rPr lang="it-IT" sz="1400" b="0" i="0" kern="1200" baseline="0" dirty="0">
              <a:latin typeface="Arial" panose="020B0604020202020204" pitchFamily="34" charset="0"/>
              <a:cs typeface="Arial" panose="020B0604020202020204" pitchFamily="34" charset="0"/>
            </a:rPr>
            <a:t> and non-</a:t>
          </a:r>
          <a:r>
            <a:rPr lang="it-IT" sz="1400" b="0" i="0" kern="1200" baseline="0" dirty="0" err="1">
              <a:latin typeface="Arial" panose="020B0604020202020204" pitchFamily="34" charset="0"/>
              <a:cs typeface="Arial" panose="020B0604020202020204" pitchFamily="34" charset="0"/>
            </a:rPr>
            <a:t>diabetic</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individuals</a:t>
          </a:r>
          <a:r>
            <a:rPr lang="it-IT" sz="1400" b="0" i="0" kern="1200" baseline="0" dirty="0">
              <a:latin typeface="Arial" panose="020B0604020202020204" pitchFamily="34" charset="0"/>
              <a:cs typeface="Arial" panose="020B0604020202020204" pitchFamily="34" charset="0"/>
            </a:rPr>
            <a:t>.</a:t>
          </a:r>
          <a:endParaRPr lang="en-US" sz="1400" kern="1200" dirty="0">
            <a:latin typeface="Arial" panose="020B0604020202020204" pitchFamily="34" charset="0"/>
            <a:cs typeface="Arial" panose="020B0604020202020204" pitchFamily="34" charset="0"/>
          </a:endParaRPr>
        </a:p>
      </dsp:txBody>
      <dsp:txXfrm>
        <a:off x="15992" y="2187152"/>
        <a:ext cx="10858944" cy="295616"/>
      </dsp:txXfrm>
    </dsp:sp>
    <dsp:sp modelId="{56C764E2-FDC8-354E-B62D-894E635E67F6}">
      <dsp:nvSpPr>
        <dsp:cNvPr id="0" name=""/>
        <dsp:cNvSpPr/>
      </dsp:nvSpPr>
      <dsp:spPr>
        <a:xfrm>
          <a:off x="0" y="2539080"/>
          <a:ext cx="10890928" cy="327600"/>
        </a:xfrm>
        <a:prstGeom prst="roundRect">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it-IT" sz="1400" b="0" i="0" kern="1200" baseline="0" dirty="0" err="1">
              <a:latin typeface="Arial" panose="020B0604020202020204" pitchFamily="34" charset="0"/>
              <a:cs typeface="Arial" panose="020B0604020202020204" pitchFamily="34" charset="0"/>
            </a:rPr>
            <a:t>Logistic</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regression</a:t>
          </a:r>
          <a:r>
            <a:rPr lang="it-IT" sz="1400" b="0" i="0" kern="1200" baseline="0" dirty="0">
              <a:latin typeface="Arial" panose="020B0604020202020204" pitchFamily="34" charset="0"/>
              <a:cs typeface="Arial" panose="020B0604020202020204" pitchFamily="34" charset="0"/>
            </a:rPr>
            <a:t> </a:t>
          </a:r>
          <a:r>
            <a:rPr lang="it-IT" sz="1400" b="0" i="0" kern="1200" baseline="0" dirty="0" err="1">
              <a:latin typeface="Arial" panose="020B0604020202020204" pitchFamily="34" charset="0"/>
              <a:cs typeface="Arial" panose="020B0604020202020204" pitchFamily="34" charset="0"/>
            </a:rPr>
            <a:t>achieved</a:t>
          </a:r>
          <a:r>
            <a:rPr lang="it-IT" sz="1400" b="0" i="0" kern="1200" baseline="0" dirty="0">
              <a:latin typeface="Arial" panose="020B0604020202020204" pitchFamily="34" charset="0"/>
              <a:cs typeface="Arial" panose="020B0604020202020204" pitchFamily="34" charset="0"/>
            </a:rPr>
            <a:t> </a:t>
          </a:r>
          <a:r>
            <a:rPr lang="it-IT" sz="1400" b="1" i="0" kern="1200" baseline="0" dirty="0">
              <a:latin typeface="Arial" panose="020B0604020202020204" pitchFamily="34" charset="0"/>
              <a:cs typeface="Arial" panose="020B0604020202020204" pitchFamily="34" charset="0"/>
            </a:rPr>
            <a:t>76.8% </a:t>
          </a:r>
          <a:r>
            <a:rPr lang="it-IT" sz="1400" b="1" i="0" kern="1200" baseline="0" dirty="0" err="1">
              <a:latin typeface="Arial" panose="020B0604020202020204" pitchFamily="34" charset="0"/>
              <a:cs typeface="Arial" panose="020B0604020202020204" pitchFamily="34" charset="0"/>
            </a:rPr>
            <a:t>classification</a:t>
          </a:r>
          <a:r>
            <a:rPr lang="it-IT" sz="1400" b="1" i="0" kern="1200" baseline="0" dirty="0">
              <a:latin typeface="Arial" panose="020B0604020202020204" pitchFamily="34" charset="0"/>
              <a:cs typeface="Arial" panose="020B0604020202020204" pitchFamily="34" charset="0"/>
            </a:rPr>
            <a:t> </a:t>
          </a:r>
          <a:r>
            <a:rPr lang="it-IT" sz="1400" b="1" i="0" kern="1200" baseline="0" dirty="0" err="1">
              <a:latin typeface="Arial" panose="020B0604020202020204" pitchFamily="34" charset="0"/>
              <a:cs typeface="Arial" panose="020B0604020202020204" pitchFamily="34" charset="0"/>
            </a:rPr>
            <a:t>accuracy</a:t>
          </a:r>
          <a:r>
            <a:rPr lang="it-IT" sz="1400" b="0" i="0" kern="1200" baseline="0" dirty="0">
              <a:latin typeface="Arial" panose="020B0604020202020204" pitchFamily="34" charset="0"/>
              <a:cs typeface="Arial" panose="020B0604020202020204" pitchFamily="34" charset="0"/>
            </a:rPr>
            <a:t>.</a:t>
          </a:r>
          <a:endParaRPr lang="en-US" sz="1400" kern="1200" dirty="0">
            <a:latin typeface="Arial" panose="020B0604020202020204" pitchFamily="34" charset="0"/>
            <a:cs typeface="Arial" panose="020B0604020202020204" pitchFamily="34" charset="0"/>
          </a:endParaRPr>
        </a:p>
      </dsp:txBody>
      <dsp:txXfrm>
        <a:off x="15992" y="2555072"/>
        <a:ext cx="10858944" cy="295616"/>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8.png"/></Relationships>
</file>

<file path=ppt/drawings/drawing1.xml><?xml version="1.0" encoding="utf-8"?>
<c:userShapes xmlns:c="http://schemas.openxmlformats.org/drawingml/2006/chart">
  <cdr:relSizeAnchor xmlns:cdr="http://schemas.openxmlformats.org/drawingml/2006/chartDrawing">
    <cdr:from>
      <cdr:x>0.44927</cdr:x>
      <cdr:y>0</cdr:y>
    </cdr:from>
    <cdr:to>
      <cdr:x>0.97734</cdr:x>
      <cdr:y>0.93258</cdr:y>
    </cdr:to>
    <cdr:pic>
      <cdr:nvPicPr>
        <cdr:cNvPr id="3" name="Immagine 2" descr="Immagine che contiene schermata, linea, testo, diagramma&#10;&#10;Il contenuto generato dall'IA potrebbe non essere corretto.">
          <a:extLst xmlns:a="http://schemas.openxmlformats.org/drawingml/2006/main">
            <a:ext uri="{FF2B5EF4-FFF2-40B4-BE49-F238E27FC236}">
              <a16:creationId xmlns:a16="http://schemas.microsoft.com/office/drawing/2014/main" id="{C1825CB0-F22E-449A-0814-E6F0ECF21B9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382836" y="0"/>
          <a:ext cx="2800799" cy="3325143"/>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20523-F094-CD41-B28A-234F11E03B39}" type="datetimeFigureOut">
              <a:rPr lang="it-IT" smtClean="0"/>
              <a:t>18/07/26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D3A83-B29C-B04F-9DA5-2B9203E00F60}" type="slidenum">
              <a:rPr lang="it-IT" smtClean="0"/>
              <a:t>‹N›</a:t>
            </a:fld>
            <a:endParaRPr lang="it-IT"/>
          </a:p>
        </p:txBody>
      </p:sp>
    </p:spTree>
    <p:extLst>
      <p:ext uri="{BB962C8B-B14F-4D97-AF65-F5344CB8AC3E}">
        <p14:creationId xmlns:p14="http://schemas.microsoft.com/office/powerpoint/2010/main" val="3929388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092D3A83-B29C-B04F-9DA5-2B9203E00F60}" type="slidenum">
              <a:rPr lang="it-IT" smtClean="0"/>
              <a:t>1</a:t>
            </a:fld>
            <a:endParaRPr lang="it-IT" dirty="0"/>
          </a:p>
        </p:txBody>
      </p:sp>
    </p:spTree>
    <p:extLst>
      <p:ext uri="{BB962C8B-B14F-4D97-AF65-F5344CB8AC3E}">
        <p14:creationId xmlns:p14="http://schemas.microsoft.com/office/powerpoint/2010/main" val="398528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092D3A83-B29C-B04F-9DA5-2B9203E00F60}" type="slidenum">
              <a:rPr lang="it-IT" smtClean="0"/>
              <a:t>7</a:t>
            </a:fld>
            <a:endParaRPr lang="it-IT"/>
          </a:p>
        </p:txBody>
      </p:sp>
    </p:spTree>
    <p:extLst>
      <p:ext uri="{BB962C8B-B14F-4D97-AF65-F5344CB8AC3E}">
        <p14:creationId xmlns:p14="http://schemas.microsoft.com/office/powerpoint/2010/main" val="878253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7/18/26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904211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7/18/26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047645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7/18/26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3343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7/18/26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307878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7/18/26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151396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7/18/26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279852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7/18/26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85071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7/18/26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374670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7/18/26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3685687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7/18/26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‹N›</a:t>
            </a:fld>
            <a:endParaRPr lang="en-US"/>
          </a:p>
        </p:txBody>
      </p:sp>
    </p:spTree>
    <p:extLst>
      <p:ext uri="{BB962C8B-B14F-4D97-AF65-F5344CB8AC3E}">
        <p14:creationId xmlns:p14="http://schemas.microsoft.com/office/powerpoint/2010/main" val="2371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7/18/26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‹N›</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37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7/18/26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‹N›</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4197920"/>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9" r:id="rId6"/>
    <p:sldLayoutId id="2147483824" r:id="rId7"/>
    <p:sldLayoutId id="2147483825" r:id="rId8"/>
    <p:sldLayoutId id="2147483826" r:id="rId9"/>
    <p:sldLayoutId id="2147483828" r:id="rId10"/>
    <p:sldLayoutId id="214748382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akshaydattatraykhare/diabetes-dataset/data" TargetMode="External"/><Relationship Id="rId2" Type="http://schemas.microsoft.com/office/2018/10/relationships/comments" Target="../comments/modernComment_102_9DE46B3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microsoft.com/office/2018/10/relationships/comments" Target="../comments/modernComment_103_3BB0BC9E.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4_79B40270.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5_A082BEE9.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B467C0C9.xml"/><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jp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7_AE895E2A.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microsoft.com/office/2018/10/relationships/comments" Target="../comments/modernComment_108_F3FBC19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9_E578AF44.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jpg"/><Relationship Id="rId7" Type="http://schemas.openxmlformats.org/officeDocument/2006/relationships/diagramColors" Target="../diagrams/colors2.xml"/><Relationship Id="rId2" Type="http://schemas.microsoft.com/office/2018/10/relationships/comments" Target="../comments/modernComment_10A_F89443B.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8/10/relationships/comments" Target="../comments/modernComment_10B_A5AC221D.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microsoft.com/office/2018/10/relationships/comments" Target="../comments/modernComment_10C_A01A967F.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D_642EC70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0F_AD6D772B.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10_80E895F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microsoft.com/office/2018/10/relationships/comments" Target="../comments/modernComment_112_308F7C9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microsoft.com/office/2018/10/relationships/comments" Target="../comments/modernComment_10E_DC0F77B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2.jpeg"/><Relationship Id="rId7" Type="http://schemas.openxmlformats.org/officeDocument/2006/relationships/diagramColors" Target="../diagrams/colors4.xml"/><Relationship Id="rId2" Type="http://schemas.microsoft.com/office/2018/10/relationships/comments" Target="../comments/modernComment_111_C03EE50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microsoft.com/office/2018/10/relationships/comments" Target="../comments/modernComment_113_FE6E35D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4" name="Straight Connector 9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96" name="Rectangle 9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randview Display"/>
              <a:ea typeface="+mn-ea"/>
              <a:cs typeface="+mn-cs"/>
            </a:endParaRPr>
          </a:p>
        </p:txBody>
      </p:sp>
      <p:pic>
        <p:nvPicPr>
          <p:cNvPr id="20" name="Picture 3">
            <a:extLst>
              <a:ext uri="{FF2B5EF4-FFF2-40B4-BE49-F238E27FC236}">
                <a16:creationId xmlns:a16="http://schemas.microsoft.com/office/drawing/2014/main" id="{B0EA05ED-B0CA-7BC7-7182-EF8993EE7B4D}"/>
              </a:ext>
            </a:extLst>
          </p:cNvPr>
          <p:cNvPicPr>
            <a:picLocks noChangeAspect="1"/>
          </p:cNvPicPr>
          <p:nvPr/>
        </p:nvPicPr>
        <p:blipFill>
          <a:blip r:embed="rId3">
            <a:alphaModFix/>
          </a:blip>
          <a:srcRect l="17967" r="27209" b="-1"/>
          <a:stretch>
            <a:fillRect/>
          </a:stretch>
        </p:blipFill>
        <p:spPr>
          <a:xfrm>
            <a:off x="-4705" y="10"/>
            <a:ext cx="6499994" cy="6857990"/>
          </a:xfrm>
          <a:prstGeom prst="rect">
            <a:avLst/>
          </a:prstGeom>
        </p:spPr>
      </p:pic>
      <p:sp>
        <p:nvSpPr>
          <p:cNvPr id="98" name="Rectangle 97">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randview Display"/>
              <a:ea typeface="+mn-ea"/>
              <a:cs typeface="+mn-cs"/>
            </a:endParaRPr>
          </a:p>
        </p:txBody>
      </p:sp>
      <p:sp>
        <p:nvSpPr>
          <p:cNvPr id="2" name="Titolo 1">
            <a:extLst>
              <a:ext uri="{FF2B5EF4-FFF2-40B4-BE49-F238E27FC236}">
                <a16:creationId xmlns:a16="http://schemas.microsoft.com/office/drawing/2014/main" id="{233F3501-05AC-5642-41E1-5915E12D671B}"/>
              </a:ext>
            </a:extLst>
          </p:cNvPr>
          <p:cNvSpPr>
            <a:spLocks noGrp="1"/>
          </p:cNvSpPr>
          <p:nvPr>
            <p:ph type="ctrTitle"/>
          </p:nvPr>
        </p:nvSpPr>
        <p:spPr>
          <a:xfrm>
            <a:off x="642518" y="1371600"/>
            <a:ext cx="5453481" cy="3111897"/>
          </a:xfrm>
        </p:spPr>
        <p:txBody>
          <a:bodyPr vert="horz" lIns="91440" tIns="45720" rIns="91440" bIns="45720" rtlCol="0" anchor="t">
            <a:normAutofit/>
          </a:bodyPr>
          <a:lstStyle/>
          <a:p>
            <a:pPr>
              <a:lnSpc>
                <a:spcPct val="90000"/>
              </a:lnSpc>
            </a:pPr>
            <a:r>
              <a:rPr lang="en-US" sz="3600" dirty="0">
                <a:solidFill>
                  <a:srgbClr val="FFFFFF"/>
                </a:solidFill>
                <a:latin typeface="Arial" panose="020B0604020202020204" pitchFamily="34" charset="0"/>
                <a:cs typeface="Arial" panose="020B0604020202020204" pitchFamily="34" charset="0"/>
              </a:rPr>
              <a:t>Exploring and Analyzing Diabetes Data Through Statistical Techniques in R</a:t>
            </a:r>
          </a:p>
        </p:txBody>
      </p:sp>
      <p:cxnSp>
        <p:nvCxnSpPr>
          <p:cNvPr id="100" name="Straight Connector 99">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Sottotitolo 2">
            <a:extLst>
              <a:ext uri="{FF2B5EF4-FFF2-40B4-BE49-F238E27FC236}">
                <a16:creationId xmlns:a16="http://schemas.microsoft.com/office/drawing/2014/main" id="{62C2FB6A-6ADA-B9A7-A2AD-A28CDC6DF486}"/>
              </a:ext>
            </a:extLst>
          </p:cNvPr>
          <p:cNvSpPr>
            <a:spLocks noGrp="1"/>
          </p:cNvSpPr>
          <p:nvPr>
            <p:ph type="subTitle" idx="1"/>
          </p:nvPr>
        </p:nvSpPr>
        <p:spPr>
          <a:xfrm>
            <a:off x="7137808" y="1031002"/>
            <a:ext cx="4393201" cy="5266922"/>
          </a:xfrm>
        </p:spPr>
        <p:txBody>
          <a:bodyPr vert="horz" lIns="91440" tIns="45720" rIns="91440" bIns="45720" rtlCol="0">
            <a:normAutofit/>
          </a:bodyPr>
          <a:lstStyle/>
          <a:p>
            <a:pPr>
              <a:lnSpc>
                <a:spcPct val="120000"/>
              </a:lnSpc>
            </a:pPr>
            <a:r>
              <a:rPr lang="en-US" sz="1400" b="0" dirty="0">
                <a:latin typeface="Arial" panose="020B0604020202020204" pitchFamily="34" charset="0"/>
                <a:cs typeface="Arial" panose="020B0604020202020204" pitchFamily="34" charset="0"/>
              </a:rPr>
              <a:t>Yasmin Almeida Ferrera</a:t>
            </a:r>
            <a:br>
              <a:rPr lang="en-US" sz="1400" b="0" dirty="0">
                <a:latin typeface="Arial" panose="020B0604020202020204" pitchFamily="34" charset="0"/>
                <a:cs typeface="Arial" panose="020B0604020202020204" pitchFamily="34" charset="0"/>
              </a:rPr>
            </a:br>
            <a:r>
              <a:rPr lang="en-US" sz="1400" b="0" dirty="0">
                <a:latin typeface="Arial" panose="020B0604020202020204" pitchFamily="34" charset="0"/>
                <a:cs typeface="Arial" panose="020B0604020202020204" pitchFamily="34" charset="0"/>
              </a:rPr>
              <a:t>MS</a:t>
            </a:r>
            <a:r>
              <a:rPr lang="en-US" sz="1200" b="0" dirty="0">
                <a:latin typeface="Arial" panose="020B0604020202020204" pitchFamily="34" charset="0"/>
                <a:cs typeface="Arial" panose="020B0604020202020204" pitchFamily="34" charset="0"/>
              </a:rPr>
              <a:t>c</a:t>
            </a:r>
            <a:r>
              <a:rPr lang="en-US" sz="1400" b="0" dirty="0">
                <a:latin typeface="Arial" panose="020B0604020202020204" pitchFamily="34" charset="0"/>
                <a:cs typeface="Arial" panose="020B0604020202020204" pitchFamily="34" charset="0"/>
              </a:rPr>
              <a:t> Artificial Intelligence</a:t>
            </a:r>
            <a:br>
              <a:rPr lang="en-US" sz="1400" b="0" dirty="0">
                <a:latin typeface="Arial" panose="020B0604020202020204" pitchFamily="34" charset="0"/>
                <a:cs typeface="Arial" panose="020B0604020202020204" pitchFamily="34" charset="0"/>
              </a:rPr>
            </a:br>
            <a:br>
              <a:rPr lang="en-US" sz="1400" b="0" dirty="0">
                <a:latin typeface="Arial" panose="020B0604020202020204" pitchFamily="34" charset="0"/>
                <a:cs typeface="Arial" panose="020B0604020202020204" pitchFamily="34" charset="0"/>
              </a:rPr>
            </a:br>
            <a:r>
              <a:rPr lang="en-US" sz="1200" b="0" dirty="0">
                <a:latin typeface="Arial" panose="020B0604020202020204" pitchFamily="34" charset="0"/>
                <a:cs typeface="Arial" panose="020B0604020202020204" pitchFamily="34" charset="0"/>
              </a:rPr>
              <a:t>Module : Numerical Analysis</a:t>
            </a:r>
            <a:br>
              <a:rPr lang="en-US" sz="1200" b="0" dirty="0">
                <a:latin typeface="Arial" panose="020B0604020202020204" pitchFamily="34" charset="0"/>
                <a:cs typeface="Arial" panose="020B0604020202020204" pitchFamily="34" charset="0"/>
              </a:rPr>
            </a:br>
            <a:r>
              <a:rPr lang="en-US" sz="1200" b="0" dirty="0">
                <a:latin typeface="Arial" panose="020B0604020202020204" pitchFamily="34" charset="0"/>
                <a:cs typeface="Arial" panose="020B0604020202020204" pitchFamily="34" charset="0"/>
              </a:rPr>
              <a:t>MODULE TUTOR : Ali Edisen</a:t>
            </a:r>
            <a:br>
              <a:rPr lang="en-US" sz="1200" b="0" dirty="0">
                <a:latin typeface="Arial" panose="020B0604020202020204" pitchFamily="34" charset="0"/>
                <a:cs typeface="Arial" panose="020B0604020202020204" pitchFamily="34" charset="0"/>
              </a:rPr>
            </a:br>
            <a:br>
              <a:rPr lang="en-US" sz="1200" b="0" dirty="0">
                <a:latin typeface="Arial" panose="020B0604020202020204" pitchFamily="34" charset="0"/>
                <a:cs typeface="Arial" panose="020B0604020202020204" pitchFamily="34" charset="0"/>
              </a:rPr>
            </a:br>
            <a:r>
              <a:rPr lang="en-US" sz="1200" b="0" dirty="0">
                <a:latin typeface="Arial" panose="020B0604020202020204" pitchFamily="34" charset="0"/>
                <a:cs typeface="Arial" panose="020B0604020202020204" pitchFamily="34" charset="0"/>
              </a:rPr>
              <a:t>University of Essex</a:t>
            </a:r>
            <a:br>
              <a:rPr lang="en-US" sz="1200" b="0" dirty="0">
                <a:latin typeface="Arial" panose="020B0604020202020204" pitchFamily="34" charset="0"/>
                <a:cs typeface="Arial" panose="020B0604020202020204" pitchFamily="34" charset="0"/>
              </a:rPr>
            </a:br>
            <a:r>
              <a:rPr lang="en-US" sz="1200" b="0" dirty="0">
                <a:latin typeface="Arial" panose="020B0604020202020204" pitchFamily="34" charset="0"/>
                <a:cs typeface="Arial" panose="020B0604020202020204" pitchFamily="34" charset="0"/>
              </a:rPr>
              <a:t>July 2026</a:t>
            </a:r>
          </a:p>
        </p:txBody>
      </p:sp>
    </p:spTree>
    <p:extLst>
      <p:ext uri="{BB962C8B-B14F-4D97-AF65-F5344CB8AC3E}">
        <p14:creationId xmlns:p14="http://schemas.microsoft.com/office/powerpoint/2010/main" val="373174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1">
            <a:extLst>
              <a:ext uri="{FF2B5EF4-FFF2-40B4-BE49-F238E27FC236}">
                <a16:creationId xmlns:a16="http://schemas.microsoft.com/office/drawing/2014/main" id="{FA555B67-13A8-C2E2-C4C3-A5F021603B60}"/>
              </a:ext>
            </a:extLst>
          </p:cNvPr>
          <p:cNvSpPr txBox="1">
            <a:spLocks/>
          </p:cNvSpPr>
          <p:nvPr/>
        </p:nvSpPr>
        <p:spPr>
          <a:xfrm>
            <a:off x="481782" y="639502"/>
            <a:ext cx="10890929" cy="1387934"/>
          </a:xfrm>
          <a:prstGeom prst="rect">
            <a:avLst/>
          </a:prstGeom>
        </p:spPr>
        <p:txBody>
          <a:bodyPr anchor="b">
            <a:normAutofit/>
          </a:bodyPr>
          <a:lst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a:lstStyle>
          <a:p>
            <a:r>
              <a:rPr lang="it-IT" b="0">
                <a:latin typeface="Arial" panose="020B0604020202020204" pitchFamily="34" charset="0"/>
                <a:cs typeface="Arial" panose="020B0604020202020204" pitchFamily="34" charset="0"/>
              </a:rPr>
              <a:t>Study Objectives</a:t>
            </a:r>
            <a:endParaRPr lang="it-IT" b="0" dirty="0">
              <a:latin typeface="Arial" panose="020B0604020202020204" pitchFamily="34" charset="0"/>
              <a:cs typeface="Arial" panose="020B0604020202020204" pitchFamily="34" charset="0"/>
            </a:endParaRPr>
          </a:p>
        </p:txBody>
      </p:sp>
      <p:sp>
        <p:nvSpPr>
          <p:cNvPr id="4" name="Segnaposto contenuto 2">
            <a:extLst>
              <a:ext uri="{FF2B5EF4-FFF2-40B4-BE49-F238E27FC236}">
                <a16:creationId xmlns:a16="http://schemas.microsoft.com/office/drawing/2014/main" id="{79F49297-A354-8C75-9459-529DCCED675F}"/>
              </a:ext>
            </a:extLst>
          </p:cNvPr>
          <p:cNvSpPr txBox="1">
            <a:spLocks/>
          </p:cNvSpPr>
          <p:nvPr/>
        </p:nvSpPr>
        <p:spPr>
          <a:xfrm>
            <a:off x="547509" y="2027436"/>
            <a:ext cx="11162709" cy="4116109"/>
          </a:xfrm>
          <a:prstGeom prst="rect">
            <a:avLst/>
          </a:prstGeom>
        </p:spPr>
        <p:txBody>
          <a:bodyPr>
            <a:normAutofit fontScale="47500" lnSpcReduction="2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endParaRPr lang="it-IT" sz="1300" dirty="0">
              <a:latin typeface="Arial" panose="020B0604020202020204" pitchFamily="34" charset="0"/>
              <a:cs typeface="Arial" panose="020B0604020202020204" pitchFamily="34" charset="0"/>
            </a:endParaRPr>
          </a:p>
          <a:p>
            <a:pPr marL="0" indent="0">
              <a:buNone/>
            </a:pPr>
            <a:r>
              <a:rPr lang="it-IT" sz="2500" b="1" dirty="0" err="1">
                <a:latin typeface="Arial" panose="020B0604020202020204" pitchFamily="34" charset="0"/>
                <a:cs typeface="Arial" panose="020B0604020202020204" pitchFamily="34" charset="0"/>
              </a:rPr>
              <a:t>Objectives</a:t>
            </a:r>
            <a:endParaRPr lang="it-IT" sz="2500" b="1" dirty="0">
              <a:latin typeface="Arial" panose="020B0604020202020204" pitchFamily="34" charset="0"/>
              <a:cs typeface="Arial" panose="020B0604020202020204" pitchFamily="34" charset="0"/>
            </a:endParaRPr>
          </a:p>
          <a:p>
            <a:r>
              <a:rPr lang="it-IT" sz="2500" dirty="0" err="1">
                <a:latin typeface="Arial" panose="020B0604020202020204" pitchFamily="34" charset="0"/>
                <a:cs typeface="Arial" panose="020B0604020202020204" pitchFamily="34" charset="0"/>
              </a:rPr>
              <a:t>Explore</a:t>
            </a:r>
            <a:r>
              <a:rPr lang="it-IT" sz="2500" dirty="0">
                <a:latin typeface="Arial" panose="020B0604020202020204" pitchFamily="34" charset="0"/>
                <a:cs typeface="Arial" panose="020B0604020202020204" pitchFamily="34" charset="0"/>
              </a:rPr>
              <a:t> the </a:t>
            </a:r>
            <a:r>
              <a:rPr lang="it-IT" sz="2500" dirty="0" err="1">
                <a:latin typeface="Arial" panose="020B0604020202020204" pitchFamily="34" charset="0"/>
                <a:cs typeface="Arial" panose="020B0604020202020204" pitchFamily="34" charset="0"/>
              </a:rPr>
              <a:t>demographic</a:t>
            </a:r>
            <a:r>
              <a:rPr lang="it-IT" sz="2500" dirty="0">
                <a:latin typeface="Arial" panose="020B0604020202020204" pitchFamily="34" charset="0"/>
                <a:cs typeface="Arial" panose="020B0604020202020204" pitchFamily="34" charset="0"/>
              </a:rPr>
              <a:t> and clinical </a:t>
            </a:r>
            <a:r>
              <a:rPr lang="it-IT" sz="2500" dirty="0" err="1">
                <a:latin typeface="Arial" panose="020B0604020202020204" pitchFamily="34" charset="0"/>
                <a:cs typeface="Arial" panose="020B0604020202020204" pitchFamily="34" charset="0"/>
              </a:rPr>
              <a:t>characteristics</a:t>
            </a:r>
            <a:r>
              <a:rPr lang="it-IT" sz="2500" dirty="0">
                <a:latin typeface="Arial" panose="020B0604020202020204" pitchFamily="34" charset="0"/>
                <a:cs typeface="Arial" panose="020B0604020202020204" pitchFamily="34" charset="0"/>
              </a:rPr>
              <a:t> of the </a:t>
            </a:r>
            <a:r>
              <a:rPr lang="it-IT" sz="2500" dirty="0" err="1">
                <a:latin typeface="Arial" panose="020B0604020202020204" pitchFamily="34" charset="0"/>
                <a:cs typeface="Arial" panose="020B0604020202020204" pitchFamily="34" charset="0"/>
              </a:rPr>
              <a:t>diabetes</a:t>
            </a:r>
            <a:r>
              <a:rPr lang="it-IT" sz="2500" dirty="0">
                <a:latin typeface="Arial" panose="020B0604020202020204" pitchFamily="34" charset="0"/>
                <a:cs typeface="Arial" panose="020B0604020202020204" pitchFamily="34" charset="0"/>
              </a:rPr>
              <a:t> dataset.</a:t>
            </a:r>
          </a:p>
          <a:p>
            <a:r>
              <a:rPr lang="it-IT" sz="2500" dirty="0" err="1">
                <a:latin typeface="Arial" panose="020B0604020202020204" pitchFamily="34" charset="0"/>
                <a:cs typeface="Arial" panose="020B0604020202020204" pitchFamily="34" charset="0"/>
              </a:rPr>
              <a:t>Examine</a:t>
            </a:r>
            <a:r>
              <a:rPr lang="it-IT" sz="2500" dirty="0">
                <a:latin typeface="Arial" panose="020B0604020202020204" pitchFamily="34" charset="0"/>
                <a:cs typeface="Arial" panose="020B0604020202020204" pitchFamily="34" charset="0"/>
              </a:rPr>
              <a:t> the </a:t>
            </a:r>
            <a:r>
              <a:rPr lang="it-IT" sz="2500" dirty="0" err="1">
                <a:latin typeface="Arial" panose="020B0604020202020204" pitchFamily="34" charset="0"/>
                <a:cs typeface="Arial" panose="020B0604020202020204" pitchFamily="34" charset="0"/>
              </a:rPr>
              <a:t>relationship</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between</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diabetes</a:t>
            </a:r>
            <a:r>
              <a:rPr lang="it-IT" sz="2500" dirty="0">
                <a:latin typeface="Arial" panose="020B0604020202020204" pitchFamily="34" charset="0"/>
                <a:cs typeface="Arial" panose="020B0604020202020204" pitchFamily="34" charset="0"/>
              </a:rPr>
              <a:t> and key risk </a:t>
            </a:r>
            <a:r>
              <a:rPr lang="it-IT" sz="2500" dirty="0" err="1">
                <a:latin typeface="Arial" panose="020B0604020202020204" pitchFamily="34" charset="0"/>
                <a:cs typeface="Arial" panose="020B0604020202020204" pitchFamily="34" charset="0"/>
              </a:rPr>
              <a:t>factors</a:t>
            </a:r>
            <a:r>
              <a:rPr lang="it-IT" sz="2500" dirty="0">
                <a:latin typeface="Arial" panose="020B0604020202020204" pitchFamily="34" charset="0"/>
                <a:cs typeface="Arial" panose="020B0604020202020204" pitchFamily="34" charset="0"/>
              </a:rPr>
              <a:t>.</a:t>
            </a:r>
          </a:p>
          <a:p>
            <a:r>
              <a:rPr lang="it-IT" sz="2500" dirty="0" err="1">
                <a:latin typeface="Arial" panose="020B0604020202020204" pitchFamily="34" charset="0"/>
                <a:cs typeface="Arial" panose="020B0604020202020204" pitchFamily="34" charset="0"/>
              </a:rPr>
              <a:t>Evaluate</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statistical</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associations</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using</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hypothesis</a:t>
            </a:r>
            <a:r>
              <a:rPr lang="it-IT" sz="2500" dirty="0">
                <a:latin typeface="Arial" panose="020B0604020202020204" pitchFamily="34" charset="0"/>
                <a:cs typeface="Arial" panose="020B0604020202020204" pitchFamily="34" charset="0"/>
              </a:rPr>
              <a:t> testing.</a:t>
            </a:r>
          </a:p>
          <a:p>
            <a:r>
              <a:rPr lang="it-IT" sz="2500" dirty="0" err="1">
                <a:latin typeface="Arial" panose="020B0604020202020204" pitchFamily="34" charset="0"/>
                <a:cs typeface="Arial" panose="020B0604020202020204" pitchFamily="34" charset="0"/>
              </a:rPr>
              <a:t>Develop</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regression</a:t>
            </a:r>
            <a:r>
              <a:rPr lang="it-IT" sz="2500" dirty="0">
                <a:latin typeface="Arial" panose="020B0604020202020204" pitchFamily="34" charset="0"/>
                <a:cs typeface="Arial" panose="020B0604020202020204" pitchFamily="34" charset="0"/>
              </a:rPr>
              <a:t> models to </a:t>
            </a:r>
            <a:r>
              <a:rPr lang="it-IT" sz="2500" dirty="0" err="1">
                <a:latin typeface="Arial" panose="020B0604020202020204" pitchFamily="34" charset="0"/>
                <a:cs typeface="Arial" panose="020B0604020202020204" pitchFamily="34" charset="0"/>
              </a:rPr>
              <a:t>predict</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glucose</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levels</a:t>
            </a:r>
            <a:r>
              <a:rPr lang="it-IT" sz="2500" dirty="0">
                <a:latin typeface="Arial" panose="020B0604020202020204" pitchFamily="34" charset="0"/>
                <a:cs typeface="Arial" panose="020B0604020202020204" pitchFamily="34" charset="0"/>
              </a:rPr>
              <a:t> and </a:t>
            </a:r>
            <a:r>
              <a:rPr lang="it-IT" sz="2500" dirty="0" err="1">
                <a:latin typeface="Arial" panose="020B0604020202020204" pitchFamily="34" charset="0"/>
                <a:cs typeface="Arial" panose="020B0604020202020204" pitchFamily="34" charset="0"/>
              </a:rPr>
              <a:t>diabetes</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outcome</a:t>
            </a:r>
            <a:r>
              <a:rPr lang="it-IT" sz="2500" dirty="0">
                <a:latin typeface="Arial" panose="020B0604020202020204" pitchFamily="34" charset="0"/>
                <a:cs typeface="Arial" panose="020B0604020202020204" pitchFamily="34" charset="0"/>
              </a:rPr>
              <a:t>.</a:t>
            </a:r>
            <a:br>
              <a:rPr lang="it-IT" sz="2500" dirty="0">
                <a:latin typeface="Arial" panose="020B0604020202020204" pitchFamily="34" charset="0"/>
                <a:cs typeface="Arial" panose="020B0604020202020204" pitchFamily="34" charset="0"/>
              </a:rPr>
            </a:br>
            <a:endParaRPr lang="it-IT" sz="2500" dirty="0">
              <a:latin typeface="Arial" panose="020B0604020202020204" pitchFamily="34" charset="0"/>
              <a:cs typeface="Arial" panose="020B0604020202020204" pitchFamily="34" charset="0"/>
            </a:endParaRPr>
          </a:p>
          <a:p>
            <a:pPr marL="0" indent="0">
              <a:buNone/>
            </a:pPr>
            <a:r>
              <a:rPr lang="it-IT" sz="2500" b="1" dirty="0">
                <a:latin typeface="Arial" panose="020B0604020202020204" pitchFamily="34" charset="0"/>
                <a:cs typeface="Arial" panose="020B0604020202020204" pitchFamily="34" charset="0"/>
              </a:rPr>
              <a:t>Statistical Methods</a:t>
            </a:r>
          </a:p>
          <a:p>
            <a:r>
              <a:rPr lang="it-IT" sz="2500" dirty="0" err="1">
                <a:latin typeface="Arial" panose="020B0604020202020204" pitchFamily="34" charset="0"/>
                <a:cs typeface="Arial" panose="020B0604020202020204" pitchFamily="34" charset="0"/>
              </a:rPr>
              <a:t>Descriptive</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Statistics</a:t>
            </a:r>
            <a:endParaRPr lang="it-IT" sz="2500" dirty="0">
              <a:latin typeface="Arial" panose="020B0604020202020204" pitchFamily="34" charset="0"/>
              <a:cs typeface="Arial" panose="020B0604020202020204" pitchFamily="34" charset="0"/>
            </a:endParaRPr>
          </a:p>
          <a:p>
            <a:r>
              <a:rPr lang="it-IT" sz="2500" dirty="0">
                <a:latin typeface="Arial" panose="020B0604020202020204" pitchFamily="34" charset="0"/>
                <a:cs typeface="Arial" panose="020B0604020202020204" pitchFamily="34" charset="0"/>
              </a:rPr>
              <a:t>Data </a:t>
            </a:r>
            <a:r>
              <a:rPr lang="it-IT" sz="2500" dirty="0" err="1">
                <a:latin typeface="Arial" panose="020B0604020202020204" pitchFamily="34" charset="0"/>
                <a:cs typeface="Arial" panose="020B0604020202020204" pitchFamily="34" charset="0"/>
              </a:rPr>
              <a:t>Visualisation</a:t>
            </a:r>
            <a:endParaRPr lang="it-IT" sz="2500" dirty="0">
              <a:latin typeface="Arial" panose="020B0604020202020204" pitchFamily="34" charset="0"/>
              <a:cs typeface="Arial" panose="020B0604020202020204" pitchFamily="34" charset="0"/>
            </a:endParaRPr>
          </a:p>
          <a:p>
            <a:r>
              <a:rPr lang="it-IT" sz="2500" dirty="0" err="1">
                <a:latin typeface="Arial" panose="020B0604020202020204" pitchFamily="34" charset="0"/>
                <a:cs typeface="Arial" panose="020B0604020202020204" pitchFamily="34" charset="0"/>
              </a:rPr>
              <a:t>Hypothesis</a:t>
            </a:r>
            <a:r>
              <a:rPr lang="it-IT" sz="2500" dirty="0">
                <a:latin typeface="Arial" panose="020B0604020202020204" pitchFamily="34" charset="0"/>
                <a:cs typeface="Arial" panose="020B0604020202020204" pitchFamily="34" charset="0"/>
              </a:rPr>
              <a:t> Testing</a:t>
            </a:r>
          </a:p>
          <a:p>
            <a:r>
              <a:rPr lang="it-IT" sz="2500" dirty="0" err="1">
                <a:latin typeface="Arial" panose="020B0604020202020204" pitchFamily="34" charset="0"/>
                <a:cs typeface="Arial" panose="020B0604020202020204" pitchFamily="34" charset="0"/>
              </a:rPr>
              <a:t>Correlation</a:t>
            </a:r>
            <a:r>
              <a:rPr lang="it-IT" sz="2500" dirty="0">
                <a:latin typeface="Arial" panose="020B0604020202020204" pitchFamily="34" charset="0"/>
                <a:cs typeface="Arial" panose="020B0604020202020204" pitchFamily="34" charset="0"/>
              </a:rPr>
              <a:t> Analysis</a:t>
            </a:r>
          </a:p>
          <a:p>
            <a:r>
              <a:rPr lang="it-IT" sz="2500" dirty="0">
                <a:latin typeface="Arial" panose="020B0604020202020204" pitchFamily="34" charset="0"/>
                <a:cs typeface="Arial" panose="020B0604020202020204" pitchFamily="34" charset="0"/>
              </a:rPr>
              <a:t>Linear </a:t>
            </a:r>
            <a:r>
              <a:rPr lang="it-IT" sz="2500" dirty="0" err="1">
                <a:latin typeface="Arial" panose="020B0604020202020204" pitchFamily="34" charset="0"/>
                <a:cs typeface="Arial" panose="020B0604020202020204" pitchFamily="34" charset="0"/>
              </a:rPr>
              <a:t>Regression</a:t>
            </a:r>
            <a:endParaRPr lang="it-IT" sz="2500" dirty="0">
              <a:latin typeface="Arial" panose="020B0604020202020204" pitchFamily="34" charset="0"/>
              <a:cs typeface="Arial" panose="020B0604020202020204" pitchFamily="34" charset="0"/>
            </a:endParaRPr>
          </a:p>
          <a:p>
            <a:r>
              <a:rPr lang="it-IT" sz="2500" dirty="0" err="1">
                <a:latin typeface="Arial" panose="020B0604020202020204" pitchFamily="34" charset="0"/>
                <a:cs typeface="Arial" panose="020B0604020202020204" pitchFamily="34" charset="0"/>
              </a:rPr>
              <a:t>Logistic</a:t>
            </a:r>
            <a:r>
              <a:rPr lang="it-IT" sz="2500" dirty="0">
                <a:latin typeface="Arial" panose="020B0604020202020204" pitchFamily="34" charset="0"/>
                <a:cs typeface="Arial" panose="020B0604020202020204" pitchFamily="34" charset="0"/>
              </a:rPr>
              <a:t> </a:t>
            </a:r>
            <a:r>
              <a:rPr lang="it-IT" sz="2500" dirty="0" err="1">
                <a:latin typeface="Arial" panose="020B0604020202020204" pitchFamily="34" charset="0"/>
                <a:cs typeface="Arial" panose="020B0604020202020204" pitchFamily="34" charset="0"/>
              </a:rPr>
              <a:t>Regression</a:t>
            </a:r>
            <a:endParaRPr lang="it-IT" sz="2500" dirty="0">
              <a:latin typeface="Arial" panose="020B0604020202020204" pitchFamily="34" charset="0"/>
              <a:cs typeface="Arial" panose="020B0604020202020204" pitchFamily="34" charset="0"/>
            </a:endParaRPr>
          </a:p>
          <a:p>
            <a:pPr marL="0" indent="0">
              <a:buNone/>
            </a:pPr>
            <a:endParaRPr lang="it-IT" sz="1700" dirty="0"/>
          </a:p>
          <a:p>
            <a:pPr marL="0" indent="0">
              <a:buFont typeface="Arial" panose="020B0604020202020204" pitchFamily="34" charset="0"/>
              <a:buNone/>
            </a:pPr>
            <a:endParaRPr lang="it-IT" dirty="0"/>
          </a:p>
          <a:p>
            <a:pPr>
              <a:lnSpc>
                <a:spcPct val="110000"/>
              </a:lnSpc>
            </a:pPr>
            <a:endParaRPr lang="it-IT" sz="1300" dirty="0"/>
          </a:p>
        </p:txBody>
      </p:sp>
      <p:sp>
        <p:nvSpPr>
          <p:cNvPr id="5" name="Rectangle 2">
            <a:extLst>
              <a:ext uri="{FF2B5EF4-FFF2-40B4-BE49-F238E27FC236}">
                <a16:creationId xmlns:a16="http://schemas.microsoft.com/office/drawing/2014/main" id="{25A117EC-6357-6435-D978-0F658F62F789}"/>
              </a:ext>
            </a:extLst>
          </p:cNvPr>
          <p:cNvSpPr>
            <a:spLocks noChangeArrowheads="1"/>
          </p:cNvSpPr>
          <p:nvPr/>
        </p:nvSpPr>
        <p:spPr bwMode="auto">
          <a:xfrm>
            <a:off x="7737093" y="2388193"/>
            <a:ext cx="41679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1" i="0" u="none" strike="noStrike" cap="none" normalizeH="0" baseline="0" dirty="0" err="1">
                <a:ln>
                  <a:noFill/>
                </a:ln>
                <a:solidFill>
                  <a:srgbClr val="000000"/>
                </a:solidFill>
                <a:effectLst/>
                <a:cs typeface="Arial" panose="020B0604020202020204" pitchFamily="34" charset="0"/>
              </a:rPr>
              <a:t>Aim</a:t>
            </a:r>
            <a:r>
              <a:rPr kumimoji="0" lang="it-IT" altLang="it-IT" sz="1400" b="1" i="0" u="none" strike="noStrike" cap="none" normalizeH="0" baseline="0" dirty="0">
                <a:ln>
                  <a:noFill/>
                </a:ln>
                <a:solidFill>
                  <a:srgbClr val="000000"/>
                </a:solidFill>
                <a:effectLst/>
                <a:cs typeface="Arial" panose="020B0604020202020204" pitchFamily="34" charset="0"/>
              </a:rPr>
              <a:t>:</a:t>
            </a:r>
            <a:r>
              <a:rPr kumimoji="0" lang="it-IT" altLang="it-IT" sz="1400" b="0" i="0" u="none" strike="noStrike" cap="none" normalizeH="0" baseline="0" dirty="0">
                <a:ln>
                  <a:noFill/>
                </a:ln>
                <a:solidFill>
                  <a:srgbClr val="000000"/>
                </a:solidFill>
                <a:effectLst/>
                <a:cs typeface="Arial" panose="020B0604020202020204" pitchFamily="34" charset="0"/>
              </a:rPr>
              <a:t> To </a:t>
            </a:r>
            <a:r>
              <a:rPr kumimoji="0" lang="it-IT" altLang="it-IT" sz="1400" b="0" i="0" u="none" strike="noStrike" cap="none" normalizeH="0" baseline="0" dirty="0" err="1">
                <a:ln>
                  <a:noFill/>
                </a:ln>
                <a:solidFill>
                  <a:srgbClr val="000000"/>
                </a:solidFill>
                <a:effectLst/>
                <a:cs typeface="Arial" panose="020B0604020202020204" pitchFamily="34" charset="0"/>
              </a:rPr>
              <a:t>identify</a:t>
            </a:r>
            <a:r>
              <a:rPr kumimoji="0" lang="it-IT" altLang="it-IT" sz="1400" b="0" i="0" u="none" strike="noStrike" cap="none" normalizeH="0" baseline="0" dirty="0">
                <a:ln>
                  <a:noFill/>
                </a:ln>
                <a:solidFill>
                  <a:srgbClr val="000000"/>
                </a:solidFill>
                <a:effectLst/>
                <a:cs typeface="Arial" panose="020B0604020202020204" pitchFamily="34" charset="0"/>
              </a:rPr>
              <a:t> the </a:t>
            </a:r>
            <a:r>
              <a:rPr kumimoji="0" lang="it-IT" altLang="it-IT" sz="1400" b="0" i="0" u="none" strike="noStrike" cap="none" normalizeH="0" baseline="0" dirty="0" err="1">
                <a:ln>
                  <a:noFill/>
                </a:ln>
                <a:solidFill>
                  <a:srgbClr val="000000"/>
                </a:solidFill>
                <a:effectLst/>
                <a:cs typeface="Arial" panose="020B0604020202020204" pitchFamily="34" charset="0"/>
              </a:rPr>
              <a:t>main</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predictors</a:t>
            </a:r>
            <a:r>
              <a:rPr kumimoji="0" lang="it-IT" altLang="it-IT" sz="1400" b="0" i="0" u="none" strike="noStrike" cap="none" normalizeH="0" baseline="0" dirty="0">
                <a:ln>
                  <a:noFill/>
                </a:ln>
                <a:solidFill>
                  <a:srgbClr val="000000"/>
                </a:solidFill>
                <a:effectLst/>
                <a:cs typeface="Arial" panose="020B0604020202020204" pitchFamily="34" charset="0"/>
              </a:rPr>
              <a:t> of </a:t>
            </a:r>
            <a:r>
              <a:rPr kumimoji="0" lang="it-IT" altLang="it-IT" sz="1400" b="0" i="0" u="none" strike="noStrike" cap="none" normalizeH="0" baseline="0" dirty="0" err="1">
                <a:ln>
                  <a:noFill/>
                </a:ln>
                <a:solidFill>
                  <a:srgbClr val="000000"/>
                </a:solidFill>
                <a:effectLst/>
                <a:cs typeface="Arial" panose="020B0604020202020204" pitchFamily="34" charset="0"/>
              </a:rPr>
              <a:t>diabetes</a:t>
            </a:r>
            <a:r>
              <a:rPr kumimoji="0" lang="it-IT" altLang="it-IT" sz="1400" b="0" i="0" u="none" strike="noStrike" cap="none" normalizeH="0" baseline="0" dirty="0">
                <a:ln>
                  <a:noFill/>
                </a:ln>
                <a:solidFill>
                  <a:srgbClr val="000000"/>
                </a:solidFill>
                <a:effectLst/>
                <a:cs typeface="Arial" panose="020B0604020202020204" pitchFamily="34" charset="0"/>
              </a:rPr>
              <a:t> and </a:t>
            </a:r>
            <a:r>
              <a:rPr kumimoji="0" lang="it-IT" altLang="it-IT" sz="1400" b="0" i="0" u="none" strike="noStrike" cap="none" normalizeH="0" baseline="0" dirty="0" err="1">
                <a:ln>
                  <a:noFill/>
                </a:ln>
                <a:solidFill>
                  <a:srgbClr val="000000"/>
                </a:solidFill>
                <a:effectLst/>
                <a:cs typeface="Arial" panose="020B0604020202020204" pitchFamily="34" charset="0"/>
              </a:rPr>
              <a:t>evaluate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their</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statistical</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significance</a:t>
            </a:r>
            <a:r>
              <a:rPr kumimoji="0" lang="it-IT" altLang="it-IT" sz="1400" b="0" i="0" u="none" strike="noStrike" cap="none" normalizeH="0" baseline="0" dirty="0">
                <a:ln>
                  <a:noFill/>
                </a:ln>
                <a:solidFill>
                  <a:srgbClr val="000000"/>
                </a:solidFill>
                <a:effectLst/>
                <a:cs typeface="Arial" panose="020B0604020202020204" pitchFamily="34" charset="0"/>
              </a:rPr>
              <a:t>.</a:t>
            </a:r>
            <a:endParaRPr kumimoji="0" lang="it-IT" altLang="it-IT" sz="1400" b="0" i="0" u="none" strike="noStrike" cap="none" normalizeH="0" baseline="0" dirty="0">
              <a:ln>
                <a:noFill/>
              </a:ln>
              <a:solidFill>
                <a:schemeClr val="tx1"/>
              </a:solidFill>
              <a:effectLst/>
              <a:cs typeface="Arial" panose="020B0604020202020204" pitchFamily="34" charset="0"/>
            </a:endParaRPr>
          </a:p>
        </p:txBody>
      </p:sp>
      <p:sp>
        <p:nvSpPr>
          <p:cNvPr id="6" name="CasellaDiTesto 5">
            <a:extLst>
              <a:ext uri="{FF2B5EF4-FFF2-40B4-BE49-F238E27FC236}">
                <a16:creationId xmlns:a16="http://schemas.microsoft.com/office/drawing/2014/main" id="{25FCAC88-6081-A282-1094-5573EF4F5B03}"/>
              </a:ext>
            </a:extLst>
          </p:cNvPr>
          <p:cNvSpPr txBox="1"/>
          <p:nvPr/>
        </p:nvSpPr>
        <p:spPr>
          <a:xfrm>
            <a:off x="7053943" y="5620325"/>
            <a:ext cx="5138057" cy="523220"/>
          </a:xfrm>
          <a:prstGeom prst="rect">
            <a:avLst/>
          </a:prstGeom>
          <a:noFill/>
        </p:spPr>
        <p:txBody>
          <a:bodyPr wrap="square">
            <a:spAutoFit/>
          </a:bodyPr>
          <a:lstStyle/>
          <a:p>
            <a:pPr algn="l">
              <a:buNone/>
            </a:pPr>
            <a:r>
              <a:rPr lang="it-IT" sz="1400" b="0" i="1" dirty="0">
                <a:solidFill>
                  <a:srgbClr val="000000"/>
                </a:solidFill>
                <a:effectLst/>
              </a:rPr>
              <a:t>"</a:t>
            </a:r>
            <a:r>
              <a:rPr lang="it-IT" sz="1400" b="0" i="1" dirty="0" err="1">
                <a:solidFill>
                  <a:srgbClr val="000000"/>
                </a:solidFill>
                <a:effectLst/>
              </a:rPr>
              <a:t>Statistics</a:t>
            </a:r>
            <a:r>
              <a:rPr lang="it-IT" sz="1400" b="0" i="1" dirty="0">
                <a:solidFill>
                  <a:srgbClr val="000000"/>
                </a:solidFill>
                <a:effectLst/>
              </a:rPr>
              <a:t> </a:t>
            </a:r>
            <a:r>
              <a:rPr lang="it-IT" sz="1400" b="0" i="1" dirty="0" err="1">
                <a:solidFill>
                  <a:srgbClr val="000000"/>
                </a:solidFill>
                <a:effectLst/>
              </a:rPr>
              <a:t>is</a:t>
            </a:r>
            <a:r>
              <a:rPr lang="it-IT" sz="1400" b="0" i="1" dirty="0">
                <a:solidFill>
                  <a:srgbClr val="000000"/>
                </a:solidFill>
                <a:effectLst/>
              </a:rPr>
              <a:t> the art and science of learning from data."</a:t>
            </a:r>
            <a:endParaRPr lang="it-IT" sz="1400" b="0" i="0" dirty="0">
              <a:solidFill>
                <a:srgbClr val="000000"/>
              </a:solidFill>
              <a:effectLst/>
            </a:endParaRPr>
          </a:p>
          <a:p>
            <a:pPr algn="l">
              <a:buNone/>
            </a:pPr>
            <a:r>
              <a:rPr lang="it-IT" sz="1400" b="1" i="0" dirty="0">
                <a:solidFill>
                  <a:srgbClr val="000000"/>
                </a:solidFill>
                <a:effectLst/>
              </a:rPr>
              <a:t>(RSS International, 2024)</a:t>
            </a:r>
            <a:endParaRPr lang="it-IT" sz="1400" b="0" i="0" dirty="0">
              <a:solidFill>
                <a:srgbClr val="000000"/>
              </a:solidFill>
              <a:effectLst/>
            </a:endParaRPr>
          </a:p>
        </p:txBody>
      </p:sp>
    </p:spTree>
    <p:extLst>
      <p:ext uri="{BB962C8B-B14F-4D97-AF65-F5344CB8AC3E}">
        <p14:creationId xmlns:p14="http://schemas.microsoft.com/office/powerpoint/2010/main" val="1397432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D8CDE9C-BFB5-914E-5DB2-0ED1470A6F60}"/>
              </a:ext>
            </a:extLst>
          </p:cNvPr>
          <p:cNvSpPr>
            <a:spLocks noGrp="1"/>
          </p:cNvSpPr>
          <p:nvPr>
            <p:ph type="title"/>
          </p:nvPr>
        </p:nvSpPr>
        <p:spPr>
          <a:xfrm>
            <a:off x="640080" y="1031001"/>
            <a:ext cx="5737859" cy="1097280"/>
          </a:xfrm>
        </p:spPr>
        <p:txBody>
          <a:bodyPr>
            <a:normAutofit/>
          </a:bodyPr>
          <a:lstStyle/>
          <a:p>
            <a:r>
              <a:rPr lang="it-IT" dirty="0"/>
              <a:t>Dataset </a:t>
            </a:r>
            <a:r>
              <a:rPr lang="it-IT" dirty="0" err="1"/>
              <a:t>Description</a:t>
            </a:r>
            <a:endParaRPr lang="it-IT" dirty="0"/>
          </a:p>
        </p:txBody>
      </p:sp>
      <p:cxnSp>
        <p:nvCxnSpPr>
          <p:cNvPr id="21" name="Straight Connector 2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Rectangle 2">
            <a:extLst>
              <a:ext uri="{FF2B5EF4-FFF2-40B4-BE49-F238E27FC236}">
                <a16:creationId xmlns:a16="http://schemas.microsoft.com/office/drawing/2014/main" id="{888CAAEC-7FE9-87C5-B41C-AE7D4943A0C9}"/>
              </a:ext>
            </a:extLst>
          </p:cNvPr>
          <p:cNvSpPr>
            <a:spLocks noGrp="1" noChangeArrowheads="1"/>
          </p:cNvSpPr>
          <p:nvPr>
            <p:ph idx="1"/>
          </p:nvPr>
        </p:nvSpPr>
        <p:spPr bwMode="auto">
          <a:xfrm>
            <a:off x="640080" y="2062003"/>
            <a:ext cx="5737860" cy="36669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spcBef>
                <a:spcPct val="0"/>
              </a:spcBef>
              <a:spcAft>
                <a:spcPts val="600"/>
              </a:spcAft>
              <a:buClrTx/>
              <a:buSzTx/>
              <a:buFontTx/>
              <a:buNone/>
              <a:tabLst/>
            </a:pPr>
            <a:r>
              <a:rPr kumimoji="0" lang="it-IT" altLang="it-IT" b="1" i="0" u="none" strike="noStrike" cap="none" normalizeH="0" baseline="0" dirty="0">
                <a:ln>
                  <a:noFill/>
                </a:ln>
                <a:effectLst/>
                <a:cs typeface="Arial" panose="020B0604020202020204" pitchFamily="34" charset="0"/>
              </a:rPr>
              <a:t>Dataset:</a:t>
            </a:r>
            <a:r>
              <a:rPr kumimoji="0" lang="it-IT" altLang="it-IT" b="0" i="0" u="none" strike="noStrike" cap="none" normalizeH="0" baseline="0" dirty="0">
                <a:ln>
                  <a:noFill/>
                </a:ln>
                <a:effectLst/>
                <a:cs typeface="Arial" panose="020B0604020202020204" pitchFamily="34" charset="0"/>
              </a:rPr>
              <a:t> Pima </a:t>
            </a:r>
            <a:r>
              <a:rPr kumimoji="0" lang="it-IT" altLang="it-IT" b="0" i="0" u="none" strike="noStrike" cap="none" normalizeH="0" baseline="0" dirty="0" err="1">
                <a:ln>
                  <a:noFill/>
                </a:ln>
                <a:effectLst/>
                <a:cs typeface="Arial" panose="020B0604020202020204" pitchFamily="34" charset="0"/>
              </a:rPr>
              <a:t>Indians</a:t>
            </a:r>
            <a:r>
              <a:rPr kumimoji="0" lang="it-IT" altLang="it-IT" b="0" i="0" u="none" strike="noStrike" cap="none" normalizeH="0" baseline="0" dirty="0">
                <a:ln>
                  <a:noFill/>
                </a:ln>
                <a:effectLst/>
                <a:cs typeface="Arial" panose="020B0604020202020204" pitchFamily="34" charset="0"/>
              </a:rPr>
              <a:t> </a:t>
            </a:r>
            <a:r>
              <a:rPr kumimoji="0" lang="it-IT" altLang="it-IT" b="0" i="0" u="none" strike="noStrike" cap="none" normalizeH="0" baseline="0" dirty="0" err="1">
                <a:ln>
                  <a:noFill/>
                </a:ln>
                <a:effectLst/>
                <a:cs typeface="Arial" panose="020B0604020202020204" pitchFamily="34" charset="0"/>
              </a:rPr>
              <a:t>Diabetes</a:t>
            </a:r>
            <a:r>
              <a:rPr kumimoji="0" lang="it-IT" altLang="it-IT" b="0" i="0" u="none" strike="noStrike" cap="none" normalizeH="0" baseline="0" dirty="0">
                <a:ln>
                  <a:noFill/>
                </a:ln>
                <a:effectLst/>
                <a:cs typeface="Arial" panose="020B0604020202020204" pitchFamily="34" charset="0"/>
              </a:rPr>
              <a:t> Database</a:t>
            </a:r>
          </a:p>
          <a:p>
            <a:pPr marL="0" marR="0" lvl="0" indent="0" defTabSz="914400" rtl="0" eaLnBrk="0" fontAlgn="base" latinLnBrk="0" hangingPunct="0">
              <a:spcBef>
                <a:spcPct val="0"/>
              </a:spcBef>
              <a:spcAft>
                <a:spcPts val="600"/>
              </a:spcAft>
              <a:buClrTx/>
              <a:buSzTx/>
              <a:buFontTx/>
              <a:buNone/>
              <a:tabLst/>
            </a:pPr>
            <a:r>
              <a:rPr kumimoji="0" lang="it-IT" altLang="it-IT" b="1" i="0" u="none" strike="noStrike" cap="none" normalizeH="0" baseline="0" dirty="0">
                <a:ln>
                  <a:noFill/>
                </a:ln>
                <a:effectLst/>
                <a:cs typeface="Arial" panose="020B0604020202020204" pitchFamily="34" charset="0"/>
              </a:rPr>
              <a:t>Source:</a:t>
            </a:r>
            <a:r>
              <a:rPr kumimoji="0" lang="it-IT" altLang="it-IT" b="0" i="0" u="none" strike="noStrike" cap="none" normalizeH="0" baseline="0" dirty="0">
                <a:ln>
                  <a:noFill/>
                </a:ln>
                <a:effectLst/>
                <a:cs typeface="Arial" panose="020B0604020202020204" pitchFamily="34" charset="0"/>
              </a:rPr>
              <a:t> National Institute of </a:t>
            </a:r>
            <a:r>
              <a:rPr kumimoji="0" lang="it-IT" altLang="it-IT" b="0" i="0" u="none" strike="noStrike" cap="none" normalizeH="0" baseline="0" dirty="0" err="1">
                <a:ln>
                  <a:noFill/>
                </a:ln>
                <a:effectLst/>
                <a:cs typeface="Arial" panose="020B0604020202020204" pitchFamily="34" charset="0"/>
              </a:rPr>
              <a:t>Diabetes</a:t>
            </a:r>
            <a:r>
              <a:rPr kumimoji="0" lang="it-IT" altLang="it-IT" b="0" i="0" u="none" strike="noStrike" cap="none" normalizeH="0" baseline="0" dirty="0">
                <a:ln>
                  <a:noFill/>
                </a:ln>
                <a:effectLst/>
                <a:cs typeface="Arial" panose="020B0604020202020204" pitchFamily="34" charset="0"/>
              </a:rPr>
              <a:t> and Digestive and </a:t>
            </a:r>
            <a:r>
              <a:rPr kumimoji="0" lang="it-IT" altLang="it-IT" b="0" i="0" u="none" strike="noStrike" cap="none" normalizeH="0" baseline="0" dirty="0" err="1">
                <a:ln>
                  <a:noFill/>
                </a:ln>
                <a:effectLst/>
                <a:cs typeface="Arial" panose="020B0604020202020204" pitchFamily="34" charset="0"/>
              </a:rPr>
              <a:t>Kidney</a:t>
            </a:r>
            <a:r>
              <a:rPr kumimoji="0" lang="it-IT" altLang="it-IT" b="0" i="0" u="none" strike="noStrike" cap="none" normalizeH="0" baseline="0" dirty="0">
                <a:ln>
                  <a:noFill/>
                </a:ln>
                <a:effectLst/>
                <a:cs typeface="Arial" panose="020B0604020202020204" pitchFamily="34" charset="0"/>
              </a:rPr>
              <a:t> </a:t>
            </a:r>
            <a:r>
              <a:rPr kumimoji="0" lang="it-IT" altLang="it-IT" b="0" i="0" u="none" strike="noStrike" cap="none" normalizeH="0" baseline="0" dirty="0" err="1">
                <a:ln>
                  <a:noFill/>
                </a:ln>
                <a:effectLst/>
                <a:cs typeface="Arial" panose="020B0604020202020204" pitchFamily="34" charset="0"/>
              </a:rPr>
              <a:t>Diseases</a:t>
            </a:r>
            <a:r>
              <a:rPr kumimoji="0" lang="it-IT" altLang="it-IT" b="0" i="0" u="none" strike="noStrike" cap="none" normalizeH="0" baseline="0" dirty="0">
                <a:ln>
                  <a:noFill/>
                </a:ln>
                <a:effectLst/>
                <a:cs typeface="Arial" panose="020B0604020202020204" pitchFamily="34" charset="0"/>
              </a:rPr>
              <a:t> (NIDDK)</a:t>
            </a:r>
          </a:p>
          <a:p>
            <a:pPr marL="0" marR="0" lvl="0" indent="0" defTabSz="914400" rtl="0" eaLnBrk="0" fontAlgn="base" latinLnBrk="0" hangingPunct="0">
              <a:spcBef>
                <a:spcPct val="0"/>
              </a:spcBef>
              <a:spcAft>
                <a:spcPts val="600"/>
              </a:spcAft>
              <a:buClrTx/>
              <a:buSzTx/>
              <a:buFontTx/>
              <a:buNone/>
              <a:tabLst/>
            </a:pPr>
            <a:endParaRPr kumimoji="0" lang="it-IT" altLang="it-IT" b="0" i="0" u="none" strike="noStrike" cap="none" normalizeH="0" baseline="0" dirty="0">
              <a:ln>
                <a:noFill/>
              </a:ln>
              <a:effectLst/>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it-IT" altLang="it-IT" i="0" u="none" strike="noStrike" cap="none" normalizeH="0" baseline="0" dirty="0">
                <a:ln>
                  <a:noFill/>
                </a:ln>
                <a:effectLst/>
                <a:cs typeface="Arial" panose="020B0604020202020204" pitchFamily="34" charset="0"/>
              </a:rPr>
              <a:t>768 </a:t>
            </a:r>
            <a:r>
              <a:rPr kumimoji="0" lang="it-IT" altLang="it-IT" i="0" u="none" strike="noStrike" cap="none" normalizeH="0" baseline="0" dirty="0" err="1">
                <a:ln>
                  <a:noFill/>
                </a:ln>
                <a:effectLst/>
                <a:cs typeface="Arial" panose="020B0604020202020204" pitchFamily="34" charset="0"/>
              </a:rPr>
              <a:t>observations</a:t>
            </a:r>
            <a:endParaRPr kumimoji="0" lang="it-IT" altLang="it-IT" i="0" u="none" strike="noStrike" cap="none" normalizeH="0" baseline="0" dirty="0">
              <a:ln>
                <a:noFill/>
              </a:ln>
              <a:effectLst/>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it-IT" altLang="it-IT" i="0" u="none" strike="noStrike" cap="none" normalizeH="0" baseline="0" dirty="0">
                <a:ln>
                  <a:noFill/>
                </a:ln>
                <a:effectLst/>
                <a:cs typeface="Arial" panose="020B0604020202020204" pitchFamily="34" charset="0"/>
              </a:rPr>
              <a:t>8 </a:t>
            </a:r>
            <a:r>
              <a:rPr kumimoji="0" lang="it-IT" altLang="it-IT" i="0" u="none" strike="noStrike" cap="none" normalizeH="0" baseline="0" dirty="0" err="1">
                <a:ln>
                  <a:noFill/>
                </a:ln>
                <a:effectLst/>
                <a:cs typeface="Arial" panose="020B0604020202020204" pitchFamily="34" charset="0"/>
              </a:rPr>
              <a:t>predictor</a:t>
            </a:r>
            <a:r>
              <a:rPr kumimoji="0" lang="it-IT" altLang="it-IT" i="0" u="none" strike="noStrike" cap="none" normalizeH="0" baseline="0" dirty="0">
                <a:ln>
                  <a:noFill/>
                </a:ln>
                <a:effectLst/>
                <a:cs typeface="Arial" panose="020B0604020202020204" pitchFamily="34" charset="0"/>
              </a:rPr>
              <a:t> </a:t>
            </a:r>
            <a:r>
              <a:rPr kumimoji="0" lang="it-IT" altLang="it-IT" i="0" u="none" strike="noStrike" cap="none" normalizeH="0" baseline="0" dirty="0" err="1">
                <a:ln>
                  <a:noFill/>
                </a:ln>
                <a:effectLst/>
                <a:cs typeface="Arial" panose="020B0604020202020204" pitchFamily="34" charset="0"/>
              </a:rPr>
              <a:t>variables</a:t>
            </a:r>
            <a:endParaRPr kumimoji="0" lang="it-IT" altLang="it-IT" i="0" u="none" strike="noStrike" cap="none" normalizeH="0" baseline="0" dirty="0">
              <a:ln>
                <a:noFill/>
              </a:ln>
              <a:effectLst/>
              <a:cs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it-IT" altLang="it-IT" i="0" u="none" strike="noStrike" cap="none" normalizeH="0" baseline="0" dirty="0">
                <a:ln>
                  <a:noFill/>
                </a:ln>
                <a:effectLst/>
                <a:cs typeface="Arial" panose="020B0604020202020204" pitchFamily="34" charset="0"/>
              </a:rPr>
              <a:t>1 </a:t>
            </a:r>
            <a:r>
              <a:rPr kumimoji="0" lang="it-IT" altLang="it-IT" i="0" u="none" strike="noStrike" cap="none" normalizeH="0" baseline="0" dirty="0" err="1">
                <a:ln>
                  <a:noFill/>
                </a:ln>
                <a:effectLst/>
                <a:cs typeface="Arial" panose="020B0604020202020204" pitchFamily="34" charset="0"/>
              </a:rPr>
              <a:t>binary</a:t>
            </a:r>
            <a:r>
              <a:rPr kumimoji="0" lang="it-IT" altLang="it-IT" i="0" u="none" strike="noStrike" cap="none" normalizeH="0" baseline="0" dirty="0">
                <a:ln>
                  <a:noFill/>
                </a:ln>
                <a:effectLst/>
                <a:cs typeface="Arial" panose="020B0604020202020204" pitchFamily="34" charset="0"/>
              </a:rPr>
              <a:t> </a:t>
            </a:r>
            <a:r>
              <a:rPr kumimoji="0" lang="it-IT" altLang="it-IT" i="0" u="none" strike="noStrike" cap="none" normalizeH="0" baseline="0" dirty="0" err="1">
                <a:ln>
                  <a:noFill/>
                </a:ln>
                <a:effectLst/>
                <a:cs typeface="Arial" panose="020B0604020202020204" pitchFamily="34" charset="0"/>
              </a:rPr>
              <a:t>response</a:t>
            </a:r>
            <a:r>
              <a:rPr kumimoji="0" lang="it-IT" altLang="it-IT" i="0" u="none" strike="noStrike" cap="none" normalizeH="0" baseline="0" dirty="0">
                <a:ln>
                  <a:noFill/>
                </a:ln>
                <a:effectLst/>
                <a:cs typeface="Arial" panose="020B0604020202020204" pitchFamily="34" charset="0"/>
              </a:rPr>
              <a:t> </a:t>
            </a:r>
            <a:r>
              <a:rPr kumimoji="0" lang="it-IT" altLang="it-IT" i="0" u="none" strike="noStrike" cap="none" normalizeH="0" baseline="0" dirty="0" err="1">
                <a:ln>
                  <a:noFill/>
                </a:ln>
                <a:effectLst/>
                <a:cs typeface="Arial" panose="020B0604020202020204" pitchFamily="34" charset="0"/>
              </a:rPr>
              <a:t>variable</a:t>
            </a:r>
            <a:r>
              <a:rPr kumimoji="0" lang="it-IT" altLang="it-IT" i="0" u="none" strike="noStrike" cap="none" normalizeH="0" baseline="0" dirty="0">
                <a:ln>
                  <a:noFill/>
                </a:ln>
                <a:effectLst/>
                <a:cs typeface="Arial" panose="020B0604020202020204" pitchFamily="34" charset="0"/>
              </a:rPr>
              <a:t> (</a:t>
            </a:r>
            <a:r>
              <a:rPr kumimoji="0" lang="it-IT" altLang="it-IT" i="0" u="none" strike="noStrike" cap="none" normalizeH="0" baseline="0" dirty="0" err="1">
                <a:ln>
                  <a:noFill/>
                </a:ln>
                <a:effectLst/>
                <a:cs typeface="Arial" panose="020B0604020202020204" pitchFamily="34" charset="0"/>
              </a:rPr>
              <a:t>Outcome</a:t>
            </a:r>
            <a:r>
              <a:rPr kumimoji="0" lang="it-IT" altLang="it-IT" i="0" u="none" strike="noStrike" cap="none" normalizeH="0" baseline="0" dirty="0">
                <a:ln>
                  <a:noFill/>
                </a:ln>
                <a:effectLst/>
                <a:cs typeface="Arial" panose="020B0604020202020204" pitchFamily="34" charset="0"/>
              </a:rPr>
              <a:t>)</a:t>
            </a:r>
          </a:p>
          <a:p>
            <a:pPr marL="0" marR="0" lvl="0" indent="0" defTabSz="914400" rtl="0" eaLnBrk="0" fontAlgn="base" latinLnBrk="0" hangingPunct="0">
              <a:spcBef>
                <a:spcPct val="0"/>
              </a:spcBef>
              <a:spcAft>
                <a:spcPts val="600"/>
              </a:spcAft>
              <a:buClrTx/>
              <a:buSzTx/>
              <a:buFontTx/>
              <a:buNone/>
              <a:tabLst/>
            </a:pPr>
            <a:endParaRPr kumimoji="0" lang="it-IT" altLang="it-IT" b="0" i="0" u="none" strike="noStrike" cap="none" normalizeH="0" baseline="0" dirty="0">
              <a:ln>
                <a:noFill/>
              </a:ln>
              <a:effectLst/>
              <a:latin typeface="Arial" panose="020B0604020202020204" pitchFamily="34" charset="0"/>
            </a:endParaRPr>
          </a:p>
        </p:txBody>
      </p:sp>
      <p:sp>
        <p:nvSpPr>
          <p:cNvPr id="9" name="CasellaDiTesto 8">
            <a:extLst>
              <a:ext uri="{FF2B5EF4-FFF2-40B4-BE49-F238E27FC236}">
                <a16:creationId xmlns:a16="http://schemas.microsoft.com/office/drawing/2014/main" id="{776AFC0A-939D-E318-63C8-F87718546E56}"/>
              </a:ext>
            </a:extLst>
          </p:cNvPr>
          <p:cNvSpPr txBox="1"/>
          <p:nvPr/>
        </p:nvSpPr>
        <p:spPr>
          <a:xfrm>
            <a:off x="640080" y="3289154"/>
            <a:ext cx="6100354" cy="248466"/>
          </a:xfrm>
          <a:prstGeom prst="rect">
            <a:avLst/>
          </a:prstGeom>
          <a:noFill/>
        </p:spPr>
        <p:txBody>
          <a:bodyPr wrap="square">
            <a:spAutoFit/>
          </a:bodyPr>
          <a:lstStyle/>
          <a:p>
            <a:pPr>
              <a:lnSpc>
                <a:spcPct val="110000"/>
              </a:lnSpc>
              <a:spcAft>
                <a:spcPts val="600"/>
              </a:spcAft>
            </a:pPr>
            <a:r>
              <a:rPr lang="it-IT" sz="1000" dirty="0">
                <a:solidFill>
                  <a:schemeClr val="tx2"/>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https://www.kaggle.com/datasets/akshaydattatraykhare/diabetes-dataset/data</a:t>
            </a:r>
            <a:r>
              <a:rPr lang="it-IT" sz="1000" dirty="0">
                <a:solidFill>
                  <a:schemeClr val="tx2"/>
                </a:solidFill>
                <a:latin typeface="Arial" panose="020B0604020202020204" pitchFamily="34" charset="0"/>
                <a:cs typeface="Arial" panose="020B0604020202020204" pitchFamily="34" charset="0"/>
              </a:rPr>
              <a:t> </a:t>
            </a:r>
          </a:p>
        </p:txBody>
      </p:sp>
      <p:graphicFrame>
        <p:nvGraphicFramePr>
          <p:cNvPr id="7" name="Tabella 6">
            <a:extLst>
              <a:ext uri="{FF2B5EF4-FFF2-40B4-BE49-F238E27FC236}">
                <a16:creationId xmlns:a16="http://schemas.microsoft.com/office/drawing/2014/main" id="{1DF6A5B3-3C44-D9C1-CFA6-E094937FDAC3}"/>
              </a:ext>
            </a:extLst>
          </p:cNvPr>
          <p:cNvGraphicFramePr>
            <a:graphicFrameLocks noGrp="1"/>
          </p:cNvGraphicFramePr>
          <p:nvPr>
            <p:extLst>
              <p:ext uri="{D42A27DB-BD31-4B8C-83A1-F6EECF244321}">
                <p14:modId xmlns:p14="http://schemas.microsoft.com/office/powerpoint/2010/main" val="708680318"/>
              </p:ext>
            </p:extLst>
          </p:nvPr>
        </p:nvGraphicFramePr>
        <p:xfrm>
          <a:off x="7155179" y="1275541"/>
          <a:ext cx="4375830" cy="4663540"/>
        </p:xfrm>
        <a:graphic>
          <a:graphicData uri="http://schemas.openxmlformats.org/drawingml/2006/table">
            <a:tbl>
              <a:tblPr firstRow="1" bandRow="1">
                <a:tableStyleId>{21E4AEA4-8DFA-4A89-87EB-49C32662AFE0}</a:tableStyleId>
              </a:tblPr>
              <a:tblGrid>
                <a:gridCol w="2590255">
                  <a:extLst>
                    <a:ext uri="{9D8B030D-6E8A-4147-A177-3AD203B41FA5}">
                      <a16:colId xmlns:a16="http://schemas.microsoft.com/office/drawing/2014/main" val="974171309"/>
                    </a:ext>
                  </a:extLst>
                </a:gridCol>
                <a:gridCol w="1785575">
                  <a:extLst>
                    <a:ext uri="{9D8B030D-6E8A-4147-A177-3AD203B41FA5}">
                      <a16:colId xmlns:a16="http://schemas.microsoft.com/office/drawing/2014/main" val="2696504857"/>
                    </a:ext>
                  </a:extLst>
                </a:gridCol>
              </a:tblGrid>
              <a:tr h="348191">
                <a:tc>
                  <a:txBody>
                    <a:bodyPr/>
                    <a:lstStyle/>
                    <a:p>
                      <a:r>
                        <a:rPr lang="it-IT" sz="1600">
                          <a:latin typeface="Arial" panose="020B0604020202020204" pitchFamily="34" charset="0"/>
                          <a:cs typeface="Arial" panose="020B0604020202020204" pitchFamily="34" charset="0"/>
                        </a:rPr>
                        <a:t>Variable</a:t>
                      </a:r>
                    </a:p>
                  </a:txBody>
                  <a:tcPr marL="76415" marR="76415" marT="38207" marB="38207"/>
                </a:tc>
                <a:tc>
                  <a:txBody>
                    <a:bodyPr/>
                    <a:lstStyle/>
                    <a:p>
                      <a:r>
                        <a:rPr lang="it-IT" sz="1600">
                          <a:latin typeface="Arial" panose="020B0604020202020204" pitchFamily="34" charset="0"/>
                          <a:cs typeface="Arial" panose="020B0604020202020204" pitchFamily="34" charset="0"/>
                        </a:rPr>
                        <a:t>Description</a:t>
                      </a:r>
                    </a:p>
                  </a:txBody>
                  <a:tcPr marL="76415" marR="76415" marT="38207" marB="38207"/>
                </a:tc>
                <a:extLst>
                  <a:ext uri="{0D108BD9-81ED-4DB2-BD59-A6C34878D82A}">
                    <a16:rowId xmlns:a16="http://schemas.microsoft.com/office/drawing/2014/main" val="2307359687"/>
                  </a:ext>
                </a:extLst>
              </a:tr>
              <a:tr h="348191">
                <a:tc>
                  <a:txBody>
                    <a:bodyPr/>
                    <a:lstStyle/>
                    <a:p>
                      <a:r>
                        <a:rPr lang="it-IT" sz="1600">
                          <a:latin typeface="Arial" panose="020B0604020202020204" pitchFamily="34" charset="0"/>
                          <a:cs typeface="Arial" panose="020B0604020202020204" pitchFamily="34" charset="0"/>
                        </a:rPr>
                        <a:t>Pregnancies</a:t>
                      </a:r>
                    </a:p>
                  </a:txBody>
                  <a:tcPr marL="76415" marR="76415" marT="38207" marB="38207"/>
                </a:tc>
                <a:tc>
                  <a:txBody>
                    <a:bodyPr/>
                    <a:lstStyle/>
                    <a:p>
                      <a:r>
                        <a:rPr lang="it-IT" sz="1600">
                          <a:latin typeface="Arial" panose="020B0604020202020204" pitchFamily="34" charset="0"/>
                          <a:cs typeface="Arial" panose="020B0604020202020204" pitchFamily="34" charset="0"/>
                        </a:rPr>
                        <a:t>N of pregnancies</a:t>
                      </a:r>
                    </a:p>
                  </a:txBody>
                  <a:tcPr marL="76415" marR="76415" marT="38207" marB="38207"/>
                </a:tc>
                <a:extLst>
                  <a:ext uri="{0D108BD9-81ED-4DB2-BD59-A6C34878D82A}">
                    <a16:rowId xmlns:a16="http://schemas.microsoft.com/office/drawing/2014/main" val="4120383625"/>
                  </a:ext>
                </a:extLst>
              </a:tr>
              <a:tr h="584517">
                <a:tc>
                  <a:txBody>
                    <a:bodyPr/>
                    <a:lstStyle/>
                    <a:p>
                      <a:r>
                        <a:rPr lang="it-IT" sz="1600">
                          <a:latin typeface="Arial" panose="020B0604020202020204" pitchFamily="34" charset="0"/>
                          <a:cs typeface="Arial" panose="020B0604020202020204" pitchFamily="34" charset="0"/>
                        </a:rPr>
                        <a:t>Glucose</a:t>
                      </a:r>
                    </a:p>
                  </a:txBody>
                  <a:tcPr marL="76415" marR="76415" marT="38207" marB="38207"/>
                </a:tc>
                <a:tc>
                  <a:txBody>
                    <a:bodyPr/>
                    <a:lstStyle/>
                    <a:p>
                      <a:r>
                        <a:rPr lang="it-IT" sz="1600">
                          <a:latin typeface="Arial" panose="020B0604020202020204" pitchFamily="34" charset="0"/>
                          <a:cs typeface="Arial" panose="020B0604020202020204" pitchFamily="34" charset="0"/>
                        </a:rPr>
                        <a:t>Plasma glucose concentration</a:t>
                      </a:r>
                    </a:p>
                  </a:txBody>
                  <a:tcPr marL="76415" marR="76415" marT="38207" marB="38207"/>
                </a:tc>
                <a:extLst>
                  <a:ext uri="{0D108BD9-81ED-4DB2-BD59-A6C34878D82A}">
                    <a16:rowId xmlns:a16="http://schemas.microsoft.com/office/drawing/2014/main" val="885227586"/>
                  </a:ext>
                </a:extLst>
              </a:tr>
              <a:tr h="584517">
                <a:tc>
                  <a:txBody>
                    <a:bodyPr/>
                    <a:lstStyle/>
                    <a:p>
                      <a:r>
                        <a:rPr lang="it-IT" sz="1600">
                          <a:latin typeface="Arial" panose="020B0604020202020204" pitchFamily="34" charset="0"/>
                          <a:cs typeface="Arial" panose="020B0604020202020204" pitchFamily="34" charset="0"/>
                        </a:rPr>
                        <a:t>Blood Pressure</a:t>
                      </a:r>
                    </a:p>
                  </a:txBody>
                  <a:tcPr marL="76415" marR="76415" marT="38207" marB="38207"/>
                </a:tc>
                <a:tc>
                  <a:txBody>
                    <a:bodyPr/>
                    <a:lstStyle/>
                    <a:p>
                      <a:r>
                        <a:rPr lang="it-IT" sz="1600">
                          <a:latin typeface="Arial" panose="020B0604020202020204" pitchFamily="34" charset="0"/>
                          <a:cs typeface="Arial" panose="020B0604020202020204" pitchFamily="34" charset="0"/>
                        </a:rPr>
                        <a:t>Diastolic blood pressure</a:t>
                      </a:r>
                    </a:p>
                  </a:txBody>
                  <a:tcPr marL="76415" marR="76415" marT="38207" marB="38207"/>
                </a:tc>
                <a:extLst>
                  <a:ext uri="{0D108BD9-81ED-4DB2-BD59-A6C34878D82A}">
                    <a16:rowId xmlns:a16="http://schemas.microsoft.com/office/drawing/2014/main" val="3176262601"/>
                  </a:ext>
                </a:extLst>
              </a:tr>
              <a:tr h="584517">
                <a:tc>
                  <a:txBody>
                    <a:bodyPr/>
                    <a:lstStyle/>
                    <a:p>
                      <a:r>
                        <a:rPr lang="it-IT" sz="1600">
                          <a:latin typeface="Arial" panose="020B0604020202020204" pitchFamily="34" charset="0"/>
                          <a:cs typeface="Arial" panose="020B0604020202020204" pitchFamily="34" charset="0"/>
                        </a:rPr>
                        <a:t>Skin Thickness</a:t>
                      </a:r>
                    </a:p>
                  </a:txBody>
                  <a:tcPr marL="76415" marR="76415" marT="38207" marB="38207"/>
                </a:tc>
                <a:tc>
                  <a:txBody>
                    <a:bodyPr/>
                    <a:lstStyle/>
                    <a:p>
                      <a:r>
                        <a:rPr lang="it-IT" sz="1600">
                          <a:latin typeface="Arial" panose="020B0604020202020204" pitchFamily="34" charset="0"/>
                          <a:cs typeface="Arial" panose="020B0604020202020204" pitchFamily="34" charset="0"/>
                        </a:rPr>
                        <a:t>Triceps skinfold thickness</a:t>
                      </a:r>
                    </a:p>
                  </a:txBody>
                  <a:tcPr marL="76415" marR="76415" marT="38207" marB="38207"/>
                </a:tc>
                <a:extLst>
                  <a:ext uri="{0D108BD9-81ED-4DB2-BD59-A6C34878D82A}">
                    <a16:rowId xmlns:a16="http://schemas.microsoft.com/office/drawing/2014/main" val="3604242784"/>
                  </a:ext>
                </a:extLst>
              </a:tr>
              <a:tr h="348191">
                <a:tc>
                  <a:txBody>
                    <a:bodyPr/>
                    <a:lstStyle/>
                    <a:p>
                      <a:r>
                        <a:rPr lang="it-IT" sz="1600">
                          <a:latin typeface="Arial" panose="020B0604020202020204" pitchFamily="34" charset="0"/>
                          <a:cs typeface="Arial" panose="020B0604020202020204" pitchFamily="34" charset="0"/>
                        </a:rPr>
                        <a:t>Insulin</a:t>
                      </a:r>
                    </a:p>
                  </a:txBody>
                  <a:tcPr marL="76415" marR="76415" marT="38207" marB="38207"/>
                </a:tc>
                <a:tc>
                  <a:txBody>
                    <a:bodyPr/>
                    <a:lstStyle/>
                    <a:p>
                      <a:r>
                        <a:rPr lang="it-IT" sz="1600">
                          <a:latin typeface="Arial" panose="020B0604020202020204" pitchFamily="34" charset="0"/>
                          <a:cs typeface="Arial" panose="020B0604020202020204" pitchFamily="34" charset="0"/>
                        </a:rPr>
                        <a:t>Serum insulin</a:t>
                      </a:r>
                    </a:p>
                  </a:txBody>
                  <a:tcPr marL="76415" marR="76415" marT="38207" marB="38207"/>
                </a:tc>
                <a:extLst>
                  <a:ext uri="{0D108BD9-81ED-4DB2-BD59-A6C34878D82A}">
                    <a16:rowId xmlns:a16="http://schemas.microsoft.com/office/drawing/2014/main" val="3936833851"/>
                  </a:ext>
                </a:extLst>
              </a:tr>
              <a:tr h="348191">
                <a:tc>
                  <a:txBody>
                    <a:bodyPr/>
                    <a:lstStyle/>
                    <a:p>
                      <a:r>
                        <a:rPr lang="it-IT" sz="1600">
                          <a:latin typeface="Arial" panose="020B0604020202020204" pitchFamily="34" charset="0"/>
                          <a:cs typeface="Arial" panose="020B0604020202020204" pitchFamily="34" charset="0"/>
                        </a:rPr>
                        <a:t>BMI</a:t>
                      </a:r>
                    </a:p>
                  </a:txBody>
                  <a:tcPr marL="76415" marR="76415" marT="38207" marB="38207"/>
                </a:tc>
                <a:tc>
                  <a:txBody>
                    <a:bodyPr/>
                    <a:lstStyle/>
                    <a:p>
                      <a:r>
                        <a:rPr lang="it-IT" sz="1600">
                          <a:latin typeface="Arial" panose="020B0604020202020204" pitchFamily="34" charset="0"/>
                          <a:cs typeface="Arial" panose="020B0604020202020204" pitchFamily="34" charset="0"/>
                        </a:rPr>
                        <a:t>Body Mass Index</a:t>
                      </a:r>
                    </a:p>
                  </a:txBody>
                  <a:tcPr marL="76415" marR="76415" marT="38207" marB="38207"/>
                </a:tc>
                <a:extLst>
                  <a:ext uri="{0D108BD9-81ED-4DB2-BD59-A6C34878D82A}">
                    <a16:rowId xmlns:a16="http://schemas.microsoft.com/office/drawing/2014/main" val="71224820"/>
                  </a:ext>
                </a:extLst>
              </a:tr>
              <a:tr h="584517">
                <a:tc>
                  <a:txBody>
                    <a:bodyPr/>
                    <a:lstStyle/>
                    <a:p>
                      <a:r>
                        <a:rPr lang="it-IT" sz="1600">
                          <a:latin typeface="Arial" panose="020B0604020202020204" pitchFamily="34" charset="0"/>
                          <a:cs typeface="Arial" panose="020B0604020202020204" pitchFamily="34" charset="0"/>
                        </a:rPr>
                        <a:t>DiabetesPedigreeFunction</a:t>
                      </a:r>
                    </a:p>
                  </a:txBody>
                  <a:tcPr marL="76415" marR="76415" marT="38207" marB="38207"/>
                </a:tc>
                <a:tc>
                  <a:txBody>
                    <a:bodyPr/>
                    <a:lstStyle/>
                    <a:p>
                      <a:r>
                        <a:rPr lang="it-IT" sz="1600">
                          <a:latin typeface="Arial" panose="020B0604020202020204" pitchFamily="34" charset="0"/>
                          <a:cs typeface="Arial" panose="020B0604020202020204" pitchFamily="34" charset="0"/>
                        </a:rPr>
                        <a:t>Diabetes family history score</a:t>
                      </a:r>
                    </a:p>
                  </a:txBody>
                  <a:tcPr marL="76415" marR="76415" marT="38207" marB="38207"/>
                </a:tc>
                <a:extLst>
                  <a:ext uri="{0D108BD9-81ED-4DB2-BD59-A6C34878D82A}">
                    <a16:rowId xmlns:a16="http://schemas.microsoft.com/office/drawing/2014/main" val="2821991990"/>
                  </a:ext>
                </a:extLst>
              </a:tr>
              <a:tr h="348191">
                <a:tc>
                  <a:txBody>
                    <a:bodyPr/>
                    <a:lstStyle/>
                    <a:p>
                      <a:r>
                        <a:rPr lang="it-IT" sz="1600">
                          <a:latin typeface="Arial" panose="020B0604020202020204" pitchFamily="34" charset="0"/>
                          <a:cs typeface="Arial" panose="020B0604020202020204" pitchFamily="34" charset="0"/>
                        </a:rPr>
                        <a:t>Age</a:t>
                      </a:r>
                    </a:p>
                  </a:txBody>
                  <a:tcPr marL="76415" marR="76415" marT="38207" marB="38207"/>
                </a:tc>
                <a:tc>
                  <a:txBody>
                    <a:bodyPr/>
                    <a:lstStyle/>
                    <a:p>
                      <a:r>
                        <a:rPr lang="it-IT" sz="1600" dirty="0">
                          <a:latin typeface="Arial" panose="020B0604020202020204" pitchFamily="34" charset="0"/>
                          <a:cs typeface="Arial" panose="020B0604020202020204" pitchFamily="34" charset="0"/>
                        </a:rPr>
                        <a:t>Age in </a:t>
                      </a:r>
                      <a:r>
                        <a:rPr lang="it-IT" sz="1600" dirty="0" err="1">
                          <a:latin typeface="Arial" panose="020B0604020202020204" pitchFamily="34" charset="0"/>
                          <a:cs typeface="Arial" panose="020B0604020202020204" pitchFamily="34" charset="0"/>
                        </a:rPr>
                        <a:t>years</a:t>
                      </a:r>
                      <a:endParaRPr lang="it-IT" sz="1600" dirty="0">
                        <a:latin typeface="Arial" panose="020B0604020202020204" pitchFamily="34" charset="0"/>
                        <a:cs typeface="Arial" panose="020B0604020202020204" pitchFamily="34" charset="0"/>
                      </a:endParaRPr>
                    </a:p>
                  </a:txBody>
                  <a:tcPr marL="76415" marR="76415" marT="38207" marB="38207"/>
                </a:tc>
                <a:extLst>
                  <a:ext uri="{0D108BD9-81ED-4DB2-BD59-A6C34878D82A}">
                    <a16:rowId xmlns:a16="http://schemas.microsoft.com/office/drawing/2014/main" val="1011657369"/>
                  </a:ext>
                </a:extLst>
              </a:tr>
              <a:tr h="584517">
                <a:tc>
                  <a:txBody>
                    <a:bodyPr/>
                    <a:lstStyle/>
                    <a:p>
                      <a:r>
                        <a:rPr lang="it-IT" sz="1600" dirty="0" err="1">
                          <a:latin typeface="Arial" panose="020B0604020202020204" pitchFamily="34" charset="0"/>
                          <a:cs typeface="Arial" panose="020B0604020202020204" pitchFamily="34" charset="0"/>
                        </a:rPr>
                        <a:t>Outcome</a:t>
                      </a:r>
                      <a:endParaRPr lang="it-IT" sz="1600" dirty="0">
                        <a:latin typeface="Arial" panose="020B0604020202020204" pitchFamily="34" charset="0"/>
                        <a:cs typeface="Arial" panose="020B0604020202020204" pitchFamily="34" charset="0"/>
                      </a:endParaRPr>
                    </a:p>
                  </a:txBody>
                  <a:tcPr marL="76415" marR="76415" marT="38207" marB="38207"/>
                </a:tc>
                <a:tc>
                  <a:txBody>
                    <a:bodyPr/>
                    <a:lstStyle/>
                    <a:p>
                      <a:r>
                        <a:rPr lang="it-IT" sz="1600" dirty="0">
                          <a:latin typeface="Arial" panose="020B0604020202020204" pitchFamily="34" charset="0"/>
                          <a:cs typeface="Arial" panose="020B0604020202020204" pitchFamily="34" charset="0"/>
                        </a:rPr>
                        <a:t>0 = no </a:t>
                      </a:r>
                      <a:r>
                        <a:rPr lang="it-IT" sz="1600" dirty="0" err="1">
                          <a:latin typeface="Arial" panose="020B0604020202020204" pitchFamily="34" charset="0"/>
                          <a:cs typeface="Arial" panose="020B0604020202020204" pitchFamily="34" charset="0"/>
                        </a:rPr>
                        <a:t>diabetes</a:t>
                      </a:r>
                      <a:endParaRPr lang="it-IT" sz="1600" dirty="0">
                        <a:latin typeface="Arial" panose="020B0604020202020204" pitchFamily="34" charset="0"/>
                        <a:cs typeface="Arial" panose="020B0604020202020204" pitchFamily="34" charset="0"/>
                      </a:endParaRPr>
                    </a:p>
                    <a:p>
                      <a:r>
                        <a:rPr lang="it-IT" sz="1600" dirty="0">
                          <a:latin typeface="Arial" panose="020B0604020202020204" pitchFamily="34" charset="0"/>
                          <a:cs typeface="Arial" panose="020B0604020202020204" pitchFamily="34" charset="0"/>
                        </a:rPr>
                        <a:t>1 = </a:t>
                      </a:r>
                      <a:r>
                        <a:rPr lang="it-IT" sz="1600" dirty="0" err="1">
                          <a:latin typeface="Arial" panose="020B0604020202020204" pitchFamily="34" charset="0"/>
                          <a:cs typeface="Arial" panose="020B0604020202020204" pitchFamily="34" charset="0"/>
                        </a:rPr>
                        <a:t>diabetes</a:t>
                      </a:r>
                      <a:endParaRPr lang="it-IT" sz="1600" dirty="0">
                        <a:latin typeface="Arial" panose="020B0604020202020204" pitchFamily="34" charset="0"/>
                        <a:cs typeface="Arial" panose="020B0604020202020204" pitchFamily="34" charset="0"/>
                      </a:endParaRPr>
                    </a:p>
                  </a:txBody>
                  <a:tcPr marL="76415" marR="76415" marT="38207" marB="38207"/>
                </a:tc>
                <a:extLst>
                  <a:ext uri="{0D108BD9-81ED-4DB2-BD59-A6C34878D82A}">
                    <a16:rowId xmlns:a16="http://schemas.microsoft.com/office/drawing/2014/main" val="1693883136"/>
                  </a:ext>
                </a:extLst>
              </a:tr>
            </a:tbl>
          </a:graphicData>
        </a:graphic>
      </p:graphicFrame>
      <p:sp>
        <p:nvSpPr>
          <p:cNvPr id="4" name="CasellaDiTesto 3">
            <a:extLst>
              <a:ext uri="{FF2B5EF4-FFF2-40B4-BE49-F238E27FC236}">
                <a16:creationId xmlns:a16="http://schemas.microsoft.com/office/drawing/2014/main" id="{76F7AD00-ECA9-7639-B2AA-29365945570E}"/>
              </a:ext>
            </a:extLst>
          </p:cNvPr>
          <p:cNvSpPr txBox="1"/>
          <p:nvPr/>
        </p:nvSpPr>
        <p:spPr>
          <a:xfrm>
            <a:off x="8448540" y="5939081"/>
            <a:ext cx="2936383" cy="738664"/>
          </a:xfrm>
          <a:prstGeom prst="rect">
            <a:avLst/>
          </a:prstGeom>
          <a:noFill/>
        </p:spPr>
        <p:txBody>
          <a:bodyPr wrap="square" rtlCol="0">
            <a:spAutoFit/>
          </a:bodyPr>
          <a:lstStyle/>
          <a:p>
            <a:r>
              <a:rPr lang="it-IT" sz="1400" i="1" dirty="0" err="1">
                <a:solidFill>
                  <a:schemeClr val="accent3">
                    <a:lumMod val="75000"/>
                  </a:schemeClr>
                </a:solidFill>
              </a:rPr>
              <a:t>dim</a:t>
            </a:r>
            <a:r>
              <a:rPr lang="it-IT" sz="1400" i="1" dirty="0">
                <a:solidFill>
                  <a:schemeClr val="accent3">
                    <a:lumMod val="75000"/>
                  </a:schemeClr>
                </a:solidFill>
              </a:rPr>
              <a:t>(</a:t>
            </a:r>
            <a:r>
              <a:rPr lang="it-IT" sz="1400" i="1" dirty="0" err="1">
                <a:solidFill>
                  <a:schemeClr val="accent3">
                    <a:lumMod val="75000"/>
                  </a:schemeClr>
                </a:solidFill>
              </a:rPr>
              <a:t>diabetes</a:t>
            </a:r>
            <a:r>
              <a:rPr lang="it-IT" sz="1400" i="1" dirty="0">
                <a:solidFill>
                  <a:schemeClr val="accent3">
                    <a:lumMod val="75000"/>
                  </a:schemeClr>
                </a:solidFill>
              </a:rPr>
              <a:t>)</a:t>
            </a:r>
          </a:p>
          <a:p>
            <a:r>
              <a:rPr lang="it-IT" sz="1400" i="1" dirty="0">
                <a:solidFill>
                  <a:schemeClr val="accent3">
                    <a:lumMod val="75000"/>
                  </a:schemeClr>
                </a:solidFill>
              </a:rPr>
              <a:t>names(</a:t>
            </a:r>
            <a:r>
              <a:rPr lang="it-IT" sz="1400" i="1" dirty="0" err="1">
                <a:solidFill>
                  <a:schemeClr val="accent3">
                    <a:lumMod val="75000"/>
                  </a:schemeClr>
                </a:solidFill>
              </a:rPr>
              <a:t>diabetes</a:t>
            </a:r>
            <a:r>
              <a:rPr lang="it-IT" sz="1400" i="1" dirty="0">
                <a:solidFill>
                  <a:schemeClr val="accent3">
                    <a:lumMod val="75000"/>
                  </a:schemeClr>
                </a:solidFill>
              </a:rPr>
              <a:t>)</a:t>
            </a:r>
          </a:p>
          <a:p>
            <a:r>
              <a:rPr lang="it-IT" sz="1400" i="1" dirty="0" err="1">
                <a:solidFill>
                  <a:schemeClr val="accent3">
                    <a:lumMod val="75000"/>
                  </a:schemeClr>
                </a:solidFill>
              </a:rPr>
              <a:t>str</a:t>
            </a:r>
            <a:r>
              <a:rPr lang="it-IT" sz="1400" i="1" dirty="0">
                <a:solidFill>
                  <a:schemeClr val="accent3">
                    <a:lumMod val="75000"/>
                  </a:schemeClr>
                </a:solidFill>
              </a:rPr>
              <a:t>(</a:t>
            </a:r>
            <a:r>
              <a:rPr lang="it-IT" sz="1400" i="1" dirty="0" err="1">
                <a:solidFill>
                  <a:schemeClr val="accent3">
                    <a:lumMod val="75000"/>
                  </a:schemeClr>
                </a:solidFill>
              </a:rPr>
              <a:t>diabetes</a:t>
            </a:r>
            <a:r>
              <a:rPr lang="it-IT" sz="1400" i="1" dirty="0">
                <a:solidFill>
                  <a:schemeClr val="accent3">
                    <a:lumMod val="75000"/>
                  </a:schemeClr>
                </a:solidFill>
              </a:rPr>
              <a:t>)</a:t>
            </a:r>
          </a:p>
        </p:txBody>
      </p:sp>
      <p:pic>
        <p:nvPicPr>
          <p:cNvPr id="5" name="Immagine 4" descr="Immagine che contiene logo, simbolo, Carattere, Elementi grafici&#10;&#10;Il contenuto generato dall'IA potrebbe non essere corretto.">
            <a:extLst>
              <a:ext uri="{FF2B5EF4-FFF2-40B4-BE49-F238E27FC236}">
                <a16:creationId xmlns:a16="http://schemas.microsoft.com/office/drawing/2014/main" id="{040996B1-603F-9AD3-4B72-9B690C2CB7B1}"/>
              </a:ext>
            </a:extLst>
          </p:cNvPr>
          <p:cNvPicPr>
            <a:picLocks noChangeAspect="1"/>
          </p:cNvPicPr>
          <p:nvPr/>
        </p:nvPicPr>
        <p:blipFill>
          <a:blip r:embed="rId4"/>
          <a:stretch>
            <a:fillRect/>
          </a:stretch>
        </p:blipFill>
        <p:spPr>
          <a:xfrm>
            <a:off x="11581863" y="6291379"/>
            <a:ext cx="413197" cy="386366"/>
          </a:xfrm>
          <a:prstGeom prst="rect">
            <a:avLst/>
          </a:prstGeom>
        </p:spPr>
      </p:pic>
    </p:spTree>
    <p:extLst>
      <p:ext uri="{BB962C8B-B14F-4D97-AF65-F5344CB8AC3E}">
        <p14:creationId xmlns:p14="http://schemas.microsoft.com/office/powerpoint/2010/main" val="264899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785C637-E465-3C6B-C71C-61BDEB34C70B}"/>
              </a:ext>
            </a:extLst>
          </p:cNvPr>
          <p:cNvSpPr>
            <a:spLocks noGrp="1"/>
          </p:cNvSpPr>
          <p:nvPr>
            <p:ph type="title"/>
          </p:nvPr>
        </p:nvSpPr>
        <p:spPr>
          <a:xfrm>
            <a:off x="4489965" y="1491331"/>
            <a:ext cx="6034187" cy="1097280"/>
          </a:xfrm>
        </p:spPr>
        <p:txBody>
          <a:bodyPr>
            <a:normAutofit/>
          </a:bodyPr>
          <a:lstStyle/>
          <a:p>
            <a:r>
              <a:rPr lang="it-IT" dirty="0" err="1"/>
              <a:t>Methodology</a:t>
            </a:r>
            <a:endParaRPr lang="it-IT" dirty="0"/>
          </a:p>
        </p:txBody>
      </p:sp>
      <p:pic>
        <p:nvPicPr>
          <p:cNvPr id="5" name="Picture 4" descr="Immagine che contiene Policromia, modello, linea, verde&#10;&#10;Il contenuto generato dall'IA potrebbe non essere corretto.">
            <a:extLst>
              <a:ext uri="{FF2B5EF4-FFF2-40B4-BE49-F238E27FC236}">
                <a16:creationId xmlns:a16="http://schemas.microsoft.com/office/drawing/2014/main" id="{39C6B23C-F051-D673-3E0A-CF4A8CE7FF21}"/>
              </a:ext>
            </a:extLst>
          </p:cNvPr>
          <p:cNvPicPr>
            <a:picLocks noChangeAspect="1"/>
          </p:cNvPicPr>
          <p:nvPr/>
        </p:nvPicPr>
        <p:blipFill>
          <a:blip r:embed="rId3"/>
          <a:srcRect l="18306" r="12631" b="2"/>
          <a:stretch>
            <a:fillRect/>
          </a:stretch>
        </p:blipFill>
        <p:spPr>
          <a:xfrm>
            <a:off x="20" y="10"/>
            <a:ext cx="3966673" cy="6857990"/>
          </a:xfrm>
          <a:prstGeom prst="rect">
            <a:avLst/>
          </a:prstGeom>
        </p:spPr>
      </p:pic>
      <p:cxnSp>
        <p:nvCxnSpPr>
          <p:cNvPr id="18" name="Straight Connector 17">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Segnaposto contenuto 3">
            <a:extLst>
              <a:ext uri="{FF2B5EF4-FFF2-40B4-BE49-F238E27FC236}">
                <a16:creationId xmlns:a16="http://schemas.microsoft.com/office/drawing/2014/main" id="{A3AFC005-6E56-EF80-7FF6-B3F52DD18CD2}"/>
              </a:ext>
            </a:extLst>
          </p:cNvPr>
          <p:cNvGraphicFramePr>
            <a:graphicFrameLocks noGrp="1"/>
          </p:cNvGraphicFramePr>
          <p:nvPr>
            <p:ph idx="1"/>
            <p:extLst>
              <p:ext uri="{D42A27DB-BD31-4B8C-83A1-F6EECF244321}">
                <p14:modId xmlns:p14="http://schemas.microsoft.com/office/powerpoint/2010/main" val="1820679851"/>
              </p:ext>
            </p:extLst>
          </p:nvPr>
        </p:nvGraphicFramePr>
        <p:xfrm>
          <a:off x="5703419" y="2380567"/>
          <a:ext cx="6034187" cy="3664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Rectangle 2">
            <a:extLst>
              <a:ext uri="{FF2B5EF4-FFF2-40B4-BE49-F238E27FC236}">
                <a16:creationId xmlns:a16="http://schemas.microsoft.com/office/drawing/2014/main" id="{A83204A8-6148-A053-FA43-A105D875C175}"/>
              </a:ext>
            </a:extLst>
          </p:cNvPr>
          <p:cNvSpPr>
            <a:spLocks noChangeArrowheads="1"/>
          </p:cNvSpPr>
          <p:nvPr/>
        </p:nvSpPr>
        <p:spPr bwMode="auto">
          <a:xfrm>
            <a:off x="7856113" y="362635"/>
            <a:ext cx="44818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200" b="0" i="1" u="none" strike="noStrike" cap="none" normalizeH="0" baseline="0">
                <a:ln>
                  <a:noFill/>
                </a:ln>
                <a:solidFill>
                  <a:srgbClr val="000000"/>
                </a:solidFill>
                <a:effectLst/>
                <a:latin typeface="Arial" panose="020B0604020202020204" pitchFamily="34" charset="0"/>
              </a:rPr>
              <a:t>"…make </a:t>
            </a:r>
            <a:r>
              <a:rPr kumimoji="0" lang="it-IT" altLang="it-IT" sz="1200" b="0" i="1" u="none" strike="noStrike" cap="none" normalizeH="0" baseline="0" err="1">
                <a:ln>
                  <a:noFill/>
                </a:ln>
                <a:solidFill>
                  <a:srgbClr val="000000"/>
                </a:solidFill>
                <a:effectLst/>
                <a:latin typeface="Arial" panose="020B0604020202020204" pitchFamily="34" charset="0"/>
              </a:rPr>
              <a:t>both</a:t>
            </a:r>
            <a:r>
              <a:rPr kumimoji="0" lang="it-IT" altLang="it-IT" sz="1200" b="0" i="1" u="none" strike="noStrike" cap="none" normalizeH="0" baseline="0">
                <a:ln>
                  <a:noFill/>
                </a:ln>
                <a:solidFill>
                  <a:srgbClr val="000000"/>
                </a:solidFill>
                <a:effectLst/>
                <a:latin typeface="Arial" panose="020B0604020202020204" pitchFamily="34" charset="0"/>
              </a:rPr>
              <a:t> </a:t>
            </a:r>
            <a:r>
              <a:rPr kumimoji="0" lang="it-IT" altLang="it-IT" sz="1200" b="0" i="1" u="none" strike="noStrike" cap="none" normalizeH="0" baseline="0" err="1">
                <a:ln>
                  <a:noFill/>
                </a:ln>
                <a:solidFill>
                  <a:srgbClr val="000000"/>
                </a:solidFill>
                <a:effectLst/>
                <a:latin typeface="Arial" panose="020B0604020202020204" pitchFamily="34" charset="0"/>
              </a:rPr>
              <a:t>calculations</a:t>
            </a:r>
            <a:r>
              <a:rPr kumimoji="0" lang="it-IT" altLang="it-IT" sz="1200" b="0" i="1" u="none" strike="noStrike" cap="none" normalizeH="0" baseline="0">
                <a:ln>
                  <a:noFill/>
                </a:ln>
                <a:solidFill>
                  <a:srgbClr val="000000"/>
                </a:solidFill>
                <a:effectLst/>
                <a:latin typeface="Arial" panose="020B0604020202020204" pitchFamily="34" charset="0"/>
              </a:rPr>
              <a:t> and </a:t>
            </a:r>
            <a:r>
              <a:rPr kumimoji="0" lang="it-IT" altLang="it-IT" sz="1200" b="0" i="1" u="none" strike="noStrike" cap="none" normalizeH="0" baseline="0" err="1">
                <a:ln>
                  <a:noFill/>
                </a:ln>
                <a:solidFill>
                  <a:srgbClr val="000000"/>
                </a:solidFill>
                <a:effectLst/>
                <a:latin typeface="Arial" panose="020B0604020202020204" pitchFamily="34" charset="0"/>
              </a:rPr>
              <a:t>graphs</a:t>
            </a:r>
            <a:r>
              <a:rPr kumimoji="0" lang="it-IT" altLang="it-IT" sz="1200" b="0" i="1" u="none" strike="noStrike" cap="none" normalizeH="0" baseline="0">
                <a:ln>
                  <a:noFill/>
                </a:ln>
                <a:solidFill>
                  <a:srgbClr val="000000"/>
                </a:solidFill>
                <a:effectLst/>
                <a:latin typeface="Arial" panose="020B0604020202020204" pitchFamily="34" charset="0"/>
              </a:rPr>
              <a:t>. </a:t>
            </a:r>
            <a:r>
              <a:rPr kumimoji="0" lang="it-IT" altLang="it-IT" sz="1200" b="0" i="1" u="none" strike="noStrike" cap="none" normalizeH="0" baseline="0" err="1">
                <a:ln>
                  <a:noFill/>
                </a:ln>
                <a:solidFill>
                  <a:srgbClr val="000000"/>
                </a:solidFill>
                <a:effectLst/>
                <a:latin typeface="Arial" panose="020B0604020202020204" pitchFamily="34" charset="0"/>
              </a:rPr>
              <a:t>Both</a:t>
            </a:r>
            <a:r>
              <a:rPr kumimoji="0" lang="it-IT" altLang="it-IT" sz="1200" b="0" i="1" u="none" strike="noStrike" cap="none" normalizeH="0" baseline="0">
                <a:ln>
                  <a:noFill/>
                </a:ln>
                <a:solidFill>
                  <a:srgbClr val="000000"/>
                </a:solidFill>
                <a:effectLst/>
                <a:latin typeface="Arial" panose="020B0604020202020204" pitchFamily="34" charset="0"/>
              </a:rPr>
              <a:t> sorts of output </a:t>
            </a:r>
            <a:r>
              <a:rPr kumimoji="0" lang="it-IT" altLang="it-IT" sz="1200" b="0" i="1" u="none" strike="noStrike" cap="none" normalizeH="0" baseline="0" err="1">
                <a:ln>
                  <a:noFill/>
                </a:ln>
                <a:solidFill>
                  <a:srgbClr val="000000"/>
                </a:solidFill>
                <a:effectLst/>
                <a:latin typeface="Arial" panose="020B0604020202020204" pitchFamily="34" charset="0"/>
              </a:rPr>
              <a:t>should</a:t>
            </a:r>
            <a:r>
              <a:rPr kumimoji="0" lang="it-IT" altLang="it-IT" sz="1200" b="0" i="1" u="none" strike="noStrike" cap="none" normalizeH="0" baseline="0">
                <a:ln>
                  <a:noFill/>
                </a:ln>
                <a:solidFill>
                  <a:srgbClr val="000000"/>
                </a:solidFill>
                <a:effectLst/>
                <a:latin typeface="Arial" panose="020B0604020202020204" pitchFamily="34" charset="0"/>
              </a:rPr>
              <a:t> be </a:t>
            </a:r>
            <a:r>
              <a:rPr kumimoji="0" lang="it-IT" altLang="it-IT" sz="1200" b="0" i="1" u="none" strike="noStrike" cap="none" normalizeH="0" baseline="0" err="1">
                <a:ln>
                  <a:noFill/>
                </a:ln>
                <a:solidFill>
                  <a:srgbClr val="000000"/>
                </a:solidFill>
                <a:effectLst/>
                <a:latin typeface="Arial" panose="020B0604020202020204" pitchFamily="34" charset="0"/>
              </a:rPr>
              <a:t>studied</a:t>
            </a:r>
            <a:r>
              <a:rPr kumimoji="0" lang="it-IT" altLang="it-IT" sz="1200" b="0" i="1" u="none" strike="noStrike" cap="none" normalizeH="0" baseline="0">
                <a:ln>
                  <a:noFill/>
                </a:ln>
                <a:solidFill>
                  <a:srgbClr val="000000"/>
                </a:solidFill>
                <a:effectLst/>
                <a:latin typeface="Arial" panose="020B0604020202020204" pitchFamily="34" charset="0"/>
              </a:rPr>
              <a:t>; </a:t>
            </a:r>
            <a:r>
              <a:rPr kumimoji="0" lang="it-IT" altLang="it-IT" sz="1200" b="0" i="1" u="none" strike="noStrike" cap="none" normalizeH="0" baseline="0" err="1">
                <a:ln>
                  <a:noFill/>
                </a:ln>
                <a:solidFill>
                  <a:srgbClr val="000000"/>
                </a:solidFill>
                <a:effectLst/>
                <a:latin typeface="Arial" panose="020B0604020202020204" pitchFamily="34" charset="0"/>
              </a:rPr>
              <a:t>each</a:t>
            </a:r>
            <a:r>
              <a:rPr kumimoji="0" lang="it-IT" altLang="it-IT" sz="1200" b="0" i="1" u="none" strike="noStrike" cap="none" normalizeH="0" baseline="0">
                <a:ln>
                  <a:noFill/>
                </a:ln>
                <a:solidFill>
                  <a:srgbClr val="000000"/>
                </a:solidFill>
                <a:effectLst/>
                <a:latin typeface="Arial" panose="020B0604020202020204" pitchFamily="34" charset="0"/>
              </a:rPr>
              <a:t> </a:t>
            </a:r>
            <a:r>
              <a:rPr kumimoji="0" lang="it-IT" altLang="it-IT" sz="1200" b="0" i="1" u="none" strike="noStrike" cap="none" normalizeH="0" baseline="0" err="1">
                <a:ln>
                  <a:noFill/>
                </a:ln>
                <a:solidFill>
                  <a:srgbClr val="000000"/>
                </a:solidFill>
                <a:effectLst/>
                <a:latin typeface="Arial" panose="020B0604020202020204" pitchFamily="34" charset="0"/>
              </a:rPr>
              <a:t>will</a:t>
            </a:r>
            <a:r>
              <a:rPr kumimoji="0" lang="it-IT" altLang="it-IT" sz="1200" b="0" i="1" u="none" strike="noStrike" cap="none" normalizeH="0" baseline="0">
                <a:ln>
                  <a:noFill/>
                </a:ln>
                <a:solidFill>
                  <a:srgbClr val="000000"/>
                </a:solidFill>
                <a:effectLst/>
                <a:latin typeface="Arial" panose="020B0604020202020204" pitchFamily="34" charset="0"/>
              </a:rPr>
              <a:t> </a:t>
            </a:r>
            <a:r>
              <a:rPr kumimoji="0" lang="it-IT" altLang="it-IT" sz="1200" b="0" i="1" u="none" strike="noStrike" cap="none" normalizeH="0" baseline="0" err="1">
                <a:ln>
                  <a:noFill/>
                </a:ln>
                <a:solidFill>
                  <a:srgbClr val="000000"/>
                </a:solidFill>
                <a:effectLst/>
                <a:latin typeface="Arial" panose="020B0604020202020204" pitchFamily="34" charset="0"/>
              </a:rPr>
              <a:t>contribute</a:t>
            </a:r>
            <a:r>
              <a:rPr kumimoji="0" lang="it-IT" altLang="it-IT" sz="1200" b="0" i="1" u="none" strike="noStrike" cap="none" normalizeH="0" baseline="0">
                <a:ln>
                  <a:noFill/>
                </a:ln>
                <a:solidFill>
                  <a:srgbClr val="000000"/>
                </a:solidFill>
                <a:effectLst/>
                <a:latin typeface="Arial" panose="020B0604020202020204" pitchFamily="34" charset="0"/>
              </a:rPr>
              <a:t> to </a:t>
            </a:r>
            <a:r>
              <a:rPr kumimoji="0" lang="it-IT" altLang="it-IT" sz="1200" b="0" i="1" u="none" strike="noStrike" cap="none" normalizeH="0" baseline="0" err="1">
                <a:ln>
                  <a:noFill/>
                </a:ln>
                <a:solidFill>
                  <a:srgbClr val="000000"/>
                </a:solidFill>
                <a:effectLst/>
                <a:latin typeface="Arial" panose="020B0604020202020204" pitchFamily="34" charset="0"/>
              </a:rPr>
              <a:t>understanding</a:t>
            </a:r>
            <a:r>
              <a:rPr kumimoji="0" lang="it-IT" altLang="it-IT" sz="1200" b="0" i="1" u="none" strike="noStrike" cap="none" normalizeH="0" baseline="0">
                <a:ln>
                  <a:noFill/>
                </a:ln>
                <a:solidFill>
                  <a:srgbClr val="000000"/>
                </a:solidFill>
                <a:effectLst/>
                <a:latin typeface="Arial" panose="020B0604020202020204" pitchFamily="34" charset="0"/>
              </a:rPr>
              <a:t>."</a:t>
            </a:r>
            <a:br>
              <a:rPr kumimoji="0" lang="it-IT" altLang="it-IT" sz="1200" b="0" i="0" u="none" strike="noStrike" cap="none" normalizeH="0" baseline="0">
                <a:ln>
                  <a:noFill/>
                </a:ln>
                <a:solidFill>
                  <a:schemeClr val="tx1"/>
                </a:solidFill>
                <a:effectLst/>
                <a:latin typeface="Arial" panose="020B0604020202020204" pitchFamily="34" charset="0"/>
              </a:rPr>
            </a:br>
            <a:r>
              <a:rPr kumimoji="0" lang="it-IT" altLang="it-IT" sz="1200" b="1" i="0" u="none" strike="noStrike" cap="none" normalizeH="0" baseline="0" err="1">
                <a:ln>
                  <a:noFill/>
                </a:ln>
                <a:solidFill>
                  <a:srgbClr val="000000"/>
                </a:solidFill>
                <a:effectLst/>
                <a:latin typeface="Arial" panose="020B0604020202020204" pitchFamily="34" charset="0"/>
              </a:rPr>
              <a:t>Anscombe</a:t>
            </a:r>
            <a:r>
              <a:rPr kumimoji="0" lang="it-IT" altLang="it-IT" sz="1200" b="1" i="0" u="none" strike="noStrike" cap="none" normalizeH="0" baseline="0">
                <a:ln>
                  <a:noFill/>
                </a:ln>
                <a:solidFill>
                  <a:srgbClr val="000000"/>
                </a:solidFill>
                <a:effectLst/>
                <a:latin typeface="Arial" panose="020B0604020202020204" pitchFamily="34" charset="0"/>
              </a:rPr>
              <a:t> (1973)</a:t>
            </a:r>
            <a:endParaRPr kumimoji="0" lang="it-IT" altLang="it-IT" sz="1200" b="0" i="0" u="none" strike="noStrike" cap="none" normalizeH="0" baseline="0">
              <a:ln>
                <a:noFill/>
              </a:ln>
              <a:solidFill>
                <a:schemeClr val="tx1"/>
              </a:solidFill>
              <a:effectLst/>
              <a:latin typeface="Arial" panose="020B0604020202020204" pitchFamily="34" charset="0"/>
            </a:endParaRPr>
          </a:p>
        </p:txBody>
      </p:sp>
      <p:pic>
        <p:nvPicPr>
          <p:cNvPr id="12" name="Immagine 11" descr="Immagine che contiene logo, simbolo, Carattere, Elementi grafici&#10;&#10;Il contenuto generato dall'IA potrebbe non essere corretto.">
            <a:extLst>
              <a:ext uri="{FF2B5EF4-FFF2-40B4-BE49-F238E27FC236}">
                <a16:creationId xmlns:a16="http://schemas.microsoft.com/office/drawing/2014/main" id="{EEC73DBA-2B74-C965-6DD2-3537AA2DFC4D}"/>
              </a:ext>
            </a:extLst>
          </p:cNvPr>
          <p:cNvPicPr>
            <a:picLocks noChangeAspect="1"/>
          </p:cNvPicPr>
          <p:nvPr/>
        </p:nvPicPr>
        <p:blipFill>
          <a:blip r:embed="rId9"/>
          <a:stretch>
            <a:fillRect/>
          </a:stretch>
        </p:blipFill>
        <p:spPr>
          <a:xfrm>
            <a:off x="11531008" y="6335025"/>
            <a:ext cx="413197" cy="386366"/>
          </a:xfrm>
          <a:prstGeom prst="rect">
            <a:avLst/>
          </a:prstGeom>
        </p:spPr>
      </p:pic>
      <p:sp>
        <p:nvSpPr>
          <p:cNvPr id="3" name="Rectangle 1">
            <a:extLst>
              <a:ext uri="{FF2B5EF4-FFF2-40B4-BE49-F238E27FC236}">
                <a16:creationId xmlns:a16="http://schemas.microsoft.com/office/drawing/2014/main" id="{C5886432-67E9-D84B-99F7-428C143AE270}"/>
              </a:ext>
            </a:extLst>
          </p:cNvPr>
          <p:cNvSpPr>
            <a:spLocks noChangeArrowheads="1"/>
          </p:cNvSpPr>
          <p:nvPr/>
        </p:nvSpPr>
        <p:spPr bwMode="auto">
          <a:xfrm>
            <a:off x="10113611" y="6233755"/>
            <a:ext cx="146819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a:ln>
                  <a:noFill/>
                </a:ln>
                <a:solidFill>
                  <a:schemeClr val="accent3">
                    <a:lumMod val="75000"/>
                  </a:schemeClr>
                </a:solidFill>
                <a:effectLst/>
                <a:latin typeface="Arial Unicode MS" panose="020B0604020202020204" pitchFamily="34" charset="-128"/>
              </a:rPr>
              <a:t>library(ggplot2) library(</a:t>
            </a:r>
            <a:r>
              <a:rPr kumimoji="0" lang="it-IT" altLang="it-IT" sz="1400" b="0" i="1" u="none" strike="noStrike" cap="none" normalizeH="0" baseline="0" dirty="0" err="1">
                <a:ln>
                  <a:noFill/>
                </a:ln>
                <a:solidFill>
                  <a:schemeClr val="accent3">
                    <a:lumMod val="75000"/>
                  </a:schemeClr>
                </a:solidFill>
                <a:effectLst/>
                <a:latin typeface="Arial Unicode MS" panose="020B0604020202020204" pitchFamily="34" charset="-128"/>
              </a:rPr>
              <a:t>dplyr</a:t>
            </a:r>
            <a:r>
              <a:rPr kumimoji="0" lang="it-IT" altLang="it-IT" sz="1400" b="0" i="1" u="none" strike="noStrike" cap="none" normalizeH="0" baseline="0" dirty="0">
                <a:ln>
                  <a:noFill/>
                </a:ln>
                <a:solidFill>
                  <a:schemeClr val="accent3">
                    <a:lumMod val="75000"/>
                  </a:schemeClr>
                </a:solidFill>
                <a:effectLst/>
                <a:latin typeface="Arial Unicode MS" panose="020B0604020202020204" pitchFamily="34" charset="-128"/>
              </a:rPr>
              <a:t>)</a:t>
            </a:r>
            <a:endParaRPr kumimoji="0" lang="it-IT" altLang="it-IT" sz="1400" b="0" i="1" u="none" strike="noStrike" cap="none" normalizeH="0" baseline="0" dirty="0">
              <a:ln>
                <a:noFill/>
              </a:ln>
              <a:solidFill>
                <a:schemeClr val="accent3">
                  <a:lumMod val="75000"/>
                </a:schemeClr>
              </a:solidFill>
              <a:effectLst/>
              <a:latin typeface="Arial" panose="020B0604020202020204" pitchFamily="34" charset="0"/>
            </a:endParaRPr>
          </a:p>
        </p:txBody>
      </p:sp>
    </p:spTree>
    <p:extLst>
      <p:ext uri="{BB962C8B-B14F-4D97-AF65-F5344CB8AC3E}">
        <p14:creationId xmlns:p14="http://schemas.microsoft.com/office/powerpoint/2010/main" val="1001438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5DF9BC1-0EB5-4664-40D4-E95EB3127385}"/>
              </a:ext>
            </a:extLst>
          </p:cNvPr>
          <p:cNvSpPr>
            <a:spLocks noGrp="1"/>
          </p:cNvSpPr>
          <p:nvPr>
            <p:ph type="title"/>
          </p:nvPr>
        </p:nvSpPr>
        <p:spPr/>
        <p:txBody>
          <a:bodyPr/>
          <a:lstStyle/>
          <a:p>
            <a:r>
              <a:rPr lang="it-IT"/>
              <a:t>Sample </a:t>
            </a:r>
            <a:r>
              <a:rPr lang="it-IT" err="1"/>
              <a:t>Caractheristics</a:t>
            </a:r>
            <a:endParaRPr lang="it-IT"/>
          </a:p>
        </p:txBody>
      </p:sp>
      <p:pic>
        <p:nvPicPr>
          <p:cNvPr id="11" name="Immagine 10" descr="Immagine che contiene logo, simbolo, Carattere, Elementi grafici&#10;&#10;Il contenuto generato dall'IA potrebbe non essere corretto.">
            <a:extLst>
              <a:ext uri="{FF2B5EF4-FFF2-40B4-BE49-F238E27FC236}">
                <a16:creationId xmlns:a16="http://schemas.microsoft.com/office/drawing/2014/main" id="{48840FB5-13E6-8202-5D96-9378CD495A86}"/>
              </a:ext>
            </a:extLst>
          </p:cNvPr>
          <p:cNvPicPr>
            <a:picLocks noChangeAspect="1"/>
          </p:cNvPicPr>
          <p:nvPr/>
        </p:nvPicPr>
        <p:blipFill>
          <a:blip r:embed="rId3"/>
          <a:stretch>
            <a:fillRect/>
          </a:stretch>
        </p:blipFill>
        <p:spPr>
          <a:xfrm>
            <a:off x="11613118" y="6199188"/>
            <a:ext cx="413197" cy="386366"/>
          </a:xfrm>
          <a:prstGeom prst="rect">
            <a:avLst/>
          </a:prstGeom>
        </p:spPr>
      </p:pic>
      <p:sp>
        <p:nvSpPr>
          <p:cNvPr id="12" name="CasellaDiTesto 11">
            <a:extLst>
              <a:ext uri="{FF2B5EF4-FFF2-40B4-BE49-F238E27FC236}">
                <a16:creationId xmlns:a16="http://schemas.microsoft.com/office/drawing/2014/main" id="{09C78D8C-8698-BDDA-2A66-0D2F78BF077F}"/>
              </a:ext>
            </a:extLst>
          </p:cNvPr>
          <p:cNvSpPr txBox="1"/>
          <p:nvPr/>
        </p:nvSpPr>
        <p:spPr>
          <a:xfrm>
            <a:off x="7594169" y="5664380"/>
            <a:ext cx="3816513" cy="954107"/>
          </a:xfrm>
          <a:prstGeom prst="rect">
            <a:avLst/>
          </a:prstGeom>
          <a:noFill/>
        </p:spPr>
        <p:txBody>
          <a:bodyPr wrap="square" rtlCol="0">
            <a:spAutoFit/>
          </a:bodyPr>
          <a:lstStyle/>
          <a:p>
            <a:r>
              <a:rPr lang="it-IT" sz="1400" i="1" dirty="0" err="1">
                <a:solidFill>
                  <a:schemeClr val="accent3">
                    <a:lumMod val="75000"/>
                  </a:schemeClr>
                </a:solidFill>
              </a:rPr>
              <a:t>ggplot</a:t>
            </a:r>
            <a:r>
              <a:rPr lang="it-IT" sz="1400" i="1" dirty="0">
                <a:solidFill>
                  <a:schemeClr val="accent3">
                    <a:lumMod val="75000"/>
                  </a:schemeClr>
                </a:solidFill>
              </a:rPr>
              <a:t>(</a:t>
            </a:r>
            <a:r>
              <a:rPr lang="it-IT" sz="1400" i="1" dirty="0" err="1">
                <a:solidFill>
                  <a:schemeClr val="accent3">
                    <a:lumMod val="75000"/>
                  </a:schemeClr>
                </a:solidFill>
              </a:rPr>
              <a:t>diabetes</a:t>
            </a:r>
            <a:r>
              <a:rPr lang="it-IT" sz="1400" i="1" dirty="0">
                <a:solidFill>
                  <a:schemeClr val="accent3">
                    <a:lumMod val="75000"/>
                  </a:schemeClr>
                </a:solidFill>
              </a:rPr>
              <a:t>,</a:t>
            </a:r>
          </a:p>
          <a:p>
            <a:r>
              <a:rPr lang="it-IT" sz="1400" i="1" dirty="0">
                <a:solidFill>
                  <a:schemeClr val="accent3">
                    <a:lumMod val="75000"/>
                  </a:schemeClr>
                </a:solidFill>
              </a:rPr>
              <a:t>       </a:t>
            </a:r>
            <a:r>
              <a:rPr lang="it-IT" sz="1400" i="1" dirty="0" err="1">
                <a:solidFill>
                  <a:schemeClr val="accent3">
                    <a:lumMod val="75000"/>
                  </a:schemeClr>
                </a:solidFill>
              </a:rPr>
              <a:t>aes</a:t>
            </a:r>
            <a:r>
              <a:rPr lang="it-IT" sz="1400" i="1" dirty="0">
                <a:solidFill>
                  <a:schemeClr val="accent3">
                    <a:lumMod val="75000"/>
                  </a:schemeClr>
                </a:solidFill>
              </a:rPr>
              <a:t>(x = </a:t>
            </a:r>
            <a:r>
              <a:rPr lang="it-IT" sz="1400" i="1" dirty="0" err="1">
                <a:solidFill>
                  <a:schemeClr val="accent3">
                    <a:lumMod val="75000"/>
                  </a:schemeClr>
                </a:solidFill>
              </a:rPr>
              <a:t>factor</a:t>
            </a:r>
            <a:r>
              <a:rPr lang="it-IT" sz="1400" i="1" dirty="0">
                <a:solidFill>
                  <a:schemeClr val="accent3">
                    <a:lumMod val="75000"/>
                  </a:schemeClr>
                </a:solidFill>
              </a:rPr>
              <a:t>(</a:t>
            </a:r>
            <a:r>
              <a:rPr lang="it-IT" sz="1400" i="1" dirty="0" err="1">
                <a:solidFill>
                  <a:schemeClr val="accent3">
                    <a:lumMod val="75000"/>
                  </a:schemeClr>
                </a:solidFill>
              </a:rPr>
              <a:t>Outcome</a:t>
            </a:r>
            <a:r>
              <a:rPr lang="it-IT" sz="1400" i="1" dirty="0">
                <a:solidFill>
                  <a:schemeClr val="accent3">
                    <a:lumMod val="75000"/>
                  </a:schemeClr>
                </a:solidFill>
              </a:rPr>
              <a:t>))) +</a:t>
            </a:r>
          </a:p>
          <a:p>
            <a:r>
              <a:rPr lang="it-IT" sz="1400" i="1" dirty="0">
                <a:solidFill>
                  <a:schemeClr val="accent3">
                    <a:lumMod val="75000"/>
                  </a:schemeClr>
                </a:solidFill>
              </a:rPr>
              <a:t>  </a:t>
            </a:r>
            <a:r>
              <a:rPr lang="it-IT" sz="1400" i="1" dirty="0" err="1">
                <a:solidFill>
                  <a:schemeClr val="accent3">
                    <a:lumMod val="75000"/>
                  </a:schemeClr>
                </a:solidFill>
              </a:rPr>
              <a:t>geom_bar</a:t>
            </a:r>
            <a:r>
              <a:rPr lang="it-IT" sz="1400" i="1" dirty="0">
                <a:solidFill>
                  <a:schemeClr val="accent3">
                    <a:lumMod val="75000"/>
                  </a:schemeClr>
                </a:solidFill>
              </a:rPr>
              <a:t>(</a:t>
            </a:r>
            <a:r>
              <a:rPr lang="it-IT" sz="1400" i="1" dirty="0" err="1">
                <a:solidFill>
                  <a:schemeClr val="accent3">
                    <a:lumMod val="75000"/>
                  </a:schemeClr>
                </a:solidFill>
              </a:rPr>
              <a:t>fill</a:t>
            </a:r>
            <a:r>
              <a:rPr lang="it-IT" sz="1400" i="1" dirty="0">
                <a:solidFill>
                  <a:schemeClr val="accent3">
                    <a:lumMod val="75000"/>
                  </a:schemeClr>
                </a:solidFill>
              </a:rPr>
              <a:t> = "#2E86C1") +</a:t>
            </a:r>
          </a:p>
          <a:p>
            <a:r>
              <a:rPr lang="it-IT" sz="1400" i="1" dirty="0">
                <a:solidFill>
                  <a:schemeClr val="accent3">
                    <a:lumMod val="75000"/>
                  </a:schemeClr>
                </a:solidFill>
              </a:rPr>
              <a:t>  labs(</a:t>
            </a:r>
            <a:r>
              <a:rPr lang="it-IT" sz="1400" i="1" dirty="0" err="1">
                <a:solidFill>
                  <a:schemeClr val="accent3">
                    <a:lumMod val="75000"/>
                  </a:schemeClr>
                </a:solidFill>
              </a:rPr>
              <a:t>title</a:t>
            </a:r>
            <a:r>
              <a:rPr lang="it-IT" sz="1400" i="1" dirty="0">
                <a:solidFill>
                  <a:schemeClr val="accent3">
                    <a:lumMod val="75000"/>
                  </a:schemeClr>
                </a:solidFill>
              </a:rPr>
              <a:t> = "Distribution by </a:t>
            </a:r>
            <a:r>
              <a:rPr lang="it-IT" sz="1400" i="1" dirty="0" err="1">
                <a:solidFill>
                  <a:schemeClr val="accent3">
                    <a:lumMod val="75000"/>
                  </a:schemeClr>
                </a:solidFill>
              </a:rPr>
              <a:t>Diabetes</a:t>
            </a:r>
            <a:r>
              <a:rPr lang="it-IT" sz="1400" i="1" dirty="0">
                <a:solidFill>
                  <a:schemeClr val="accent3">
                    <a:lumMod val="75000"/>
                  </a:schemeClr>
                </a:solidFill>
              </a:rPr>
              <a:t> Status")</a:t>
            </a:r>
          </a:p>
        </p:txBody>
      </p:sp>
      <p:graphicFrame>
        <p:nvGraphicFramePr>
          <p:cNvPr id="9" name="Segnaposto contenuto 8">
            <a:extLst>
              <a:ext uri="{FF2B5EF4-FFF2-40B4-BE49-F238E27FC236}">
                <a16:creationId xmlns:a16="http://schemas.microsoft.com/office/drawing/2014/main" id="{630E55AF-4DB1-392A-951F-1C50FBD5B0D8}"/>
              </a:ext>
            </a:extLst>
          </p:cNvPr>
          <p:cNvGraphicFramePr>
            <a:graphicFrameLocks noGrp="1"/>
          </p:cNvGraphicFramePr>
          <p:nvPr>
            <p:ph idx="1"/>
            <p:extLst>
              <p:ext uri="{D42A27DB-BD31-4B8C-83A1-F6EECF244321}">
                <p14:modId xmlns:p14="http://schemas.microsoft.com/office/powerpoint/2010/main" val="874394197"/>
              </p:ext>
            </p:extLst>
          </p:nvPr>
        </p:nvGraphicFramePr>
        <p:xfrm>
          <a:off x="619166" y="2187349"/>
          <a:ext cx="6071003" cy="35655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Tabella 9">
            <a:extLst>
              <a:ext uri="{FF2B5EF4-FFF2-40B4-BE49-F238E27FC236}">
                <a16:creationId xmlns:a16="http://schemas.microsoft.com/office/drawing/2014/main" id="{53493F03-54DA-1E20-DDE5-DD2E6721FAF2}"/>
              </a:ext>
            </a:extLst>
          </p:cNvPr>
          <p:cNvGraphicFramePr>
            <a:graphicFrameLocks noGrp="1"/>
          </p:cNvGraphicFramePr>
          <p:nvPr>
            <p:extLst>
              <p:ext uri="{D42A27DB-BD31-4B8C-83A1-F6EECF244321}">
                <p14:modId xmlns:p14="http://schemas.microsoft.com/office/powerpoint/2010/main" val="3153141150"/>
              </p:ext>
            </p:extLst>
          </p:nvPr>
        </p:nvGraphicFramePr>
        <p:xfrm>
          <a:off x="7354269" y="3401878"/>
          <a:ext cx="3449234" cy="1854200"/>
        </p:xfrm>
        <a:graphic>
          <a:graphicData uri="http://schemas.openxmlformats.org/drawingml/2006/table">
            <a:tbl>
              <a:tblPr firstRow="1" bandRow="1">
                <a:tableStyleId>{69CF1AB2-1976-4502-BF36-3FF5EA218861}</a:tableStyleId>
              </a:tblPr>
              <a:tblGrid>
                <a:gridCol w="1724617">
                  <a:extLst>
                    <a:ext uri="{9D8B030D-6E8A-4147-A177-3AD203B41FA5}">
                      <a16:colId xmlns:a16="http://schemas.microsoft.com/office/drawing/2014/main" val="1201683948"/>
                    </a:ext>
                  </a:extLst>
                </a:gridCol>
                <a:gridCol w="1724617">
                  <a:extLst>
                    <a:ext uri="{9D8B030D-6E8A-4147-A177-3AD203B41FA5}">
                      <a16:colId xmlns:a16="http://schemas.microsoft.com/office/drawing/2014/main" val="397469730"/>
                    </a:ext>
                  </a:extLst>
                </a:gridCol>
              </a:tblGrid>
              <a:tr h="370840">
                <a:tc>
                  <a:txBody>
                    <a:bodyPr/>
                    <a:lstStyle/>
                    <a:p>
                      <a:r>
                        <a:rPr lang="it-IT" dirty="0" err="1">
                          <a:latin typeface="Arial" panose="020B0604020202020204" pitchFamily="34" charset="0"/>
                          <a:cs typeface="Arial" panose="020B0604020202020204" pitchFamily="34" charset="0"/>
                        </a:rPr>
                        <a:t>Characteristic</a:t>
                      </a:r>
                      <a:endParaRPr lang="it-IT" dirty="0">
                        <a:latin typeface="Arial" panose="020B0604020202020204" pitchFamily="34" charset="0"/>
                        <a:cs typeface="Arial" panose="020B0604020202020204" pitchFamily="34" charset="0"/>
                      </a:endParaRPr>
                    </a:p>
                  </a:txBody>
                  <a:tcPr/>
                </a:tc>
                <a:tc>
                  <a:txBody>
                    <a:bodyPr/>
                    <a:lstStyle/>
                    <a:p>
                      <a:r>
                        <a:rPr lang="it-IT" dirty="0">
                          <a:latin typeface="Arial" panose="020B0604020202020204" pitchFamily="34" charset="0"/>
                          <a:cs typeface="Arial" panose="020B0604020202020204" pitchFamily="34" charset="0"/>
                        </a:rPr>
                        <a:t>Value</a:t>
                      </a:r>
                    </a:p>
                  </a:txBody>
                  <a:tcPr/>
                </a:tc>
                <a:extLst>
                  <a:ext uri="{0D108BD9-81ED-4DB2-BD59-A6C34878D82A}">
                    <a16:rowId xmlns:a16="http://schemas.microsoft.com/office/drawing/2014/main" val="4236146978"/>
                  </a:ext>
                </a:extLst>
              </a:tr>
              <a:tr h="370840">
                <a:tc>
                  <a:txBody>
                    <a:bodyPr/>
                    <a:lstStyle/>
                    <a:p>
                      <a:r>
                        <a:rPr lang="it-IT" dirty="0" err="1">
                          <a:latin typeface="Arial" panose="020B0604020202020204" pitchFamily="34" charset="0"/>
                          <a:cs typeface="Arial" panose="020B0604020202020204" pitchFamily="34" charset="0"/>
                        </a:rPr>
                        <a:t>Participants</a:t>
                      </a:r>
                      <a:endParaRPr lang="it-IT" dirty="0">
                        <a:latin typeface="Arial" panose="020B0604020202020204" pitchFamily="34" charset="0"/>
                        <a:cs typeface="Arial" panose="020B0604020202020204" pitchFamily="34" charset="0"/>
                      </a:endParaRPr>
                    </a:p>
                  </a:txBody>
                  <a:tcPr/>
                </a:tc>
                <a:tc>
                  <a:txBody>
                    <a:bodyPr/>
                    <a:lstStyle/>
                    <a:p>
                      <a:r>
                        <a:rPr lang="it-IT" dirty="0">
                          <a:latin typeface="Arial" panose="020B0604020202020204" pitchFamily="34" charset="0"/>
                          <a:cs typeface="Arial" panose="020B0604020202020204" pitchFamily="34" charset="0"/>
                        </a:rPr>
                        <a:t>768</a:t>
                      </a:r>
                    </a:p>
                  </a:txBody>
                  <a:tcPr/>
                </a:tc>
                <a:extLst>
                  <a:ext uri="{0D108BD9-81ED-4DB2-BD59-A6C34878D82A}">
                    <a16:rowId xmlns:a16="http://schemas.microsoft.com/office/drawing/2014/main" val="499074960"/>
                  </a:ext>
                </a:extLst>
              </a:tr>
              <a:tr h="370840">
                <a:tc>
                  <a:txBody>
                    <a:bodyPr/>
                    <a:lstStyle/>
                    <a:p>
                      <a:r>
                        <a:rPr lang="it-IT" dirty="0" err="1">
                          <a:latin typeface="Arial" panose="020B0604020202020204" pitchFamily="34" charset="0"/>
                          <a:cs typeface="Arial" panose="020B0604020202020204" pitchFamily="34" charset="0"/>
                        </a:rPr>
                        <a:t>Variables</a:t>
                      </a:r>
                      <a:endParaRPr lang="it-IT" dirty="0">
                        <a:latin typeface="Arial" panose="020B0604020202020204" pitchFamily="34" charset="0"/>
                        <a:cs typeface="Arial" panose="020B0604020202020204" pitchFamily="34" charset="0"/>
                      </a:endParaRPr>
                    </a:p>
                  </a:txBody>
                  <a:tcPr/>
                </a:tc>
                <a:tc>
                  <a:txBody>
                    <a:bodyPr/>
                    <a:lstStyle/>
                    <a:p>
                      <a:r>
                        <a:rPr lang="it-IT" dirty="0">
                          <a:latin typeface="Arial" panose="020B0604020202020204" pitchFamily="34" charset="0"/>
                          <a:cs typeface="Arial" panose="020B0604020202020204" pitchFamily="34" charset="0"/>
                        </a:rPr>
                        <a:t>9</a:t>
                      </a:r>
                    </a:p>
                  </a:txBody>
                  <a:tcPr/>
                </a:tc>
                <a:extLst>
                  <a:ext uri="{0D108BD9-81ED-4DB2-BD59-A6C34878D82A}">
                    <a16:rowId xmlns:a16="http://schemas.microsoft.com/office/drawing/2014/main" val="393271634"/>
                  </a:ext>
                </a:extLst>
              </a:tr>
              <a:tr h="370840">
                <a:tc>
                  <a:txBody>
                    <a:bodyPr/>
                    <a:lstStyle/>
                    <a:p>
                      <a:r>
                        <a:rPr lang="it-IT" dirty="0">
                          <a:latin typeface="Arial" panose="020B0604020202020204" pitchFamily="34" charset="0"/>
                          <a:cs typeface="Arial" panose="020B0604020202020204" pitchFamily="34" charset="0"/>
                        </a:rPr>
                        <a:t>No </a:t>
                      </a:r>
                      <a:r>
                        <a:rPr lang="it-IT" dirty="0" err="1">
                          <a:latin typeface="Arial" panose="020B0604020202020204" pitchFamily="34" charset="0"/>
                          <a:cs typeface="Arial" panose="020B0604020202020204" pitchFamily="34" charset="0"/>
                        </a:rPr>
                        <a:t>Diabetes</a:t>
                      </a:r>
                      <a:endParaRPr lang="it-IT" dirty="0">
                        <a:latin typeface="Arial" panose="020B0604020202020204" pitchFamily="34" charset="0"/>
                        <a:cs typeface="Arial" panose="020B0604020202020204" pitchFamily="34" charset="0"/>
                      </a:endParaRPr>
                    </a:p>
                  </a:txBody>
                  <a:tcPr/>
                </a:tc>
                <a:tc>
                  <a:txBody>
                    <a:bodyPr/>
                    <a:lstStyle/>
                    <a:p>
                      <a:r>
                        <a:rPr lang="it-IT" dirty="0">
                          <a:latin typeface="Arial" panose="020B0604020202020204" pitchFamily="34" charset="0"/>
                          <a:cs typeface="Arial" panose="020B0604020202020204" pitchFamily="34" charset="0"/>
                        </a:rPr>
                        <a:t>500 (65.1%)</a:t>
                      </a:r>
                    </a:p>
                  </a:txBody>
                  <a:tcPr/>
                </a:tc>
                <a:extLst>
                  <a:ext uri="{0D108BD9-81ED-4DB2-BD59-A6C34878D82A}">
                    <a16:rowId xmlns:a16="http://schemas.microsoft.com/office/drawing/2014/main" val="3012151016"/>
                  </a:ext>
                </a:extLst>
              </a:tr>
              <a:tr h="370840">
                <a:tc>
                  <a:txBody>
                    <a:bodyPr/>
                    <a:lstStyle/>
                    <a:p>
                      <a:r>
                        <a:rPr lang="it-IT" dirty="0" err="1">
                          <a:latin typeface="Arial" panose="020B0604020202020204" pitchFamily="34" charset="0"/>
                          <a:cs typeface="Arial" panose="020B0604020202020204" pitchFamily="34" charset="0"/>
                        </a:rPr>
                        <a:t>Diabetes</a:t>
                      </a:r>
                      <a:endParaRPr lang="it-IT" dirty="0">
                        <a:latin typeface="Arial" panose="020B0604020202020204" pitchFamily="34" charset="0"/>
                        <a:cs typeface="Arial" panose="020B0604020202020204" pitchFamily="34" charset="0"/>
                      </a:endParaRPr>
                    </a:p>
                  </a:txBody>
                  <a:tcPr/>
                </a:tc>
                <a:tc>
                  <a:txBody>
                    <a:bodyPr/>
                    <a:lstStyle/>
                    <a:p>
                      <a:r>
                        <a:rPr lang="it-IT" dirty="0">
                          <a:latin typeface="Arial" panose="020B0604020202020204" pitchFamily="34" charset="0"/>
                          <a:cs typeface="Arial" panose="020B0604020202020204" pitchFamily="34" charset="0"/>
                        </a:rPr>
                        <a:t>268 (34.9%)</a:t>
                      </a:r>
                    </a:p>
                  </a:txBody>
                  <a:tcPr/>
                </a:tc>
                <a:extLst>
                  <a:ext uri="{0D108BD9-81ED-4DB2-BD59-A6C34878D82A}">
                    <a16:rowId xmlns:a16="http://schemas.microsoft.com/office/drawing/2014/main" val="1764036715"/>
                  </a:ext>
                </a:extLst>
              </a:tr>
            </a:tbl>
          </a:graphicData>
        </a:graphic>
      </p:graphicFrame>
      <p:sp>
        <p:nvSpPr>
          <p:cNvPr id="13" name="CasellaDiTesto 12">
            <a:extLst>
              <a:ext uri="{FF2B5EF4-FFF2-40B4-BE49-F238E27FC236}">
                <a16:creationId xmlns:a16="http://schemas.microsoft.com/office/drawing/2014/main" id="{6A1D7987-6A15-A9E1-E9BE-E8BBBFCA5BAF}"/>
              </a:ext>
            </a:extLst>
          </p:cNvPr>
          <p:cNvSpPr txBox="1"/>
          <p:nvPr/>
        </p:nvSpPr>
        <p:spPr>
          <a:xfrm>
            <a:off x="7013306" y="960894"/>
            <a:ext cx="4538615" cy="2293749"/>
          </a:xfrm>
          <a:prstGeom prst="rect">
            <a:avLst/>
          </a:prstGeom>
          <a:noFill/>
        </p:spPr>
        <p:txBody>
          <a:bodyPr wrap="square" rtlCol="0">
            <a:spAutoFit/>
          </a:bodyPr>
          <a:lstStyle/>
          <a:p>
            <a:endParaRPr lang="it-IT" dirty="0"/>
          </a:p>
        </p:txBody>
      </p:sp>
    </p:spTree>
    <p:extLst>
      <p:ext uri="{BB962C8B-B14F-4D97-AF65-F5344CB8AC3E}">
        <p14:creationId xmlns:p14="http://schemas.microsoft.com/office/powerpoint/2010/main" val="204184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1"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83F9546E-95CB-DDAF-8C46-B544230C460E}"/>
              </a:ext>
            </a:extLst>
          </p:cNvPr>
          <p:cNvSpPr>
            <a:spLocks noGrp="1"/>
          </p:cNvSpPr>
          <p:nvPr>
            <p:ph type="title"/>
          </p:nvPr>
        </p:nvSpPr>
        <p:spPr>
          <a:xfrm>
            <a:off x="640079" y="1159024"/>
            <a:ext cx="5737859" cy="1097280"/>
          </a:xfrm>
        </p:spPr>
        <p:txBody>
          <a:bodyPr vert="horz" lIns="91440" tIns="45720" rIns="91440" bIns="45720" rtlCol="0" anchor="t">
            <a:normAutofit/>
          </a:bodyPr>
          <a:lstStyle/>
          <a:p>
            <a:r>
              <a:rPr lang="en-US" dirty="0"/>
              <a:t>Summary Statistics</a:t>
            </a:r>
          </a:p>
        </p:txBody>
      </p:sp>
      <p:cxnSp>
        <p:nvCxnSpPr>
          <p:cNvPr id="33" name="Straight Connector 32">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Segnaposto contenuto 3">
            <a:extLst>
              <a:ext uri="{FF2B5EF4-FFF2-40B4-BE49-F238E27FC236}">
                <a16:creationId xmlns:a16="http://schemas.microsoft.com/office/drawing/2014/main" id="{47D9074F-D645-6FBB-61BC-3FE428BE1ED2}"/>
              </a:ext>
            </a:extLst>
          </p:cNvPr>
          <p:cNvGraphicFramePr>
            <a:graphicFrameLocks noGrp="1"/>
          </p:cNvGraphicFramePr>
          <p:nvPr>
            <p:ph idx="1"/>
            <p:extLst>
              <p:ext uri="{D42A27DB-BD31-4B8C-83A1-F6EECF244321}">
                <p14:modId xmlns:p14="http://schemas.microsoft.com/office/powerpoint/2010/main" val="2285803741"/>
              </p:ext>
            </p:extLst>
          </p:nvPr>
        </p:nvGraphicFramePr>
        <p:xfrm>
          <a:off x="5616814" y="2295912"/>
          <a:ext cx="6411314" cy="3403064"/>
        </p:xfrm>
        <a:graphic>
          <a:graphicData uri="http://schemas.openxmlformats.org/drawingml/2006/table">
            <a:tbl>
              <a:tblPr firstRow="1" bandRow="1">
                <a:tableStyleId>{E8B1032C-EA38-4F05-BA0D-38AFFFC7BED3}</a:tableStyleId>
              </a:tblPr>
              <a:tblGrid>
                <a:gridCol w="1560055">
                  <a:extLst>
                    <a:ext uri="{9D8B030D-6E8A-4147-A177-3AD203B41FA5}">
                      <a16:colId xmlns:a16="http://schemas.microsoft.com/office/drawing/2014/main" val="250660562"/>
                    </a:ext>
                  </a:extLst>
                </a:gridCol>
                <a:gridCol w="1113869">
                  <a:extLst>
                    <a:ext uri="{9D8B030D-6E8A-4147-A177-3AD203B41FA5}">
                      <a16:colId xmlns:a16="http://schemas.microsoft.com/office/drawing/2014/main" val="4248327807"/>
                    </a:ext>
                  </a:extLst>
                </a:gridCol>
                <a:gridCol w="1178421">
                  <a:extLst>
                    <a:ext uri="{9D8B030D-6E8A-4147-A177-3AD203B41FA5}">
                      <a16:colId xmlns:a16="http://schemas.microsoft.com/office/drawing/2014/main" val="3926473692"/>
                    </a:ext>
                  </a:extLst>
                </a:gridCol>
                <a:gridCol w="969273">
                  <a:extLst>
                    <a:ext uri="{9D8B030D-6E8A-4147-A177-3AD203B41FA5}">
                      <a16:colId xmlns:a16="http://schemas.microsoft.com/office/drawing/2014/main" val="1627727634"/>
                    </a:ext>
                  </a:extLst>
                </a:gridCol>
                <a:gridCol w="794848">
                  <a:extLst>
                    <a:ext uri="{9D8B030D-6E8A-4147-A177-3AD203B41FA5}">
                      <a16:colId xmlns:a16="http://schemas.microsoft.com/office/drawing/2014/main" val="3564955335"/>
                    </a:ext>
                  </a:extLst>
                </a:gridCol>
                <a:gridCol w="794848">
                  <a:extLst>
                    <a:ext uri="{9D8B030D-6E8A-4147-A177-3AD203B41FA5}">
                      <a16:colId xmlns:a16="http://schemas.microsoft.com/office/drawing/2014/main" val="172729939"/>
                    </a:ext>
                  </a:extLst>
                </a:gridCol>
              </a:tblGrid>
              <a:tr h="460630">
                <a:tc>
                  <a:txBody>
                    <a:bodyPr/>
                    <a:lstStyle/>
                    <a:p>
                      <a:r>
                        <a:rPr lang="it-IT" sz="2100" dirty="0" err="1"/>
                        <a:t>Variable</a:t>
                      </a:r>
                      <a:endParaRPr lang="it-IT" sz="2100" dirty="0"/>
                    </a:p>
                  </a:txBody>
                  <a:tcPr marL="104459" marR="104459" marT="52229" marB="52229"/>
                </a:tc>
                <a:tc>
                  <a:txBody>
                    <a:bodyPr/>
                    <a:lstStyle/>
                    <a:p>
                      <a:r>
                        <a:rPr lang="it-IT" sz="2100"/>
                        <a:t>Mean</a:t>
                      </a:r>
                    </a:p>
                  </a:txBody>
                  <a:tcPr marL="104459" marR="104459" marT="52229" marB="52229"/>
                </a:tc>
                <a:tc>
                  <a:txBody>
                    <a:bodyPr/>
                    <a:lstStyle/>
                    <a:p>
                      <a:r>
                        <a:rPr lang="it-IT" sz="2100"/>
                        <a:t>Median</a:t>
                      </a:r>
                    </a:p>
                  </a:txBody>
                  <a:tcPr marL="104459" marR="104459" marT="52229" marB="52229"/>
                </a:tc>
                <a:tc>
                  <a:txBody>
                    <a:bodyPr/>
                    <a:lstStyle/>
                    <a:p>
                      <a:r>
                        <a:rPr lang="it-IT" sz="2100" dirty="0"/>
                        <a:t>SD</a:t>
                      </a:r>
                    </a:p>
                  </a:txBody>
                  <a:tcPr marL="104459" marR="104459" marT="52229" marB="52229"/>
                </a:tc>
                <a:tc>
                  <a:txBody>
                    <a:bodyPr/>
                    <a:lstStyle/>
                    <a:p>
                      <a:r>
                        <a:rPr lang="it-IT" sz="2100" dirty="0"/>
                        <a:t>Min</a:t>
                      </a:r>
                    </a:p>
                  </a:txBody>
                  <a:tcPr marL="104459" marR="104459" marT="52229" marB="52229"/>
                </a:tc>
                <a:tc>
                  <a:txBody>
                    <a:bodyPr/>
                    <a:lstStyle/>
                    <a:p>
                      <a:r>
                        <a:rPr lang="it-IT" sz="2100" dirty="0"/>
                        <a:t>Max</a:t>
                      </a:r>
                    </a:p>
                  </a:txBody>
                  <a:tcPr marL="104459" marR="104459" marT="52229" marB="52229"/>
                </a:tc>
                <a:extLst>
                  <a:ext uri="{0D108BD9-81ED-4DB2-BD59-A6C34878D82A}">
                    <a16:rowId xmlns:a16="http://schemas.microsoft.com/office/drawing/2014/main" val="3994941057"/>
                  </a:ext>
                </a:extLst>
              </a:tr>
              <a:tr h="460630">
                <a:tc>
                  <a:txBody>
                    <a:bodyPr/>
                    <a:lstStyle/>
                    <a:p>
                      <a:r>
                        <a:rPr lang="it-IT" sz="2100"/>
                        <a:t>Glucose</a:t>
                      </a:r>
                    </a:p>
                  </a:txBody>
                  <a:tcPr marL="104459" marR="104459" marT="52229" marB="52229"/>
                </a:tc>
                <a:tc>
                  <a:txBody>
                    <a:bodyPr/>
                    <a:lstStyle/>
                    <a:p>
                      <a:r>
                        <a:rPr lang="it-IT" sz="1800" dirty="0"/>
                        <a:t>120.89</a:t>
                      </a:r>
                    </a:p>
                  </a:txBody>
                  <a:tcPr marL="104459" marR="104459" marT="52229" marB="52229"/>
                </a:tc>
                <a:tc>
                  <a:txBody>
                    <a:bodyPr/>
                    <a:lstStyle/>
                    <a:p>
                      <a:r>
                        <a:rPr lang="it-IT" sz="1800" dirty="0"/>
                        <a:t>117</a:t>
                      </a:r>
                    </a:p>
                  </a:txBody>
                  <a:tcPr marL="104459" marR="104459" marT="52229" marB="52229"/>
                </a:tc>
                <a:tc>
                  <a:txBody>
                    <a:bodyPr/>
                    <a:lstStyle/>
                    <a:p>
                      <a:r>
                        <a:rPr lang="it-IT" sz="2100" dirty="0"/>
                        <a:t>31.97</a:t>
                      </a:r>
                    </a:p>
                  </a:txBody>
                  <a:tcPr marL="104459" marR="104459" marT="52229" marB="52229"/>
                </a:tc>
                <a:tc>
                  <a:txBody>
                    <a:bodyPr/>
                    <a:lstStyle/>
                    <a:p>
                      <a:r>
                        <a:rPr lang="it-IT" sz="2100" dirty="0"/>
                        <a:t>0</a:t>
                      </a:r>
                    </a:p>
                  </a:txBody>
                  <a:tcPr marL="104459" marR="104459" marT="52229" marB="52229"/>
                </a:tc>
                <a:tc>
                  <a:txBody>
                    <a:bodyPr/>
                    <a:lstStyle/>
                    <a:p>
                      <a:r>
                        <a:rPr lang="it-IT" sz="2100" dirty="0"/>
                        <a:t>199</a:t>
                      </a:r>
                    </a:p>
                  </a:txBody>
                  <a:tcPr marL="104459" marR="104459" marT="52229" marB="52229"/>
                </a:tc>
                <a:extLst>
                  <a:ext uri="{0D108BD9-81ED-4DB2-BD59-A6C34878D82A}">
                    <a16:rowId xmlns:a16="http://schemas.microsoft.com/office/drawing/2014/main" val="300112425"/>
                  </a:ext>
                </a:extLst>
              </a:tr>
              <a:tr h="460630">
                <a:tc>
                  <a:txBody>
                    <a:bodyPr/>
                    <a:lstStyle/>
                    <a:p>
                      <a:r>
                        <a:rPr lang="it-IT" sz="2100"/>
                        <a:t>BMI</a:t>
                      </a:r>
                    </a:p>
                  </a:txBody>
                  <a:tcPr marL="104459" marR="104459" marT="52229" marB="52229"/>
                </a:tc>
                <a:tc>
                  <a:txBody>
                    <a:bodyPr/>
                    <a:lstStyle/>
                    <a:p>
                      <a:r>
                        <a:rPr lang="it-IT" sz="2100" dirty="0"/>
                        <a:t>31.99</a:t>
                      </a:r>
                    </a:p>
                  </a:txBody>
                  <a:tcPr marL="104459" marR="104459" marT="52229" marB="52229"/>
                </a:tc>
                <a:tc>
                  <a:txBody>
                    <a:bodyPr/>
                    <a:lstStyle/>
                    <a:p>
                      <a:r>
                        <a:rPr lang="it-IT" sz="2100" dirty="0"/>
                        <a:t>32.0</a:t>
                      </a:r>
                    </a:p>
                  </a:txBody>
                  <a:tcPr marL="104459" marR="104459" marT="52229" marB="52229"/>
                </a:tc>
                <a:tc>
                  <a:txBody>
                    <a:bodyPr/>
                    <a:lstStyle/>
                    <a:p>
                      <a:r>
                        <a:rPr lang="it-IT" sz="2100" dirty="0"/>
                        <a:t>7.88</a:t>
                      </a:r>
                    </a:p>
                  </a:txBody>
                  <a:tcPr marL="104459" marR="104459" marT="52229" marB="52229"/>
                </a:tc>
                <a:tc>
                  <a:txBody>
                    <a:bodyPr/>
                    <a:lstStyle/>
                    <a:p>
                      <a:r>
                        <a:rPr lang="it-IT" sz="2100" dirty="0"/>
                        <a:t>0.0</a:t>
                      </a:r>
                    </a:p>
                  </a:txBody>
                  <a:tcPr marL="104459" marR="104459" marT="52229" marB="52229"/>
                </a:tc>
                <a:tc>
                  <a:txBody>
                    <a:bodyPr/>
                    <a:lstStyle/>
                    <a:p>
                      <a:r>
                        <a:rPr lang="it-IT" sz="2100" dirty="0"/>
                        <a:t>67.1</a:t>
                      </a:r>
                    </a:p>
                  </a:txBody>
                  <a:tcPr marL="104459" marR="104459" marT="52229" marB="52229"/>
                </a:tc>
                <a:extLst>
                  <a:ext uri="{0D108BD9-81ED-4DB2-BD59-A6C34878D82A}">
                    <a16:rowId xmlns:a16="http://schemas.microsoft.com/office/drawing/2014/main" val="3851490797"/>
                  </a:ext>
                </a:extLst>
              </a:tr>
              <a:tr h="460630">
                <a:tc>
                  <a:txBody>
                    <a:bodyPr/>
                    <a:lstStyle/>
                    <a:p>
                      <a:r>
                        <a:rPr lang="it-IT" sz="2100"/>
                        <a:t>Age</a:t>
                      </a:r>
                    </a:p>
                  </a:txBody>
                  <a:tcPr marL="104459" marR="104459" marT="52229" marB="52229"/>
                </a:tc>
                <a:tc>
                  <a:txBody>
                    <a:bodyPr/>
                    <a:lstStyle/>
                    <a:p>
                      <a:r>
                        <a:rPr lang="it-IT" sz="2100" dirty="0"/>
                        <a:t>33.24</a:t>
                      </a:r>
                    </a:p>
                  </a:txBody>
                  <a:tcPr marL="104459" marR="104459" marT="52229" marB="52229"/>
                </a:tc>
                <a:tc>
                  <a:txBody>
                    <a:bodyPr/>
                    <a:lstStyle/>
                    <a:p>
                      <a:r>
                        <a:rPr lang="it-IT" sz="2100" dirty="0"/>
                        <a:t>29</a:t>
                      </a:r>
                    </a:p>
                  </a:txBody>
                  <a:tcPr marL="104459" marR="104459" marT="52229" marB="52229"/>
                </a:tc>
                <a:tc>
                  <a:txBody>
                    <a:bodyPr/>
                    <a:lstStyle/>
                    <a:p>
                      <a:r>
                        <a:rPr lang="it-IT" sz="2100" dirty="0"/>
                        <a:t>11.76</a:t>
                      </a:r>
                    </a:p>
                  </a:txBody>
                  <a:tcPr marL="104459" marR="104459" marT="52229" marB="52229"/>
                </a:tc>
                <a:tc>
                  <a:txBody>
                    <a:bodyPr/>
                    <a:lstStyle/>
                    <a:p>
                      <a:r>
                        <a:rPr lang="it-IT" sz="2100" dirty="0"/>
                        <a:t>21</a:t>
                      </a:r>
                    </a:p>
                  </a:txBody>
                  <a:tcPr marL="104459" marR="104459" marT="52229" marB="52229"/>
                </a:tc>
                <a:tc>
                  <a:txBody>
                    <a:bodyPr/>
                    <a:lstStyle/>
                    <a:p>
                      <a:r>
                        <a:rPr lang="it-IT" sz="2100" dirty="0"/>
                        <a:t>81</a:t>
                      </a:r>
                    </a:p>
                  </a:txBody>
                  <a:tcPr marL="104459" marR="104459" marT="52229" marB="52229"/>
                </a:tc>
                <a:extLst>
                  <a:ext uri="{0D108BD9-81ED-4DB2-BD59-A6C34878D82A}">
                    <a16:rowId xmlns:a16="http://schemas.microsoft.com/office/drawing/2014/main" val="1228644984"/>
                  </a:ext>
                </a:extLst>
              </a:tr>
              <a:tr h="780272">
                <a:tc>
                  <a:txBody>
                    <a:bodyPr/>
                    <a:lstStyle/>
                    <a:p>
                      <a:r>
                        <a:rPr lang="it-IT" sz="2100" dirty="0"/>
                        <a:t>Blood Pressure</a:t>
                      </a:r>
                    </a:p>
                  </a:txBody>
                  <a:tcPr marL="104459" marR="104459" marT="52229" marB="52229"/>
                </a:tc>
                <a:tc>
                  <a:txBody>
                    <a:bodyPr/>
                    <a:lstStyle/>
                    <a:p>
                      <a:r>
                        <a:rPr lang="it-IT" sz="2100" dirty="0"/>
                        <a:t>69.11</a:t>
                      </a:r>
                    </a:p>
                  </a:txBody>
                  <a:tcPr marL="104459" marR="104459" marT="52229" marB="52229"/>
                </a:tc>
                <a:tc>
                  <a:txBody>
                    <a:bodyPr/>
                    <a:lstStyle/>
                    <a:p>
                      <a:r>
                        <a:rPr lang="it-IT" sz="2100" dirty="0"/>
                        <a:t>72</a:t>
                      </a:r>
                    </a:p>
                  </a:txBody>
                  <a:tcPr marL="104459" marR="104459" marT="52229" marB="52229"/>
                </a:tc>
                <a:tc>
                  <a:txBody>
                    <a:bodyPr/>
                    <a:lstStyle/>
                    <a:p>
                      <a:r>
                        <a:rPr lang="it-IT" sz="2100" dirty="0"/>
                        <a:t>19.36</a:t>
                      </a:r>
                    </a:p>
                  </a:txBody>
                  <a:tcPr marL="104459" marR="104459" marT="52229" marB="52229"/>
                </a:tc>
                <a:tc>
                  <a:txBody>
                    <a:bodyPr/>
                    <a:lstStyle/>
                    <a:p>
                      <a:r>
                        <a:rPr lang="it-IT" sz="2100" dirty="0"/>
                        <a:t>0</a:t>
                      </a:r>
                    </a:p>
                  </a:txBody>
                  <a:tcPr marL="104459" marR="104459" marT="52229" marB="52229"/>
                </a:tc>
                <a:tc>
                  <a:txBody>
                    <a:bodyPr/>
                    <a:lstStyle/>
                    <a:p>
                      <a:r>
                        <a:rPr lang="it-IT" sz="2100" dirty="0"/>
                        <a:t>122</a:t>
                      </a:r>
                    </a:p>
                  </a:txBody>
                  <a:tcPr marL="104459" marR="104459" marT="52229" marB="52229"/>
                </a:tc>
                <a:extLst>
                  <a:ext uri="{0D108BD9-81ED-4DB2-BD59-A6C34878D82A}">
                    <a16:rowId xmlns:a16="http://schemas.microsoft.com/office/drawing/2014/main" val="4210931457"/>
                  </a:ext>
                </a:extLst>
              </a:tr>
              <a:tr h="780272">
                <a:tc>
                  <a:txBody>
                    <a:bodyPr/>
                    <a:lstStyle/>
                    <a:p>
                      <a:r>
                        <a:rPr lang="it-IT" sz="2100" dirty="0" err="1"/>
                        <a:t>Pregnancies</a:t>
                      </a:r>
                      <a:endParaRPr lang="it-IT" sz="2100" dirty="0"/>
                    </a:p>
                  </a:txBody>
                  <a:tcPr marL="104459" marR="104459" marT="52229" marB="52229"/>
                </a:tc>
                <a:tc>
                  <a:txBody>
                    <a:bodyPr/>
                    <a:lstStyle/>
                    <a:p>
                      <a:r>
                        <a:rPr lang="it-IT" sz="2100" dirty="0"/>
                        <a:t>3.85</a:t>
                      </a:r>
                    </a:p>
                  </a:txBody>
                  <a:tcPr marL="104459" marR="104459" marT="52229" marB="52229"/>
                </a:tc>
                <a:tc>
                  <a:txBody>
                    <a:bodyPr/>
                    <a:lstStyle/>
                    <a:p>
                      <a:r>
                        <a:rPr lang="it-IT" sz="2100" dirty="0"/>
                        <a:t>3</a:t>
                      </a:r>
                    </a:p>
                  </a:txBody>
                  <a:tcPr marL="104459" marR="104459" marT="52229" marB="52229"/>
                </a:tc>
                <a:tc>
                  <a:txBody>
                    <a:bodyPr/>
                    <a:lstStyle/>
                    <a:p>
                      <a:r>
                        <a:rPr lang="it-IT" sz="2100" dirty="0"/>
                        <a:t>3.37</a:t>
                      </a:r>
                    </a:p>
                  </a:txBody>
                  <a:tcPr marL="104459" marR="104459" marT="52229" marB="52229"/>
                </a:tc>
                <a:tc>
                  <a:txBody>
                    <a:bodyPr/>
                    <a:lstStyle/>
                    <a:p>
                      <a:r>
                        <a:rPr lang="it-IT" sz="2100" dirty="0"/>
                        <a:t>0</a:t>
                      </a:r>
                    </a:p>
                  </a:txBody>
                  <a:tcPr marL="104459" marR="104459" marT="52229" marB="52229"/>
                </a:tc>
                <a:tc>
                  <a:txBody>
                    <a:bodyPr/>
                    <a:lstStyle/>
                    <a:p>
                      <a:r>
                        <a:rPr lang="it-IT" sz="2100" dirty="0"/>
                        <a:t>17</a:t>
                      </a:r>
                    </a:p>
                  </a:txBody>
                  <a:tcPr marL="104459" marR="104459" marT="52229" marB="52229"/>
                </a:tc>
                <a:extLst>
                  <a:ext uri="{0D108BD9-81ED-4DB2-BD59-A6C34878D82A}">
                    <a16:rowId xmlns:a16="http://schemas.microsoft.com/office/drawing/2014/main" val="1244142451"/>
                  </a:ext>
                </a:extLst>
              </a:tr>
            </a:tbl>
          </a:graphicData>
        </a:graphic>
      </p:graphicFrame>
      <p:sp>
        <p:nvSpPr>
          <p:cNvPr id="7" name="CasellaDiTesto 6">
            <a:extLst>
              <a:ext uri="{FF2B5EF4-FFF2-40B4-BE49-F238E27FC236}">
                <a16:creationId xmlns:a16="http://schemas.microsoft.com/office/drawing/2014/main" id="{DE80DFB1-D741-2980-7E4A-B03539A13421}"/>
              </a:ext>
            </a:extLst>
          </p:cNvPr>
          <p:cNvSpPr txBox="1"/>
          <p:nvPr/>
        </p:nvSpPr>
        <p:spPr>
          <a:xfrm>
            <a:off x="279218" y="6004652"/>
            <a:ext cx="6098720" cy="523220"/>
          </a:xfrm>
          <a:prstGeom prst="rect">
            <a:avLst/>
          </a:prstGeom>
          <a:noFill/>
        </p:spPr>
        <p:txBody>
          <a:bodyPr wrap="square">
            <a:spAutoFit/>
          </a:bodyPr>
          <a:lstStyle/>
          <a:p>
            <a:pPr algn="l">
              <a:buNone/>
            </a:pPr>
            <a:r>
              <a:rPr lang="it-IT" sz="1400" b="0" i="0" dirty="0">
                <a:solidFill>
                  <a:srgbClr val="000000"/>
                </a:solidFill>
                <a:effectLst/>
                <a:latin typeface="Arial" panose="020B0604020202020204" pitchFamily="34" charset="0"/>
                <a:cs typeface="Arial" panose="020B0604020202020204" pitchFamily="34" charset="0"/>
              </a:rPr>
              <a:t>From the Royal College of </a:t>
            </a:r>
            <a:r>
              <a:rPr lang="it-IT" sz="1400" b="0" i="0" dirty="0" err="1">
                <a:solidFill>
                  <a:srgbClr val="000000"/>
                </a:solidFill>
                <a:effectLst/>
                <a:latin typeface="Arial" panose="020B0604020202020204" pitchFamily="34" charset="0"/>
                <a:cs typeface="Arial" panose="020B0604020202020204" pitchFamily="34" charset="0"/>
              </a:rPr>
              <a:t>Radiologists</a:t>
            </a:r>
            <a:r>
              <a:rPr lang="it-IT" sz="1400" b="0" i="0" dirty="0">
                <a:solidFill>
                  <a:srgbClr val="000000"/>
                </a:solidFill>
                <a:effectLst/>
                <a:latin typeface="Arial" panose="020B0604020202020204" pitchFamily="34" charset="0"/>
                <a:cs typeface="Arial" panose="020B0604020202020204" pitchFamily="34" charset="0"/>
              </a:rPr>
              <a:t> guide:</a:t>
            </a:r>
          </a:p>
          <a:p>
            <a:pPr algn="l">
              <a:buNone/>
            </a:pPr>
            <a:r>
              <a:rPr lang="it-IT" sz="1400" b="0" i="0" dirty="0" err="1">
                <a:solidFill>
                  <a:srgbClr val="000000"/>
                </a:solidFill>
                <a:effectLst/>
                <a:latin typeface="Arial" panose="020B0604020202020204" pitchFamily="34" charset="0"/>
                <a:cs typeface="Arial" panose="020B0604020202020204" pitchFamily="34" charset="0"/>
              </a:rPr>
              <a:t>Descriptive</a:t>
            </a:r>
            <a:r>
              <a:rPr lang="it-IT" sz="1400" b="0" i="0" dirty="0">
                <a:solidFill>
                  <a:srgbClr val="000000"/>
                </a:solidFill>
                <a:effectLst/>
                <a:latin typeface="Arial" panose="020B0604020202020204" pitchFamily="34" charset="0"/>
                <a:cs typeface="Arial" panose="020B0604020202020204" pitchFamily="34" charset="0"/>
              </a:rPr>
              <a:t> </a:t>
            </a:r>
            <a:r>
              <a:rPr lang="it-IT" sz="1400" b="0" i="0" dirty="0" err="1">
                <a:solidFill>
                  <a:srgbClr val="000000"/>
                </a:solidFill>
                <a:effectLst/>
                <a:latin typeface="Arial" panose="020B0604020202020204" pitchFamily="34" charset="0"/>
                <a:cs typeface="Arial" panose="020B0604020202020204" pitchFamily="34" charset="0"/>
              </a:rPr>
              <a:t>statistics</a:t>
            </a:r>
            <a:r>
              <a:rPr lang="it-IT" sz="1400" b="0" i="0" dirty="0">
                <a:solidFill>
                  <a:srgbClr val="000000"/>
                </a:solidFill>
                <a:effectLst/>
                <a:latin typeface="Arial" panose="020B0604020202020204" pitchFamily="34" charset="0"/>
                <a:cs typeface="Arial" panose="020B0604020202020204" pitchFamily="34" charset="0"/>
              </a:rPr>
              <a:t> </a:t>
            </a:r>
            <a:r>
              <a:rPr lang="it-IT" sz="1400" b="0" i="0" dirty="0" err="1">
                <a:solidFill>
                  <a:srgbClr val="000000"/>
                </a:solidFill>
                <a:effectLst/>
                <a:latin typeface="Arial" panose="020B0604020202020204" pitchFamily="34" charset="0"/>
                <a:cs typeface="Arial" panose="020B0604020202020204" pitchFamily="34" charset="0"/>
              </a:rPr>
              <a:t>summarise</a:t>
            </a:r>
            <a:r>
              <a:rPr lang="it-IT" sz="1400" b="0" i="0" dirty="0">
                <a:solidFill>
                  <a:srgbClr val="000000"/>
                </a:solidFill>
                <a:effectLst/>
                <a:latin typeface="Arial" panose="020B0604020202020204" pitchFamily="34" charset="0"/>
                <a:cs typeface="Arial" panose="020B0604020202020204" pitchFamily="34" charset="0"/>
              </a:rPr>
              <a:t> the data </a:t>
            </a:r>
            <a:r>
              <a:rPr lang="it-IT" sz="1400" b="0" i="0" dirty="0" err="1">
                <a:solidFill>
                  <a:srgbClr val="000000"/>
                </a:solidFill>
                <a:effectLst/>
                <a:latin typeface="Arial" panose="020B0604020202020204" pitchFamily="34" charset="0"/>
                <a:cs typeface="Arial" panose="020B0604020202020204" pitchFamily="34" charset="0"/>
              </a:rPr>
              <a:t>before</a:t>
            </a:r>
            <a:r>
              <a:rPr lang="it-IT" sz="1400" b="0" i="0" dirty="0">
                <a:solidFill>
                  <a:srgbClr val="000000"/>
                </a:solidFill>
                <a:effectLst/>
                <a:latin typeface="Arial" panose="020B0604020202020204" pitchFamily="34" charset="0"/>
                <a:cs typeface="Arial" panose="020B0604020202020204" pitchFamily="34" charset="0"/>
              </a:rPr>
              <a:t> more </a:t>
            </a:r>
            <a:r>
              <a:rPr lang="it-IT" sz="1400" b="0" i="0" dirty="0" err="1">
                <a:solidFill>
                  <a:srgbClr val="000000"/>
                </a:solidFill>
                <a:effectLst/>
                <a:latin typeface="Arial" panose="020B0604020202020204" pitchFamily="34" charset="0"/>
                <a:cs typeface="Arial" panose="020B0604020202020204" pitchFamily="34" charset="0"/>
              </a:rPr>
              <a:t>advanced</a:t>
            </a:r>
            <a:r>
              <a:rPr lang="it-IT" sz="1400" b="0" i="0" dirty="0">
                <a:solidFill>
                  <a:srgbClr val="000000"/>
                </a:solidFill>
                <a:effectLst/>
                <a:latin typeface="Arial" panose="020B0604020202020204" pitchFamily="34" charset="0"/>
                <a:cs typeface="Arial" panose="020B0604020202020204" pitchFamily="34" charset="0"/>
              </a:rPr>
              <a:t> </a:t>
            </a:r>
            <a:r>
              <a:rPr lang="it-IT" sz="1400" b="0" i="0" dirty="0" err="1">
                <a:solidFill>
                  <a:srgbClr val="000000"/>
                </a:solidFill>
                <a:effectLst/>
                <a:latin typeface="Arial" panose="020B0604020202020204" pitchFamily="34" charset="0"/>
                <a:cs typeface="Arial" panose="020B0604020202020204" pitchFamily="34" charset="0"/>
              </a:rPr>
              <a:t>analyses</a:t>
            </a:r>
            <a:r>
              <a:rPr lang="it-IT" sz="1400" b="0" i="0" dirty="0">
                <a:solidFill>
                  <a:srgbClr val="000000"/>
                </a:solidFill>
                <a:effectLst/>
                <a:latin typeface="Arial" panose="020B0604020202020204" pitchFamily="34" charset="0"/>
                <a:cs typeface="Arial" panose="020B0604020202020204" pitchFamily="34" charset="0"/>
              </a:rPr>
              <a:t>.</a:t>
            </a:r>
          </a:p>
        </p:txBody>
      </p:sp>
      <p:sp>
        <p:nvSpPr>
          <p:cNvPr id="6" name="Rectangle 1">
            <a:extLst>
              <a:ext uri="{FF2B5EF4-FFF2-40B4-BE49-F238E27FC236}">
                <a16:creationId xmlns:a16="http://schemas.microsoft.com/office/drawing/2014/main" id="{081FC070-7BC3-4269-EA3D-0ACB027B0D06}"/>
              </a:ext>
            </a:extLst>
          </p:cNvPr>
          <p:cNvSpPr>
            <a:spLocks noChangeArrowheads="1"/>
          </p:cNvSpPr>
          <p:nvPr/>
        </p:nvSpPr>
        <p:spPr bwMode="auto">
          <a:xfrm>
            <a:off x="9365945" y="6293879"/>
            <a:ext cx="22453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a:ln>
                  <a:noFill/>
                </a:ln>
                <a:solidFill>
                  <a:schemeClr val="accent3">
                    <a:lumMod val="75000"/>
                  </a:schemeClr>
                </a:solidFill>
                <a:effectLst/>
                <a:latin typeface="+mn-lt"/>
              </a:rPr>
              <a:t>summary(diabetes)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a:ln>
                  <a:noFill/>
                </a:ln>
                <a:solidFill>
                  <a:schemeClr val="accent3">
                    <a:lumMod val="75000"/>
                  </a:schemeClr>
                </a:solidFill>
                <a:effectLst/>
                <a:latin typeface="+mn-lt"/>
              </a:rPr>
              <a:t>describe(diabetes)</a:t>
            </a:r>
            <a:endParaRPr kumimoji="0" lang="it-IT" altLang="it-IT" sz="1400" b="0" i="1" u="none" strike="noStrike" cap="none" normalizeH="0" baseline="0" dirty="0">
              <a:ln>
                <a:noFill/>
              </a:ln>
              <a:solidFill>
                <a:schemeClr val="accent3">
                  <a:lumMod val="75000"/>
                </a:schemeClr>
              </a:solidFill>
              <a:effectLst/>
              <a:latin typeface="+mn-lt"/>
            </a:endParaRPr>
          </a:p>
        </p:txBody>
      </p:sp>
      <p:pic>
        <p:nvPicPr>
          <p:cNvPr id="8" name="Immagine 7" descr="Immagine che contiene logo, simbolo, Carattere, Elementi grafici&#10;&#10;Il contenuto generato dall'IA potrebbe non essere corretto.">
            <a:extLst>
              <a:ext uri="{FF2B5EF4-FFF2-40B4-BE49-F238E27FC236}">
                <a16:creationId xmlns:a16="http://schemas.microsoft.com/office/drawing/2014/main" id="{C56C296C-859F-4E94-FC1F-E56B1F72463C}"/>
              </a:ext>
            </a:extLst>
          </p:cNvPr>
          <p:cNvPicPr>
            <a:picLocks noChangeAspect="1"/>
          </p:cNvPicPr>
          <p:nvPr/>
        </p:nvPicPr>
        <p:blipFill>
          <a:blip r:embed="rId3"/>
          <a:stretch>
            <a:fillRect/>
          </a:stretch>
        </p:blipFill>
        <p:spPr>
          <a:xfrm>
            <a:off x="11613118" y="6199188"/>
            <a:ext cx="413197" cy="386366"/>
          </a:xfrm>
          <a:prstGeom prst="rect">
            <a:avLst/>
          </a:prstGeom>
        </p:spPr>
      </p:pic>
      <p:sp>
        <p:nvSpPr>
          <p:cNvPr id="10" name="CasellaDiTesto 9">
            <a:extLst>
              <a:ext uri="{FF2B5EF4-FFF2-40B4-BE49-F238E27FC236}">
                <a16:creationId xmlns:a16="http://schemas.microsoft.com/office/drawing/2014/main" id="{630EBA08-1A5B-B3C3-68D4-B271E0F36D76}"/>
              </a:ext>
            </a:extLst>
          </p:cNvPr>
          <p:cNvSpPr txBox="1"/>
          <p:nvPr/>
        </p:nvSpPr>
        <p:spPr>
          <a:xfrm>
            <a:off x="6091004" y="1871395"/>
            <a:ext cx="6100996" cy="307777"/>
          </a:xfrm>
          <a:prstGeom prst="rect">
            <a:avLst/>
          </a:prstGeom>
          <a:noFill/>
        </p:spPr>
        <p:txBody>
          <a:bodyPr wrap="square">
            <a:spAutoFit/>
          </a:bodyPr>
          <a:lstStyle/>
          <a:p>
            <a:r>
              <a:rPr lang="it-IT" sz="1400" b="1" i="0" u="none" strike="noStrike" dirty="0" err="1">
                <a:solidFill>
                  <a:srgbClr val="000000"/>
                </a:solidFill>
                <a:effectLst/>
                <a:latin typeface="Arial" panose="020B0604020202020204" pitchFamily="34" charset="0"/>
                <a:cs typeface="Arial" panose="020B0604020202020204" pitchFamily="34" charset="0"/>
              </a:rPr>
              <a:t>Table</a:t>
            </a:r>
            <a:r>
              <a:rPr lang="it-IT" sz="1400" b="1" i="0" u="none" strike="noStrike" dirty="0">
                <a:solidFill>
                  <a:srgbClr val="000000"/>
                </a:solidFill>
                <a:effectLst/>
                <a:latin typeface="Arial" panose="020B0604020202020204" pitchFamily="34" charset="0"/>
                <a:cs typeface="Arial" panose="020B0604020202020204" pitchFamily="34" charset="0"/>
              </a:rPr>
              <a:t> 1. </a:t>
            </a:r>
            <a:r>
              <a:rPr lang="it-IT" sz="1400" b="1" i="0" u="none" strike="noStrike" dirty="0" err="1">
                <a:solidFill>
                  <a:srgbClr val="000000"/>
                </a:solidFill>
                <a:effectLst/>
                <a:latin typeface="Arial" panose="020B0604020202020204" pitchFamily="34" charset="0"/>
                <a:cs typeface="Arial" panose="020B0604020202020204" pitchFamily="34" charset="0"/>
              </a:rPr>
              <a:t>Descriptive</a:t>
            </a:r>
            <a:r>
              <a:rPr lang="it-IT" sz="1400" b="1" i="0" u="none" strike="noStrike" dirty="0">
                <a:solidFill>
                  <a:srgbClr val="000000"/>
                </a:solidFill>
                <a:effectLst/>
                <a:latin typeface="Arial" panose="020B0604020202020204" pitchFamily="34" charset="0"/>
                <a:cs typeface="Arial" panose="020B0604020202020204" pitchFamily="34" charset="0"/>
              </a:rPr>
              <a:t> </a:t>
            </a:r>
            <a:r>
              <a:rPr lang="it-IT" sz="1400" b="1" i="0" u="none" strike="noStrike" dirty="0" err="1">
                <a:solidFill>
                  <a:srgbClr val="000000"/>
                </a:solidFill>
                <a:effectLst/>
                <a:latin typeface="Arial" panose="020B0604020202020204" pitchFamily="34" charset="0"/>
                <a:cs typeface="Arial" panose="020B0604020202020204" pitchFamily="34" charset="0"/>
              </a:rPr>
              <a:t>statistics</a:t>
            </a:r>
            <a:r>
              <a:rPr lang="it-IT" sz="1400" b="1" i="0" u="none" strike="noStrike" dirty="0">
                <a:solidFill>
                  <a:srgbClr val="000000"/>
                </a:solidFill>
                <a:effectLst/>
                <a:latin typeface="Arial" panose="020B0604020202020204" pitchFamily="34" charset="0"/>
                <a:cs typeface="Arial" panose="020B0604020202020204" pitchFamily="34" charset="0"/>
              </a:rPr>
              <a:t> of the </a:t>
            </a:r>
            <a:r>
              <a:rPr lang="it-IT" sz="1400" b="1" i="0" u="none" strike="noStrike" dirty="0" err="1">
                <a:solidFill>
                  <a:srgbClr val="000000"/>
                </a:solidFill>
                <a:effectLst/>
                <a:latin typeface="Arial" panose="020B0604020202020204" pitchFamily="34" charset="0"/>
                <a:cs typeface="Arial" panose="020B0604020202020204" pitchFamily="34" charset="0"/>
              </a:rPr>
              <a:t>main</a:t>
            </a:r>
            <a:r>
              <a:rPr lang="it-IT" sz="1400" b="1" i="0" u="none" strike="noStrike" dirty="0">
                <a:solidFill>
                  <a:srgbClr val="000000"/>
                </a:solidFill>
                <a:effectLst/>
                <a:latin typeface="Arial" panose="020B0604020202020204" pitchFamily="34" charset="0"/>
                <a:cs typeface="Arial" panose="020B0604020202020204" pitchFamily="34" charset="0"/>
              </a:rPr>
              <a:t> clinical </a:t>
            </a:r>
            <a:r>
              <a:rPr lang="it-IT" sz="1400" b="1" i="0" u="none" strike="noStrike" dirty="0" err="1">
                <a:solidFill>
                  <a:srgbClr val="000000"/>
                </a:solidFill>
                <a:effectLst/>
                <a:latin typeface="Arial" panose="020B0604020202020204" pitchFamily="34" charset="0"/>
                <a:cs typeface="Arial" panose="020B0604020202020204" pitchFamily="34" charset="0"/>
              </a:rPr>
              <a:t>variables</a:t>
            </a:r>
            <a:r>
              <a:rPr lang="it-IT" sz="1400" i="0" u="none" strike="noStrike" dirty="0">
                <a:solidFill>
                  <a:srgbClr val="000000"/>
                </a:solidFill>
                <a:effectLst/>
                <a:latin typeface="Arial" panose="020B0604020202020204" pitchFamily="34" charset="0"/>
                <a:cs typeface="Arial" panose="020B0604020202020204" pitchFamily="34" charset="0"/>
              </a:rPr>
              <a:t>.</a:t>
            </a:r>
            <a:endParaRPr lang="it-IT" sz="1400" dirty="0">
              <a:latin typeface="Arial" panose="020B0604020202020204" pitchFamily="34" charset="0"/>
              <a:cs typeface="Arial" panose="020B0604020202020204" pitchFamily="34" charset="0"/>
            </a:endParaRPr>
          </a:p>
        </p:txBody>
      </p:sp>
      <p:sp>
        <p:nvSpPr>
          <p:cNvPr id="9" name="CasellaDiTesto 8">
            <a:extLst>
              <a:ext uri="{FF2B5EF4-FFF2-40B4-BE49-F238E27FC236}">
                <a16:creationId xmlns:a16="http://schemas.microsoft.com/office/drawing/2014/main" id="{016040F8-C441-4792-5FCB-DAC3AEEC48B6}"/>
              </a:ext>
            </a:extLst>
          </p:cNvPr>
          <p:cNvSpPr txBox="1"/>
          <p:nvPr/>
        </p:nvSpPr>
        <p:spPr>
          <a:xfrm>
            <a:off x="640080" y="2633236"/>
            <a:ext cx="4336654" cy="3666980"/>
          </a:xfrm>
          <a:prstGeom prst="rect">
            <a:avLst/>
          </a:prstGeom>
        </p:spPr>
        <p:txBody>
          <a:bodyPr vert="horz" lIns="91440" tIns="45720" rIns="91440" bIns="45720" rtlCol="0">
            <a:normAutofit/>
          </a:bodyPr>
          <a:lstStyle/>
          <a:p>
            <a:pPr defTabSz="914400">
              <a:lnSpc>
                <a:spcPct val="120000"/>
              </a:lnSpc>
              <a:spcAft>
                <a:spcPts val="600"/>
              </a:spcAft>
              <a:buSzPct val="87000"/>
            </a:pPr>
            <a:r>
              <a:rPr lang="en-US" dirty="0"/>
              <a:t>.</a:t>
            </a:r>
          </a:p>
          <a:p>
            <a:pPr defTabSz="914400">
              <a:lnSpc>
                <a:spcPct val="120000"/>
              </a:lnSpc>
              <a:spcAft>
                <a:spcPts val="600"/>
              </a:spcAft>
              <a:buSzPct val="87000"/>
              <a:buFont typeface="Arial" panose="020B0604020202020204" pitchFamily="34" charset="0"/>
              <a:buChar char="•"/>
            </a:pPr>
            <a:endParaRPr lang="en-US" dirty="0"/>
          </a:p>
        </p:txBody>
      </p:sp>
      <p:sp>
        <p:nvSpPr>
          <p:cNvPr id="11" name="Rectangle 1">
            <a:extLst>
              <a:ext uri="{FF2B5EF4-FFF2-40B4-BE49-F238E27FC236}">
                <a16:creationId xmlns:a16="http://schemas.microsoft.com/office/drawing/2014/main" id="{472D63D0-CEE4-A611-D290-4C821C3685F4}"/>
              </a:ext>
            </a:extLst>
          </p:cNvPr>
          <p:cNvSpPr>
            <a:spLocks noChangeArrowheads="1"/>
          </p:cNvSpPr>
          <p:nvPr/>
        </p:nvSpPr>
        <p:spPr bwMode="auto">
          <a:xfrm rot="10800000" flipV="1">
            <a:off x="459648" y="2326809"/>
            <a:ext cx="573785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Glucose</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showed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the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greatest</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variability</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BMI and Age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were</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widely</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distributed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Summary</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statistics</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guided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subsequent</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analyses</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it-IT" altLang="it-IT"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292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140A86B-E8AC-1CFF-3357-123F45678CDB}"/>
              </a:ext>
            </a:extLst>
          </p:cNvPr>
          <p:cNvSpPr>
            <a:spLocks noGrp="1"/>
          </p:cNvSpPr>
          <p:nvPr>
            <p:ph type="title"/>
          </p:nvPr>
        </p:nvSpPr>
        <p:spPr>
          <a:xfrm>
            <a:off x="639763" y="987361"/>
            <a:ext cx="10890929" cy="1097280"/>
          </a:xfrm>
        </p:spPr>
        <p:txBody>
          <a:bodyPr/>
          <a:lstStyle/>
          <a:p>
            <a:r>
              <a:rPr lang="it-IT" dirty="0"/>
              <a:t>Age Distribution</a:t>
            </a:r>
          </a:p>
        </p:txBody>
      </p:sp>
      <p:graphicFrame>
        <p:nvGraphicFramePr>
          <p:cNvPr id="4" name="Segnaposto contenuto 3">
            <a:extLst>
              <a:ext uri="{FF2B5EF4-FFF2-40B4-BE49-F238E27FC236}">
                <a16:creationId xmlns:a16="http://schemas.microsoft.com/office/drawing/2014/main" id="{1B6F3631-8CCA-0DB3-EEB6-B5C064D37084}"/>
              </a:ext>
            </a:extLst>
          </p:cNvPr>
          <p:cNvGraphicFramePr>
            <a:graphicFrameLocks noGrp="1"/>
          </p:cNvGraphicFramePr>
          <p:nvPr>
            <p:ph idx="1"/>
            <p:extLst>
              <p:ext uri="{D42A27DB-BD31-4B8C-83A1-F6EECF244321}">
                <p14:modId xmlns:p14="http://schemas.microsoft.com/office/powerpoint/2010/main" val="2386539994"/>
              </p:ext>
            </p:extLst>
          </p:nvPr>
        </p:nvGraphicFramePr>
        <p:xfrm>
          <a:off x="639763" y="2671763"/>
          <a:ext cx="7475537" cy="3527426"/>
        </p:xfrm>
        <a:graphic>
          <a:graphicData uri="http://schemas.openxmlformats.org/drawingml/2006/chart">
            <c:chart xmlns:c="http://schemas.openxmlformats.org/drawingml/2006/chart" xmlns:r="http://schemas.openxmlformats.org/officeDocument/2006/relationships" r:id="rId4"/>
          </a:graphicData>
        </a:graphic>
      </p:graphicFrame>
      <p:pic>
        <p:nvPicPr>
          <p:cNvPr id="5" name="Immagine 4" descr="Immagine che contiene logo, simbolo, Carattere, Elementi grafici&#10;&#10;Il contenuto generato dall'IA potrebbe non essere corretto.">
            <a:extLst>
              <a:ext uri="{FF2B5EF4-FFF2-40B4-BE49-F238E27FC236}">
                <a16:creationId xmlns:a16="http://schemas.microsoft.com/office/drawing/2014/main" id="{49151239-CDF7-3347-9AB0-E4705A4570C3}"/>
              </a:ext>
            </a:extLst>
          </p:cNvPr>
          <p:cNvPicPr>
            <a:picLocks noChangeAspect="1"/>
          </p:cNvPicPr>
          <p:nvPr/>
        </p:nvPicPr>
        <p:blipFill>
          <a:blip r:embed="rId5"/>
          <a:stretch>
            <a:fillRect/>
          </a:stretch>
        </p:blipFill>
        <p:spPr>
          <a:xfrm>
            <a:off x="11345638" y="6138333"/>
            <a:ext cx="413197" cy="386366"/>
          </a:xfrm>
          <a:prstGeom prst="rect">
            <a:avLst/>
          </a:prstGeom>
        </p:spPr>
      </p:pic>
      <p:sp>
        <p:nvSpPr>
          <p:cNvPr id="10" name="CasellaDiTesto 9">
            <a:extLst>
              <a:ext uri="{FF2B5EF4-FFF2-40B4-BE49-F238E27FC236}">
                <a16:creationId xmlns:a16="http://schemas.microsoft.com/office/drawing/2014/main" id="{E83DF1EF-4F0B-B45C-08D8-41B31915C4CC}"/>
              </a:ext>
            </a:extLst>
          </p:cNvPr>
          <p:cNvSpPr txBox="1"/>
          <p:nvPr/>
        </p:nvSpPr>
        <p:spPr>
          <a:xfrm>
            <a:off x="486758" y="6078905"/>
            <a:ext cx="6098720" cy="646331"/>
          </a:xfrm>
          <a:prstGeom prst="rect">
            <a:avLst/>
          </a:prstGeom>
          <a:noFill/>
        </p:spPr>
        <p:txBody>
          <a:bodyPr wrap="square">
            <a:spAutoFit/>
          </a:bodyPr>
          <a:lstStyle/>
          <a:p>
            <a:pPr algn="l">
              <a:buNone/>
            </a:pPr>
            <a:r>
              <a:rPr lang="it-IT" sz="1200" b="0" i="1" dirty="0">
                <a:solidFill>
                  <a:srgbClr val="000000"/>
                </a:solidFill>
                <a:effectLst/>
              </a:rPr>
              <a:t>Autodesk </a:t>
            </a:r>
            <a:r>
              <a:rPr lang="it-IT" sz="1200" b="0" i="1" dirty="0" err="1">
                <a:solidFill>
                  <a:srgbClr val="000000"/>
                </a:solidFill>
                <a:effectLst/>
              </a:rPr>
              <a:t>article</a:t>
            </a:r>
            <a:r>
              <a:rPr lang="it-IT" sz="1200" b="0" i="1" dirty="0">
                <a:solidFill>
                  <a:srgbClr val="000000"/>
                </a:solidFill>
                <a:effectLst/>
              </a:rPr>
              <a:t>:</a:t>
            </a:r>
          </a:p>
          <a:p>
            <a:pPr algn="l">
              <a:buNone/>
            </a:pPr>
            <a:r>
              <a:rPr lang="it-IT" sz="1200" b="0" i="1" dirty="0" err="1">
                <a:solidFill>
                  <a:srgbClr val="000000"/>
                </a:solidFill>
                <a:effectLst/>
              </a:rPr>
              <a:t>Similar</a:t>
            </a:r>
            <a:r>
              <a:rPr lang="it-IT" sz="1200" b="0" i="1" dirty="0">
                <a:solidFill>
                  <a:srgbClr val="000000"/>
                </a:solidFill>
                <a:effectLst/>
              </a:rPr>
              <a:t> </a:t>
            </a:r>
            <a:r>
              <a:rPr lang="it-IT" sz="1200" b="0" i="1" dirty="0" err="1">
                <a:solidFill>
                  <a:srgbClr val="000000"/>
                </a:solidFill>
                <a:effectLst/>
              </a:rPr>
              <a:t>summary</a:t>
            </a:r>
            <a:r>
              <a:rPr lang="it-IT" sz="1200" b="0" i="1" dirty="0">
                <a:solidFill>
                  <a:srgbClr val="000000"/>
                </a:solidFill>
                <a:effectLst/>
              </a:rPr>
              <a:t> </a:t>
            </a:r>
            <a:r>
              <a:rPr lang="it-IT" sz="1200" b="0" i="1" dirty="0" err="1">
                <a:solidFill>
                  <a:srgbClr val="000000"/>
                </a:solidFill>
                <a:effectLst/>
              </a:rPr>
              <a:t>statistics</a:t>
            </a:r>
            <a:r>
              <a:rPr lang="it-IT" sz="1200" b="0" i="1" dirty="0">
                <a:solidFill>
                  <a:srgbClr val="000000"/>
                </a:solidFill>
                <a:effectLst/>
              </a:rPr>
              <a:t> can </a:t>
            </a:r>
            <a:r>
              <a:rPr lang="it-IT" sz="1200" b="0" i="1" dirty="0" err="1">
                <a:solidFill>
                  <a:srgbClr val="000000"/>
                </a:solidFill>
                <a:effectLst/>
              </a:rPr>
              <a:t>hide</a:t>
            </a:r>
            <a:r>
              <a:rPr lang="it-IT" sz="1200" b="0" i="1" dirty="0">
                <a:solidFill>
                  <a:srgbClr val="000000"/>
                </a:solidFill>
                <a:effectLst/>
              </a:rPr>
              <a:t> </a:t>
            </a:r>
            <a:r>
              <a:rPr lang="it-IT" sz="1200" b="0" i="1" dirty="0" err="1">
                <a:solidFill>
                  <a:srgbClr val="000000"/>
                </a:solidFill>
                <a:effectLst/>
              </a:rPr>
              <a:t>different</a:t>
            </a:r>
            <a:r>
              <a:rPr lang="it-IT" sz="1200" b="0" i="1" dirty="0">
                <a:solidFill>
                  <a:srgbClr val="000000"/>
                </a:solidFill>
                <a:effectLst/>
              </a:rPr>
              <a:t> </a:t>
            </a:r>
            <a:r>
              <a:rPr lang="it-IT" sz="1200" b="0" i="1" dirty="0" err="1">
                <a:solidFill>
                  <a:srgbClr val="000000"/>
                </a:solidFill>
                <a:effectLst/>
              </a:rPr>
              <a:t>underlying</a:t>
            </a:r>
            <a:r>
              <a:rPr lang="it-IT" sz="1200" b="0" i="1" dirty="0">
                <a:solidFill>
                  <a:srgbClr val="000000"/>
                </a:solidFill>
                <a:effectLst/>
              </a:rPr>
              <a:t> </a:t>
            </a:r>
            <a:r>
              <a:rPr lang="it-IT" sz="1200" b="0" i="1" dirty="0" err="1">
                <a:solidFill>
                  <a:srgbClr val="000000"/>
                </a:solidFill>
                <a:effectLst/>
              </a:rPr>
              <a:t>distributions</a:t>
            </a:r>
            <a:r>
              <a:rPr lang="it-IT" sz="1200" b="0" i="1" dirty="0">
                <a:solidFill>
                  <a:srgbClr val="000000"/>
                </a:solidFill>
                <a:effectLst/>
              </a:rPr>
              <a:t>, </a:t>
            </a:r>
            <a:r>
              <a:rPr lang="it-IT" sz="1200" b="0" i="1" dirty="0" err="1">
                <a:solidFill>
                  <a:srgbClr val="000000"/>
                </a:solidFill>
                <a:effectLst/>
              </a:rPr>
              <a:t>highlighting</a:t>
            </a:r>
            <a:r>
              <a:rPr lang="it-IT" sz="1200" b="0" i="1" dirty="0">
                <a:solidFill>
                  <a:srgbClr val="000000"/>
                </a:solidFill>
                <a:effectLst/>
              </a:rPr>
              <a:t> the </a:t>
            </a:r>
            <a:r>
              <a:rPr lang="it-IT" sz="1200" b="0" i="1" dirty="0" err="1">
                <a:solidFill>
                  <a:srgbClr val="000000"/>
                </a:solidFill>
                <a:effectLst/>
              </a:rPr>
              <a:t>importance</a:t>
            </a:r>
            <a:r>
              <a:rPr lang="it-IT" sz="1200" b="0" i="1" dirty="0">
                <a:solidFill>
                  <a:srgbClr val="000000"/>
                </a:solidFill>
                <a:effectLst/>
              </a:rPr>
              <a:t> of </a:t>
            </a:r>
            <a:r>
              <a:rPr lang="it-IT" sz="1200" b="0" i="1" dirty="0" err="1">
                <a:solidFill>
                  <a:srgbClr val="000000"/>
                </a:solidFill>
                <a:effectLst/>
              </a:rPr>
              <a:t>visualising</a:t>
            </a:r>
            <a:r>
              <a:rPr lang="it-IT" sz="1200" b="0" i="1" dirty="0">
                <a:solidFill>
                  <a:srgbClr val="000000"/>
                </a:solidFill>
                <a:effectLst/>
              </a:rPr>
              <a:t> the data.</a:t>
            </a:r>
          </a:p>
        </p:txBody>
      </p:sp>
      <p:sp>
        <p:nvSpPr>
          <p:cNvPr id="6" name="Rectangle 1">
            <a:extLst>
              <a:ext uri="{FF2B5EF4-FFF2-40B4-BE49-F238E27FC236}">
                <a16:creationId xmlns:a16="http://schemas.microsoft.com/office/drawing/2014/main" id="{CD20924A-C83A-658D-9D54-A5D992FF8819}"/>
              </a:ext>
            </a:extLst>
          </p:cNvPr>
          <p:cNvSpPr>
            <a:spLocks noChangeArrowheads="1"/>
          </p:cNvSpPr>
          <p:nvPr/>
        </p:nvSpPr>
        <p:spPr bwMode="auto">
          <a:xfrm>
            <a:off x="8587448" y="5509518"/>
            <a:ext cx="275819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err="1">
                <a:ln>
                  <a:noFill/>
                </a:ln>
                <a:solidFill>
                  <a:schemeClr val="accent3">
                    <a:lumMod val="75000"/>
                  </a:schemeClr>
                </a:solidFill>
                <a:effectLst/>
                <a:latin typeface="+mn-lt"/>
              </a:rPr>
              <a:t>ggplot</a:t>
            </a:r>
            <a:r>
              <a:rPr kumimoji="0" lang="it-IT" altLang="it-IT" sz="1400" b="0" i="1" u="none" strike="noStrike" cap="none" normalizeH="0" baseline="0" dirty="0">
                <a:ln>
                  <a:noFill/>
                </a:ln>
                <a:solidFill>
                  <a:schemeClr val="accent3">
                    <a:lumMod val="75000"/>
                  </a:schemeClr>
                </a:solidFill>
                <a:effectLst/>
                <a:latin typeface="+mn-lt"/>
              </a:rPr>
              <a:t>(</a:t>
            </a:r>
            <a:r>
              <a:rPr kumimoji="0" lang="it-IT" altLang="it-IT" sz="1400" b="0" i="1" u="none" strike="noStrike" cap="none" normalizeH="0" baseline="0" dirty="0" err="1">
                <a:ln>
                  <a:noFill/>
                </a:ln>
                <a:solidFill>
                  <a:schemeClr val="accent3">
                    <a:lumMod val="75000"/>
                  </a:schemeClr>
                </a:solidFill>
                <a:effectLst/>
                <a:latin typeface="+mn-lt"/>
              </a:rPr>
              <a:t>diabetes</a:t>
            </a:r>
            <a:r>
              <a:rPr kumimoji="0" lang="it-IT" altLang="it-IT" sz="1400" b="0" i="1" u="none" strike="noStrike" cap="none" normalizeH="0" baseline="0" dirty="0">
                <a:ln>
                  <a:noFill/>
                </a:ln>
                <a:solidFill>
                  <a:schemeClr val="accent3">
                    <a:lumMod val="75000"/>
                  </a:schemeClr>
                </a:solidFill>
                <a:effectLst/>
                <a:latin typeface="+mn-lt"/>
              </a:rPr>
              <a:t>, </a:t>
            </a:r>
            <a:r>
              <a:rPr kumimoji="0" lang="it-IT" altLang="it-IT" sz="1400" b="0" i="1" u="none" strike="noStrike" cap="none" normalizeH="0" baseline="0" dirty="0" err="1">
                <a:ln>
                  <a:noFill/>
                </a:ln>
                <a:solidFill>
                  <a:schemeClr val="accent3">
                    <a:lumMod val="75000"/>
                  </a:schemeClr>
                </a:solidFill>
                <a:effectLst/>
                <a:latin typeface="+mn-lt"/>
              </a:rPr>
              <a:t>aes</a:t>
            </a:r>
            <a:r>
              <a:rPr kumimoji="0" lang="it-IT" altLang="it-IT" sz="1400" b="0" i="1" u="none" strike="noStrike" cap="none" normalizeH="0" baseline="0" dirty="0">
                <a:ln>
                  <a:noFill/>
                </a:ln>
                <a:solidFill>
                  <a:schemeClr val="accent3">
                    <a:lumMod val="75000"/>
                  </a:schemeClr>
                </a:solidFill>
                <a:effectLst/>
                <a:latin typeface="+mn-lt"/>
              </a:rPr>
              <a:t>(x = Age)) + </a:t>
            </a:r>
            <a:r>
              <a:rPr kumimoji="0" lang="it-IT" altLang="it-IT" sz="1400" b="0" i="1" u="none" strike="noStrike" cap="none" normalizeH="0" baseline="0" dirty="0" err="1">
                <a:ln>
                  <a:noFill/>
                </a:ln>
                <a:solidFill>
                  <a:schemeClr val="accent3">
                    <a:lumMod val="75000"/>
                  </a:schemeClr>
                </a:solidFill>
                <a:effectLst/>
                <a:latin typeface="+mn-lt"/>
              </a:rPr>
              <a:t>geom_histogram</a:t>
            </a:r>
            <a:r>
              <a:rPr kumimoji="0" lang="it-IT" altLang="it-IT" sz="1400" b="0" i="1" u="none" strike="noStrike" cap="none" normalizeH="0" baseline="0" dirty="0">
                <a:ln>
                  <a:noFill/>
                </a:ln>
                <a:solidFill>
                  <a:schemeClr val="accent3">
                    <a:lumMod val="75000"/>
                  </a:schemeClr>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err="1">
                <a:ln>
                  <a:noFill/>
                </a:ln>
                <a:solidFill>
                  <a:schemeClr val="accent3">
                    <a:lumMod val="75000"/>
                  </a:schemeClr>
                </a:solidFill>
                <a:effectLst/>
                <a:latin typeface="+mn-lt"/>
              </a:rPr>
              <a:t>ggplot</a:t>
            </a:r>
            <a:r>
              <a:rPr kumimoji="0" lang="it-IT" altLang="it-IT" sz="1400" b="0" i="1" u="none" strike="noStrike" cap="none" normalizeH="0" baseline="0" dirty="0">
                <a:ln>
                  <a:noFill/>
                </a:ln>
                <a:solidFill>
                  <a:schemeClr val="accent3">
                    <a:lumMod val="75000"/>
                  </a:schemeClr>
                </a:solidFill>
                <a:effectLst/>
                <a:latin typeface="+mn-lt"/>
              </a:rPr>
              <a:t>(</a:t>
            </a:r>
            <a:r>
              <a:rPr kumimoji="0" lang="it-IT" altLang="it-IT" sz="1400" b="0" i="1" u="none" strike="noStrike" cap="none" normalizeH="0" baseline="0" dirty="0" err="1">
                <a:ln>
                  <a:noFill/>
                </a:ln>
                <a:solidFill>
                  <a:schemeClr val="accent3">
                    <a:lumMod val="75000"/>
                  </a:schemeClr>
                </a:solidFill>
                <a:effectLst/>
                <a:latin typeface="+mn-lt"/>
              </a:rPr>
              <a:t>diabetes</a:t>
            </a:r>
            <a:r>
              <a:rPr kumimoji="0" lang="it-IT" altLang="it-IT" sz="1400" b="0" i="1" u="none" strike="noStrike" cap="none" normalizeH="0" baseline="0" dirty="0">
                <a:ln>
                  <a:noFill/>
                </a:ln>
                <a:solidFill>
                  <a:schemeClr val="accent3">
                    <a:lumMod val="75000"/>
                  </a:schemeClr>
                </a:solidFill>
                <a:effectLst/>
                <a:latin typeface="+mn-lt"/>
              </a:rPr>
              <a:t>, </a:t>
            </a:r>
            <a:r>
              <a:rPr kumimoji="0" lang="it-IT" altLang="it-IT" sz="1400" b="0" i="1" u="none" strike="noStrike" cap="none" normalizeH="0" baseline="0" dirty="0" err="1">
                <a:ln>
                  <a:noFill/>
                </a:ln>
                <a:solidFill>
                  <a:schemeClr val="accent3">
                    <a:lumMod val="75000"/>
                  </a:schemeClr>
                </a:solidFill>
                <a:effectLst/>
                <a:latin typeface="+mn-lt"/>
              </a:rPr>
              <a:t>aes</a:t>
            </a:r>
            <a:r>
              <a:rPr kumimoji="0" lang="it-IT" altLang="it-IT" sz="1400" b="0" i="1" u="none" strike="noStrike" cap="none" normalizeH="0" baseline="0" dirty="0">
                <a:ln>
                  <a:noFill/>
                </a:ln>
                <a:solidFill>
                  <a:schemeClr val="accent3">
                    <a:lumMod val="75000"/>
                  </a:schemeClr>
                </a:solidFill>
                <a:effectLst/>
                <a:latin typeface="+mn-lt"/>
              </a:rPr>
              <a:t>(y = Age)) + </a:t>
            </a:r>
            <a:r>
              <a:rPr kumimoji="0" lang="it-IT" altLang="it-IT" sz="1400" b="0" i="1" u="none" strike="noStrike" cap="none" normalizeH="0" baseline="0" dirty="0" err="1">
                <a:ln>
                  <a:noFill/>
                </a:ln>
                <a:solidFill>
                  <a:schemeClr val="accent3">
                    <a:lumMod val="75000"/>
                  </a:schemeClr>
                </a:solidFill>
                <a:effectLst/>
                <a:latin typeface="+mn-lt"/>
              </a:rPr>
              <a:t>geom_boxplot</a:t>
            </a:r>
            <a:r>
              <a:rPr kumimoji="0" lang="it-IT" altLang="it-IT" sz="1400" b="0" i="1" u="none" strike="noStrike" cap="none" normalizeH="0" baseline="0" dirty="0">
                <a:ln>
                  <a:noFill/>
                </a:ln>
                <a:solidFill>
                  <a:schemeClr val="accent3">
                    <a:lumMod val="75000"/>
                  </a:schemeClr>
                </a:solidFill>
                <a:effectLst/>
                <a:latin typeface="+mn-lt"/>
              </a:rPr>
              <a:t>()</a:t>
            </a:r>
          </a:p>
        </p:txBody>
      </p:sp>
      <p:pic>
        <p:nvPicPr>
          <p:cNvPr id="9" name="Immagine 8" descr="Immagine che contiene testo, schermata, diagramma, Diagramma&#10;&#10;Il contenuto generato dall'IA potrebbe non essere corretto.">
            <a:extLst>
              <a:ext uri="{FF2B5EF4-FFF2-40B4-BE49-F238E27FC236}">
                <a16:creationId xmlns:a16="http://schemas.microsoft.com/office/drawing/2014/main" id="{312E4EB5-6973-339C-B4CF-D303EF030E9D}"/>
              </a:ext>
            </a:extLst>
          </p:cNvPr>
          <p:cNvPicPr>
            <a:picLocks noChangeAspect="1"/>
          </p:cNvPicPr>
          <p:nvPr/>
        </p:nvPicPr>
        <p:blipFill>
          <a:blip r:embed="rId6"/>
          <a:srcRect t="2809"/>
          <a:stretch>
            <a:fillRect/>
          </a:stretch>
        </p:blipFill>
        <p:spPr>
          <a:xfrm>
            <a:off x="486757" y="2145714"/>
            <a:ext cx="2496916" cy="3600000"/>
          </a:xfrm>
          <a:prstGeom prst="rect">
            <a:avLst/>
          </a:prstGeom>
        </p:spPr>
      </p:pic>
      <p:pic>
        <p:nvPicPr>
          <p:cNvPr id="12" name="Immagine 11" descr="Immagine che contiene testo, schermata, Diagramma, numero&#10;&#10;Il contenuto generato dall'IA potrebbe non essere corretto.">
            <a:extLst>
              <a:ext uri="{FF2B5EF4-FFF2-40B4-BE49-F238E27FC236}">
                <a16:creationId xmlns:a16="http://schemas.microsoft.com/office/drawing/2014/main" id="{78071B82-79D5-03EE-DE25-6E8494724514}"/>
              </a:ext>
            </a:extLst>
          </p:cNvPr>
          <p:cNvPicPr>
            <a:picLocks noChangeAspect="1"/>
          </p:cNvPicPr>
          <p:nvPr/>
        </p:nvPicPr>
        <p:blipFill>
          <a:blip r:embed="rId7"/>
          <a:srcRect b="1167"/>
          <a:stretch>
            <a:fillRect/>
          </a:stretch>
        </p:blipFill>
        <p:spPr>
          <a:xfrm>
            <a:off x="3422174" y="2145716"/>
            <a:ext cx="2602702" cy="3600000"/>
          </a:xfrm>
          <a:prstGeom prst="rect">
            <a:avLst/>
          </a:prstGeom>
        </p:spPr>
      </p:pic>
      <p:graphicFrame>
        <p:nvGraphicFramePr>
          <p:cNvPr id="13" name="Tabella 12">
            <a:extLst>
              <a:ext uri="{FF2B5EF4-FFF2-40B4-BE49-F238E27FC236}">
                <a16:creationId xmlns:a16="http://schemas.microsoft.com/office/drawing/2014/main" id="{0F829300-50E9-13BA-5121-4D9E5A54FABE}"/>
              </a:ext>
            </a:extLst>
          </p:cNvPr>
          <p:cNvGraphicFramePr>
            <a:graphicFrameLocks noGrp="1"/>
          </p:cNvGraphicFramePr>
          <p:nvPr>
            <p:extLst>
              <p:ext uri="{D42A27DB-BD31-4B8C-83A1-F6EECF244321}">
                <p14:modId xmlns:p14="http://schemas.microsoft.com/office/powerpoint/2010/main" val="1186439534"/>
              </p:ext>
            </p:extLst>
          </p:nvPr>
        </p:nvGraphicFramePr>
        <p:xfrm>
          <a:off x="6096000" y="3930958"/>
          <a:ext cx="1778000" cy="182880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1290892033"/>
                    </a:ext>
                  </a:extLst>
                </a:gridCol>
                <a:gridCol w="812800">
                  <a:extLst>
                    <a:ext uri="{9D8B030D-6E8A-4147-A177-3AD203B41FA5}">
                      <a16:colId xmlns:a16="http://schemas.microsoft.com/office/drawing/2014/main" val="1288426485"/>
                    </a:ext>
                  </a:extLst>
                </a:gridCol>
              </a:tblGrid>
              <a:tr h="207072">
                <a:tc>
                  <a:txBody>
                    <a:bodyPr/>
                    <a:lstStyle/>
                    <a:p>
                      <a:r>
                        <a:rPr lang="it-IT" dirty="0"/>
                        <a:t>Q1</a:t>
                      </a:r>
                    </a:p>
                  </a:txBody>
                  <a:tcPr/>
                </a:tc>
                <a:tc>
                  <a:txBody>
                    <a:bodyPr/>
                    <a:lstStyle/>
                    <a:p>
                      <a:r>
                        <a:rPr lang="it-IT" dirty="0"/>
                        <a:t>24</a:t>
                      </a:r>
                    </a:p>
                  </a:txBody>
                  <a:tcPr/>
                </a:tc>
                <a:extLst>
                  <a:ext uri="{0D108BD9-81ED-4DB2-BD59-A6C34878D82A}">
                    <a16:rowId xmlns:a16="http://schemas.microsoft.com/office/drawing/2014/main" val="2084603880"/>
                  </a:ext>
                </a:extLst>
              </a:tr>
              <a:tr h="207072">
                <a:tc>
                  <a:txBody>
                    <a:bodyPr/>
                    <a:lstStyle/>
                    <a:p>
                      <a:r>
                        <a:rPr lang="it-IT" dirty="0" err="1"/>
                        <a:t>Median</a:t>
                      </a:r>
                      <a:endParaRPr lang="it-IT" dirty="0"/>
                    </a:p>
                  </a:txBody>
                  <a:tcPr/>
                </a:tc>
                <a:tc>
                  <a:txBody>
                    <a:bodyPr/>
                    <a:lstStyle/>
                    <a:p>
                      <a:r>
                        <a:rPr lang="it-IT" dirty="0"/>
                        <a:t>29</a:t>
                      </a:r>
                    </a:p>
                  </a:txBody>
                  <a:tcPr/>
                </a:tc>
                <a:extLst>
                  <a:ext uri="{0D108BD9-81ED-4DB2-BD59-A6C34878D82A}">
                    <a16:rowId xmlns:a16="http://schemas.microsoft.com/office/drawing/2014/main" val="4066024119"/>
                  </a:ext>
                </a:extLst>
              </a:tr>
              <a:tr h="207072">
                <a:tc>
                  <a:txBody>
                    <a:bodyPr/>
                    <a:lstStyle/>
                    <a:p>
                      <a:r>
                        <a:rPr lang="it-IT" dirty="0"/>
                        <a:t>Q3</a:t>
                      </a:r>
                    </a:p>
                  </a:txBody>
                  <a:tcPr/>
                </a:tc>
                <a:tc>
                  <a:txBody>
                    <a:bodyPr/>
                    <a:lstStyle/>
                    <a:p>
                      <a:r>
                        <a:rPr lang="it-IT" dirty="0"/>
                        <a:t>41</a:t>
                      </a:r>
                    </a:p>
                  </a:txBody>
                  <a:tcPr/>
                </a:tc>
                <a:extLst>
                  <a:ext uri="{0D108BD9-81ED-4DB2-BD59-A6C34878D82A}">
                    <a16:rowId xmlns:a16="http://schemas.microsoft.com/office/drawing/2014/main" val="3893314588"/>
                  </a:ext>
                </a:extLst>
              </a:tr>
              <a:tr h="207072">
                <a:tc>
                  <a:txBody>
                    <a:bodyPr/>
                    <a:lstStyle/>
                    <a:p>
                      <a:r>
                        <a:rPr lang="it-IT" dirty="0"/>
                        <a:t>Max</a:t>
                      </a:r>
                    </a:p>
                  </a:txBody>
                  <a:tcPr/>
                </a:tc>
                <a:tc>
                  <a:txBody>
                    <a:bodyPr/>
                    <a:lstStyle/>
                    <a:p>
                      <a:r>
                        <a:rPr lang="it-IT" dirty="0"/>
                        <a:t>81</a:t>
                      </a:r>
                    </a:p>
                  </a:txBody>
                  <a:tcPr/>
                </a:tc>
                <a:extLst>
                  <a:ext uri="{0D108BD9-81ED-4DB2-BD59-A6C34878D82A}">
                    <a16:rowId xmlns:a16="http://schemas.microsoft.com/office/drawing/2014/main" val="4056669416"/>
                  </a:ext>
                </a:extLst>
              </a:tr>
              <a:tr h="207072">
                <a:tc>
                  <a:txBody>
                    <a:bodyPr/>
                    <a:lstStyle/>
                    <a:p>
                      <a:r>
                        <a:rPr lang="it-IT" dirty="0"/>
                        <a:t>IQR</a:t>
                      </a:r>
                    </a:p>
                  </a:txBody>
                  <a:tcPr/>
                </a:tc>
                <a:tc>
                  <a:txBody>
                    <a:bodyPr/>
                    <a:lstStyle/>
                    <a:p>
                      <a:r>
                        <a:rPr lang="it-IT" dirty="0"/>
                        <a:t>17</a:t>
                      </a:r>
                    </a:p>
                  </a:txBody>
                  <a:tcPr/>
                </a:tc>
                <a:extLst>
                  <a:ext uri="{0D108BD9-81ED-4DB2-BD59-A6C34878D82A}">
                    <a16:rowId xmlns:a16="http://schemas.microsoft.com/office/drawing/2014/main" val="909966809"/>
                  </a:ext>
                </a:extLst>
              </a:tr>
            </a:tbl>
          </a:graphicData>
        </a:graphic>
      </p:graphicFrame>
      <p:sp>
        <p:nvSpPr>
          <p:cNvPr id="19" name="Rectangle 6">
            <a:extLst>
              <a:ext uri="{FF2B5EF4-FFF2-40B4-BE49-F238E27FC236}">
                <a16:creationId xmlns:a16="http://schemas.microsoft.com/office/drawing/2014/main" id="{BF3AFAF6-565E-3AC1-E5EC-7801B1180FFC}"/>
              </a:ext>
            </a:extLst>
          </p:cNvPr>
          <p:cNvSpPr>
            <a:spLocks noChangeArrowheads="1"/>
          </p:cNvSpPr>
          <p:nvPr/>
        </p:nvSpPr>
        <p:spPr bwMode="auto">
          <a:xfrm rot="10800000" flipV="1">
            <a:off x="6463377" y="2145714"/>
            <a:ext cx="55423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Most</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participants</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were</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between</a:t>
            </a:r>
            <a:r>
              <a:rPr kumimoji="0" lang="it-IT" altLang="it-IT" sz="1800" b="0" i="0" u="none" strike="noStrike" cap="none" normalizeH="0" baseline="0" dirty="0">
                <a:ln>
                  <a:noFill/>
                </a:ln>
                <a:solidFill>
                  <a:srgbClr val="000000"/>
                </a:solidFill>
                <a:effectLst/>
              </a:rPr>
              <a:t> 21 and 41 </a:t>
            </a:r>
            <a:r>
              <a:rPr kumimoji="0" lang="it-IT" altLang="it-IT" sz="1800" b="0" i="0" u="none" strike="noStrike" cap="none" normalizeH="0" baseline="0" dirty="0" err="1">
                <a:ln>
                  <a:noFill/>
                </a:ln>
                <a:solidFill>
                  <a:srgbClr val="000000"/>
                </a:solidFill>
                <a:effectLst/>
              </a:rPr>
              <a:t>years</a:t>
            </a:r>
            <a:r>
              <a:rPr kumimoji="0" lang="it-IT" altLang="it-IT" sz="1800" b="0" i="0" u="none" strike="noStrike" cap="none" normalizeH="0" baseline="0" dirty="0">
                <a:ln>
                  <a:noFill/>
                </a:ln>
                <a:solidFill>
                  <a:srgbClr val="000000"/>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Median</a:t>
            </a:r>
            <a:r>
              <a:rPr kumimoji="0" lang="it-IT" altLang="it-IT" sz="1800" b="0" i="0" u="none" strike="noStrike" cap="none" normalizeH="0" baseline="0" dirty="0">
                <a:ln>
                  <a:noFill/>
                </a:ln>
                <a:solidFill>
                  <a:srgbClr val="000000"/>
                </a:solidFill>
                <a:effectLst/>
              </a:rPr>
              <a:t> age </a:t>
            </a:r>
            <a:r>
              <a:rPr kumimoji="0" lang="it-IT" altLang="it-IT" sz="1800" b="0" i="0" u="none" strike="noStrike" cap="none" normalizeH="0" baseline="0" dirty="0" err="1">
                <a:ln>
                  <a:noFill/>
                </a:ln>
                <a:solidFill>
                  <a:srgbClr val="000000"/>
                </a:solidFill>
                <a:effectLst/>
              </a:rPr>
              <a:t>was</a:t>
            </a:r>
            <a:r>
              <a:rPr kumimoji="0" lang="it-IT" altLang="it-IT" sz="1800" b="0" i="0" u="none" strike="noStrike" cap="none" normalizeH="0" baseline="0" dirty="0">
                <a:ln>
                  <a:noFill/>
                </a:ln>
                <a:solidFill>
                  <a:srgbClr val="000000"/>
                </a:solidFill>
                <a:effectLst/>
              </a:rPr>
              <a:t> 29 </a:t>
            </a:r>
            <a:r>
              <a:rPr kumimoji="0" lang="it-IT" altLang="it-IT" sz="1800" b="0" i="0" u="none" strike="noStrike" cap="none" normalizeH="0" baseline="0" dirty="0" err="1">
                <a:ln>
                  <a:noFill/>
                </a:ln>
                <a:solidFill>
                  <a:srgbClr val="000000"/>
                </a:solidFill>
                <a:effectLst/>
              </a:rPr>
              <a:t>years</a:t>
            </a:r>
            <a:r>
              <a:rPr kumimoji="0" lang="it-IT" altLang="it-IT" sz="1800" b="0" i="0" u="none" strike="noStrike" cap="none" normalizeH="0" baseline="0" dirty="0">
                <a:ln>
                  <a:noFill/>
                </a:ln>
                <a:solidFill>
                  <a:srgbClr val="000000"/>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rPr>
              <a:t>• Age </a:t>
            </a:r>
            <a:r>
              <a:rPr kumimoji="0" lang="it-IT" altLang="it-IT" sz="1800" b="0" i="0" u="none" strike="noStrike" cap="none" normalizeH="0" baseline="0" dirty="0" err="1">
                <a:ln>
                  <a:noFill/>
                </a:ln>
                <a:solidFill>
                  <a:srgbClr val="000000"/>
                </a:solidFill>
                <a:effectLst/>
              </a:rPr>
              <a:t>distribution</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was</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positively</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skewed</a:t>
            </a:r>
            <a:r>
              <a:rPr kumimoji="0" lang="it-IT" altLang="it-IT" sz="1800" b="0" i="0" u="none" strike="noStrike" cap="none" normalizeH="0" baseline="0" dirty="0">
                <a:ln>
                  <a:noFill/>
                </a:ln>
                <a:solidFill>
                  <a:srgbClr val="000000"/>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Several</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older</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participants</a:t>
            </a:r>
            <a:r>
              <a:rPr kumimoji="0" lang="it-IT" altLang="it-IT" sz="1800" b="0" i="0" u="none" strike="noStrike" cap="none" normalizeH="0" baseline="0" dirty="0">
                <a:ln>
                  <a:noFill/>
                </a:ln>
                <a:solidFill>
                  <a:srgbClr val="000000"/>
                </a:solidFill>
                <a:effectLst/>
              </a:rPr>
              <a:t> (&gt;65 </a:t>
            </a:r>
            <a:r>
              <a:rPr kumimoji="0" lang="it-IT" altLang="it-IT" sz="1800" b="0" i="0" u="none" strike="noStrike" cap="none" normalizeH="0" baseline="0" dirty="0" err="1">
                <a:ln>
                  <a:noFill/>
                </a:ln>
                <a:solidFill>
                  <a:srgbClr val="000000"/>
                </a:solidFill>
                <a:effectLst/>
              </a:rPr>
              <a:t>years</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were</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identified</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as</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outliers</a:t>
            </a:r>
            <a:r>
              <a:rPr kumimoji="0" lang="it-IT" altLang="it-IT" sz="1800" b="0" i="0" u="none" strike="noStrike" cap="none" normalizeH="0" baseline="0" dirty="0">
                <a:ln>
                  <a:noFill/>
                </a:ln>
                <a:solidFill>
                  <a:srgbClr val="000000"/>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6698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dissolve">
                                      <p:cBhvr>
                                        <p:cTn id="1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8541F05-0792-449B-44F4-67A5F4971A2E}"/>
              </a:ext>
            </a:extLst>
          </p:cNvPr>
          <p:cNvSpPr>
            <a:spLocks noGrp="1"/>
          </p:cNvSpPr>
          <p:nvPr>
            <p:ph type="title"/>
          </p:nvPr>
        </p:nvSpPr>
        <p:spPr/>
        <p:txBody>
          <a:bodyPr/>
          <a:lstStyle/>
          <a:p>
            <a:r>
              <a:rPr lang="it-IT" dirty="0"/>
              <a:t>BMI and </a:t>
            </a:r>
            <a:r>
              <a:rPr lang="it-IT" dirty="0" err="1"/>
              <a:t>Glucose</a:t>
            </a:r>
            <a:r>
              <a:rPr lang="it-IT" dirty="0"/>
              <a:t> Distribution</a:t>
            </a:r>
          </a:p>
        </p:txBody>
      </p:sp>
      <p:pic>
        <p:nvPicPr>
          <p:cNvPr id="5" name="Immagine 4" descr="Immagine che contiene logo, simbolo, Carattere, Elementi grafici&#10;&#10;Il contenuto generato dall'IA potrebbe non essere corretto.">
            <a:extLst>
              <a:ext uri="{FF2B5EF4-FFF2-40B4-BE49-F238E27FC236}">
                <a16:creationId xmlns:a16="http://schemas.microsoft.com/office/drawing/2014/main" id="{9D2A30BE-1A68-FDF8-D517-20EB98A6AD3A}"/>
              </a:ext>
            </a:extLst>
          </p:cNvPr>
          <p:cNvPicPr>
            <a:picLocks noChangeAspect="1"/>
          </p:cNvPicPr>
          <p:nvPr/>
        </p:nvPicPr>
        <p:blipFill>
          <a:blip r:embed="rId3"/>
          <a:stretch>
            <a:fillRect/>
          </a:stretch>
        </p:blipFill>
        <p:spPr>
          <a:xfrm>
            <a:off x="11139040" y="6170787"/>
            <a:ext cx="413197" cy="386366"/>
          </a:xfrm>
          <a:prstGeom prst="rect">
            <a:avLst/>
          </a:prstGeom>
        </p:spPr>
      </p:pic>
      <p:sp>
        <p:nvSpPr>
          <p:cNvPr id="10" name="Rectangle 1">
            <a:extLst>
              <a:ext uri="{FF2B5EF4-FFF2-40B4-BE49-F238E27FC236}">
                <a16:creationId xmlns:a16="http://schemas.microsoft.com/office/drawing/2014/main" id="{F2AB055C-9551-7021-C5D8-4BE8D1020831}"/>
              </a:ext>
            </a:extLst>
          </p:cNvPr>
          <p:cNvSpPr>
            <a:spLocks noChangeArrowheads="1"/>
          </p:cNvSpPr>
          <p:nvPr/>
        </p:nvSpPr>
        <p:spPr bwMode="auto">
          <a:xfrm rot="10800000" flipV="1">
            <a:off x="7981122" y="5780782"/>
            <a:ext cx="315791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err="1">
                <a:ln>
                  <a:noFill/>
                </a:ln>
                <a:solidFill>
                  <a:schemeClr val="bg2">
                    <a:lumMod val="50000"/>
                  </a:schemeClr>
                </a:solidFill>
                <a:effectLst/>
                <a:latin typeface="+mn-lt"/>
              </a:rPr>
              <a:t>ggplot</a:t>
            </a:r>
            <a:r>
              <a:rPr kumimoji="0" lang="it-IT" altLang="it-IT" sz="1400" b="0" i="1" u="none" strike="noStrike" cap="none" normalizeH="0" baseline="0" dirty="0">
                <a:ln>
                  <a:noFill/>
                </a:ln>
                <a:solidFill>
                  <a:schemeClr val="bg2">
                    <a:lumMod val="50000"/>
                  </a:schemeClr>
                </a:solidFill>
                <a:effectLst/>
                <a:latin typeface="+mn-lt"/>
              </a:rPr>
              <a:t>(</a:t>
            </a:r>
            <a:r>
              <a:rPr kumimoji="0" lang="it-IT" altLang="it-IT" sz="1400" b="0" i="1" u="none" strike="noStrike" cap="none" normalizeH="0" baseline="0" dirty="0" err="1">
                <a:ln>
                  <a:noFill/>
                </a:ln>
                <a:solidFill>
                  <a:schemeClr val="bg2">
                    <a:lumMod val="50000"/>
                  </a:schemeClr>
                </a:solidFill>
                <a:effectLst/>
                <a:latin typeface="+mn-lt"/>
              </a:rPr>
              <a:t>diabetes</a:t>
            </a:r>
            <a:r>
              <a:rPr kumimoji="0" lang="it-IT" altLang="it-IT" sz="1400" b="0" i="1" u="none" strike="noStrike" cap="none" normalizeH="0" baseline="0" dirty="0">
                <a:ln>
                  <a:noFill/>
                </a:ln>
                <a:solidFill>
                  <a:schemeClr val="bg2">
                    <a:lumMod val="50000"/>
                  </a:schemeClr>
                </a:solidFill>
                <a:effectLst/>
                <a:latin typeface="+mn-lt"/>
              </a:rPr>
              <a:t>, </a:t>
            </a:r>
            <a:r>
              <a:rPr kumimoji="0" lang="it-IT" altLang="it-IT" sz="1400" b="0" i="1" u="none" strike="noStrike" cap="none" normalizeH="0" baseline="0" dirty="0" err="1">
                <a:ln>
                  <a:noFill/>
                </a:ln>
                <a:solidFill>
                  <a:schemeClr val="bg2">
                    <a:lumMod val="50000"/>
                  </a:schemeClr>
                </a:solidFill>
                <a:effectLst/>
                <a:latin typeface="+mn-lt"/>
              </a:rPr>
              <a:t>aes</a:t>
            </a:r>
            <a:r>
              <a:rPr kumimoji="0" lang="it-IT" altLang="it-IT" sz="1400" b="0" i="1" u="none" strike="noStrike" cap="none" normalizeH="0" baseline="0" dirty="0">
                <a:ln>
                  <a:noFill/>
                </a:ln>
                <a:solidFill>
                  <a:schemeClr val="bg2">
                    <a:lumMod val="50000"/>
                  </a:schemeClr>
                </a:solidFill>
                <a:effectLst/>
                <a:latin typeface="+mn-lt"/>
              </a:rPr>
              <a:t>(x = BMI)) + </a:t>
            </a:r>
            <a:r>
              <a:rPr kumimoji="0" lang="it-IT" altLang="it-IT" sz="1400" b="0" i="1" u="none" strike="noStrike" cap="none" normalizeH="0" baseline="0" dirty="0" err="1">
                <a:ln>
                  <a:noFill/>
                </a:ln>
                <a:solidFill>
                  <a:schemeClr val="bg2">
                    <a:lumMod val="50000"/>
                  </a:schemeClr>
                </a:solidFill>
                <a:effectLst/>
                <a:latin typeface="+mn-lt"/>
              </a:rPr>
              <a:t>geom_histogram</a:t>
            </a:r>
            <a:r>
              <a:rPr kumimoji="0" lang="it-IT" altLang="it-IT" sz="1400" b="0" i="1" u="none" strike="noStrike" cap="none" normalizeH="0" baseline="0" dirty="0">
                <a:ln>
                  <a:noFill/>
                </a:ln>
                <a:solidFill>
                  <a:schemeClr val="bg2">
                    <a:lumMod val="50000"/>
                  </a:schemeClr>
                </a:solidFill>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err="1">
                <a:ln>
                  <a:noFill/>
                </a:ln>
                <a:solidFill>
                  <a:schemeClr val="bg2">
                    <a:lumMod val="50000"/>
                  </a:schemeClr>
                </a:solidFill>
                <a:effectLst/>
                <a:latin typeface="+mn-lt"/>
              </a:rPr>
              <a:t>ggplot</a:t>
            </a:r>
            <a:r>
              <a:rPr kumimoji="0" lang="it-IT" altLang="it-IT" sz="1400" b="0" i="1" u="none" strike="noStrike" cap="none" normalizeH="0" baseline="0" dirty="0">
                <a:ln>
                  <a:noFill/>
                </a:ln>
                <a:solidFill>
                  <a:schemeClr val="bg2">
                    <a:lumMod val="50000"/>
                  </a:schemeClr>
                </a:solidFill>
                <a:effectLst/>
                <a:latin typeface="+mn-lt"/>
              </a:rPr>
              <a:t>(</a:t>
            </a:r>
            <a:r>
              <a:rPr kumimoji="0" lang="it-IT" altLang="it-IT" sz="1400" b="0" i="1" u="none" strike="noStrike" cap="none" normalizeH="0" baseline="0" dirty="0" err="1">
                <a:ln>
                  <a:noFill/>
                </a:ln>
                <a:solidFill>
                  <a:schemeClr val="bg2">
                    <a:lumMod val="50000"/>
                  </a:schemeClr>
                </a:solidFill>
                <a:effectLst/>
                <a:latin typeface="+mn-lt"/>
              </a:rPr>
              <a:t>diabetes</a:t>
            </a:r>
            <a:r>
              <a:rPr kumimoji="0" lang="it-IT" altLang="it-IT" sz="1400" b="0" i="1" u="none" strike="noStrike" cap="none" normalizeH="0" baseline="0" dirty="0">
                <a:ln>
                  <a:noFill/>
                </a:ln>
                <a:solidFill>
                  <a:schemeClr val="bg2">
                    <a:lumMod val="50000"/>
                  </a:schemeClr>
                </a:solidFill>
                <a:effectLst/>
                <a:latin typeface="+mn-lt"/>
              </a:rPr>
              <a:t>, </a:t>
            </a:r>
            <a:r>
              <a:rPr kumimoji="0" lang="it-IT" altLang="it-IT" sz="1400" b="0" i="1" u="none" strike="noStrike" cap="none" normalizeH="0" baseline="0" dirty="0" err="1">
                <a:ln>
                  <a:noFill/>
                </a:ln>
                <a:solidFill>
                  <a:schemeClr val="bg2">
                    <a:lumMod val="50000"/>
                  </a:schemeClr>
                </a:solidFill>
                <a:effectLst/>
                <a:latin typeface="+mn-lt"/>
              </a:rPr>
              <a:t>aes</a:t>
            </a:r>
            <a:r>
              <a:rPr kumimoji="0" lang="it-IT" altLang="it-IT" sz="1400" b="0" i="1" u="none" strike="noStrike" cap="none" normalizeH="0" baseline="0" dirty="0">
                <a:ln>
                  <a:noFill/>
                </a:ln>
                <a:solidFill>
                  <a:schemeClr val="bg2">
                    <a:lumMod val="50000"/>
                  </a:schemeClr>
                </a:solidFill>
                <a:effectLst/>
                <a:latin typeface="+mn-lt"/>
              </a:rPr>
              <a:t>(x = </a:t>
            </a:r>
            <a:r>
              <a:rPr kumimoji="0" lang="it-IT" altLang="it-IT" sz="1400" b="0" i="1" u="none" strike="noStrike" cap="none" normalizeH="0" baseline="0" dirty="0" err="1">
                <a:ln>
                  <a:noFill/>
                </a:ln>
                <a:solidFill>
                  <a:schemeClr val="bg2">
                    <a:lumMod val="50000"/>
                  </a:schemeClr>
                </a:solidFill>
                <a:effectLst/>
                <a:latin typeface="+mn-lt"/>
              </a:rPr>
              <a:t>Glucose</a:t>
            </a:r>
            <a:r>
              <a:rPr kumimoji="0" lang="it-IT" altLang="it-IT" sz="1400" b="0" i="1" u="none" strike="noStrike" cap="none" normalizeH="0" baseline="0" dirty="0">
                <a:ln>
                  <a:noFill/>
                </a:ln>
                <a:solidFill>
                  <a:schemeClr val="bg2">
                    <a:lumMod val="50000"/>
                  </a:schemeClr>
                </a:solidFill>
                <a:effectLst/>
                <a:latin typeface="+mn-lt"/>
              </a:rPr>
              <a:t>)) + </a:t>
            </a:r>
            <a:r>
              <a:rPr kumimoji="0" lang="it-IT" altLang="it-IT" sz="1400" b="0" i="1" u="none" strike="noStrike" cap="none" normalizeH="0" baseline="0" dirty="0" err="1">
                <a:ln>
                  <a:noFill/>
                </a:ln>
                <a:solidFill>
                  <a:schemeClr val="bg2">
                    <a:lumMod val="50000"/>
                  </a:schemeClr>
                </a:solidFill>
                <a:effectLst/>
                <a:latin typeface="+mn-lt"/>
              </a:rPr>
              <a:t>geom_histogram</a:t>
            </a:r>
            <a:r>
              <a:rPr kumimoji="0" lang="it-IT" altLang="it-IT" sz="1400" b="0" i="1" u="none" strike="noStrike" cap="none" normalizeH="0" baseline="0" dirty="0">
                <a:ln>
                  <a:noFill/>
                </a:ln>
                <a:solidFill>
                  <a:schemeClr val="bg2">
                    <a:lumMod val="50000"/>
                  </a:schemeClr>
                </a:solidFill>
                <a:effectLst/>
                <a:latin typeface="+mn-lt"/>
              </a:rPr>
              <a:t>()</a:t>
            </a:r>
          </a:p>
        </p:txBody>
      </p:sp>
      <p:sp>
        <p:nvSpPr>
          <p:cNvPr id="11" name="Rectangle 2">
            <a:extLst>
              <a:ext uri="{FF2B5EF4-FFF2-40B4-BE49-F238E27FC236}">
                <a16:creationId xmlns:a16="http://schemas.microsoft.com/office/drawing/2014/main" id="{1FA1A7D5-F04B-37D9-B73E-1357E0980821}"/>
              </a:ext>
            </a:extLst>
          </p:cNvPr>
          <p:cNvSpPr>
            <a:spLocks noChangeArrowheads="1"/>
          </p:cNvSpPr>
          <p:nvPr/>
        </p:nvSpPr>
        <p:spPr bwMode="auto">
          <a:xfrm rot="10800000" flipV="1">
            <a:off x="7633791" y="2468881"/>
            <a:ext cx="419652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Key </a:t>
            </a:r>
            <a:r>
              <a:rPr kumimoji="0" lang="it-IT" altLang="it-IT" sz="18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Findings</a:t>
            </a:r>
            <a:endParaRPr kumimoji="0" lang="it-IT" altLang="it-IT" sz="18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BMI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is</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concentrated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around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30–35 kg/m².</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Glucose</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shows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greater</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variability</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than</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BMI. </a:t>
            </a: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Both</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variables</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exhibit</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right-skewed</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distributions</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endParaRPr kumimoji="0" lang="it-IT" altLang="it-IT"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15" name="Segnaposto contenuto 14" descr="Immagine che contiene diagramma, linea, testo, Diagramma&#10;&#10;Il contenuto generato dall'IA potrebbe non essere corretto.">
            <a:extLst>
              <a:ext uri="{FF2B5EF4-FFF2-40B4-BE49-F238E27FC236}">
                <a16:creationId xmlns:a16="http://schemas.microsoft.com/office/drawing/2014/main" id="{000EE649-2301-D459-6F85-FCE79124DC05}"/>
              </a:ext>
            </a:extLst>
          </p:cNvPr>
          <p:cNvPicPr>
            <a:picLocks noGrp="1" noChangeAspect="1"/>
          </p:cNvPicPr>
          <p:nvPr>
            <p:ph idx="1"/>
          </p:nvPr>
        </p:nvPicPr>
        <p:blipFill>
          <a:blip r:embed="rId4"/>
          <a:stretch>
            <a:fillRect/>
          </a:stretch>
        </p:blipFill>
        <p:spPr>
          <a:xfrm>
            <a:off x="640079" y="2468881"/>
            <a:ext cx="2903221" cy="3558275"/>
          </a:xfrm>
        </p:spPr>
      </p:pic>
      <p:pic>
        <p:nvPicPr>
          <p:cNvPr id="17" name="Immagine 16" descr="Immagine che contiene testo, schermata, diagramma, Diagramma&#10;&#10;Il contenuto generato dall'IA potrebbe non essere corretto.">
            <a:extLst>
              <a:ext uri="{FF2B5EF4-FFF2-40B4-BE49-F238E27FC236}">
                <a16:creationId xmlns:a16="http://schemas.microsoft.com/office/drawing/2014/main" id="{67057957-3709-1449-6091-9FA1B5FC6704}"/>
              </a:ext>
            </a:extLst>
          </p:cNvPr>
          <p:cNvPicPr>
            <a:picLocks noChangeAspect="1"/>
          </p:cNvPicPr>
          <p:nvPr/>
        </p:nvPicPr>
        <p:blipFill>
          <a:blip r:embed="rId5"/>
          <a:stretch>
            <a:fillRect/>
          </a:stretch>
        </p:blipFill>
        <p:spPr>
          <a:xfrm>
            <a:off x="4141909" y="2468881"/>
            <a:ext cx="3090294" cy="3600000"/>
          </a:xfrm>
          <a:prstGeom prst="rect">
            <a:avLst/>
          </a:prstGeom>
        </p:spPr>
      </p:pic>
    </p:spTree>
    <p:extLst>
      <p:ext uri="{BB962C8B-B14F-4D97-AF65-F5344CB8AC3E}">
        <p14:creationId xmlns:p14="http://schemas.microsoft.com/office/powerpoint/2010/main" val="2928238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DC51157-33F7-4B6A-D47A-81C3542F67E3}"/>
              </a:ext>
            </a:extLst>
          </p:cNvPr>
          <p:cNvSpPr>
            <a:spLocks noGrp="1"/>
          </p:cNvSpPr>
          <p:nvPr>
            <p:ph type="title"/>
          </p:nvPr>
        </p:nvSpPr>
        <p:spPr>
          <a:xfrm>
            <a:off x="639763" y="985680"/>
            <a:ext cx="10890929" cy="1097280"/>
          </a:xfrm>
        </p:spPr>
        <p:txBody>
          <a:bodyPr/>
          <a:lstStyle/>
          <a:p>
            <a:r>
              <a:rPr lang="it-IT" dirty="0"/>
              <a:t>Blood pressure and </a:t>
            </a:r>
            <a:r>
              <a:rPr lang="it-IT" dirty="0" err="1"/>
              <a:t>pregnancies</a:t>
            </a:r>
            <a:endParaRPr lang="it-IT" dirty="0"/>
          </a:p>
        </p:txBody>
      </p:sp>
      <p:graphicFrame>
        <p:nvGraphicFramePr>
          <p:cNvPr id="6" name="Segnaposto contenuto 5">
            <a:extLst>
              <a:ext uri="{FF2B5EF4-FFF2-40B4-BE49-F238E27FC236}">
                <a16:creationId xmlns:a16="http://schemas.microsoft.com/office/drawing/2014/main" id="{11381107-A612-3DDA-854E-29983C29C11D}"/>
              </a:ext>
            </a:extLst>
          </p:cNvPr>
          <p:cNvGraphicFramePr>
            <a:graphicFrameLocks noGrp="1"/>
          </p:cNvGraphicFramePr>
          <p:nvPr>
            <p:ph idx="1"/>
            <p:extLst>
              <p:ext uri="{D42A27DB-BD31-4B8C-83A1-F6EECF244321}">
                <p14:modId xmlns:p14="http://schemas.microsoft.com/office/powerpoint/2010/main" val="2050027453"/>
              </p:ext>
            </p:extLst>
          </p:nvPr>
        </p:nvGraphicFramePr>
        <p:xfrm>
          <a:off x="639763" y="2633663"/>
          <a:ext cx="5303837" cy="3565525"/>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magine 3" descr="Immagine che contiene logo, simbolo, Carattere, Elementi grafici&#10;&#10;Il contenuto generato dall'IA potrebbe non essere corretto.">
            <a:extLst>
              <a:ext uri="{FF2B5EF4-FFF2-40B4-BE49-F238E27FC236}">
                <a16:creationId xmlns:a16="http://schemas.microsoft.com/office/drawing/2014/main" id="{1F7B75CC-89FF-3A5A-0C2A-FF2AC5D2E670}"/>
              </a:ext>
            </a:extLst>
          </p:cNvPr>
          <p:cNvPicPr>
            <a:picLocks noChangeAspect="1"/>
          </p:cNvPicPr>
          <p:nvPr/>
        </p:nvPicPr>
        <p:blipFill>
          <a:blip r:embed="rId4"/>
          <a:stretch>
            <a:fillRect/>
          </a:stretch>
        </p:blipFill>
        <p:spPr>
          <a:xfrm>
            <a:off x="10984605" y="5813266"/>
            <a:ext cx="413197" cy="386366"/>
          </a:xfrm>
          <a:prstGeom prst="rect">
            <a:avLst/>
          </a:prstGeom>
        </p:spPr>
      </p:pic>
      <p:sp>
        <p:nvSpPr>
          <p:cNvPr id="3" name="Rectangle 1">
            <a:extLst>
              <a:ext uri="{FF2B5EF4-FFF2-40B4-BE49-F238E27FC236}">
                <a16:creationId xmlns:a16="http://schemas.microsoft.com/office/drawing/2014/main" id="{6D75B83E-6B06-E508-4E2F-20B17B432F36}"/>
              </a:ext>
            </a:extLst>
          </p:cNvPr>
          <p:cNvSpPr>
            <a:spLocks noChangeArrowheads="1"/>
          </p:cNvSpPr>
          <p:nvPr/>
        </p:nvSpPr>
        <p:spPr bwMode="auto">
          <a:xfrm>
            <a:off x="7543801" y="5110802"/>
            <a:ext cx="3440804"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defTabSz="914400"/>
            <a:r>
              <a:rPr lang="it-IT" altLang="it-IT" sz="1400" i="1" dirty="0" err="1">
                <a:solidFill>
                  <a:schemeClr val="bg2">
                    <a:lumMod val="50000"/>
                  </a:schemeClr>
                </a:solidFill>
                <a:latin typeface="+mn-lt"/>
              </a:rPr>
              <a:t>ggplot</a:t>
            </a:r>
            <a:r>
              <a:rPr lang="it-IT" altLang="it-IT" sz="1400" i="1" dirty="0">
                <a:solidFill>
                  <a:schemeClr val="bg2">
                    <a:lumMod val="50000"/>
                  </a:schemeClr>
                </a:solidFill>
                <a:latin typeface="+mn-lt"/>
              </a:rPr>
              <a:t>(</a:t>
            </a:r>
            <a:r>
              <a:rPr lang="it-IT" altLang="it-IT" sz="1400" i="1" dirty="0" err="1">
                <a:solidFill>
                  <a:schemeClr val="bg2">
                    <a:lumMod val="50000"/>
                  </a:schemeClr>
                </a:solidFill>
                <a:latin typeface="+mn-lt"/>
              </a:rPr>
              <a:t>diabetes</a:t>
            </a:r>
            <a:r>
              <a:rPr lang="it-IT" altLang="it-IT" sz="1400" i="1" dirty="0">
                <a:solidFill>
                  <a:schemeClr val="bg2">
                    <a:lumMod val="50000"/>
                  </a:schemeClr>
                </a:solidFill>
                <a:latin typeface="+mn-lt"/>
              </a:rPr>
              <a:t>, </a:t>
            </a:r>
            <a:r>
              <a:rPr lang="it-IT" altLang="it-IT" sz="1400" i="1" dirty="0" err="1">
                <a:solidFill>
                  <a:schemeClr val="bg2">
                    <a:lumMod val="50000"/>
                  </a:schemeClr>
                </a:solidFill>
                <a:latin typeface="+mn-lt"/>
              </a:rPr>
              <a:t>aes</a:t>
            </a:r>
            <a:r>
              <a:rPr lang="it-IT" altLang="it-IT" sz="1400" i="1" dirty="0">
                <a:solidFill>
                  <a:schemeClr val="bg2">
                    <a:lumMod val="50000"/>
                  </a:schemeClr>
                </a:solidFill>
                <a:latin typeface="+mn-lt"/>
              </a:rPr>
              <a:t>(y = </a:t>
            </a:r>
            <a:r>
              <a:rPr lang="it-IT" altLang="it-IT" sz="1400" i="1" dirty="0" err="1">
                <a:solidFill>
                  <a:schemeClr val="bg2">
                    <a:lumMod val="50000"/>
                  </a:schemeClr>
                </a:solidFill>
                <a:latin typeface="+mn-lt"/>
              </a:rPr>
              <a:t>Pregnancies</a:t>
            </a:r>
            <a:r>
              <a:rPr lang="it-IT" altLang="it-IT" sz="1400" i="1" dirty="0">
                <a:solidFill>
                  <a:schemeClr val="bg2">
                    <a:lumMod val="50000"/>
                  </a:schemeClr>
                </a:solidFill>
                <a:latin typeface="+mn-lt"/>
              </a:rPr>
              <a:t>)) +</a:t>
            </a:r>
          </a:p>
          <a:p>
            <a:pPr lvl="0" defTabSz="914400"/>
            <a:r>
              <a:rPr lang="it-IT" altLang="it-IT" sz="1400" i="1" dirty="0">
                <a:solidFill>
                  <a:schemeClr val="bg2">
                    <a:lumMod val="50000"/>
                  </a:schemeClr>
                </a:solidFill>
                <a:latin typeface="+mn-lt"/>
              </a:rPr>
              <a:t>  </a:t>
            </a:r>
            <a:r>
              <a:rPr lang="it-IT" altLang="it-IT" sz="1400" i="1" dirty="0" err="1">
                <a:solidFill>
                  <a:schemeClr val="bg2">
                    <a:lumMod val="50000"/>
                  </a:schemeClr>
                </a:solidFill>
                <a:latin typeface="+mn-lt"/>
              </a:rPr>
              <a:t>geom_boxplot</a:t>
            </a:r>
            <a:r>
              <a:rPr lang="it-IT" altLang="it-IT" sz="1400" i="1" dirty="0">
                <a:solidFill>
                  <a:schemeClr val="bg2">
                    <a:lumMod val="50000"/>
                  </a:schemeClr>
                </a:solidFill>
                <a:latin typeface="+mn-lt"/>
              </a:rPr>
              <a:t>(</a:t>
            </a:r>
            <a:r>
              <a:rPr lang="it-IT" altLang="it-IT" sz="1400" i="1" dirty="0" err="1">
                <a:solidFill>
                  <a:schemeClr val="bg2">
                    <a:lumMod val="50000"/>
                  </a:schemeClr>
                </a:solidFill>
                <a:latin typeface="+mn-lt"/>
              </a:rPr>
              <a:t>fill</a:t>
            </a:r>
            <a:r>
              <a:rPr lang="it-IT" altLang="it-IT" sz="1400" i="1" dirty="0">
                <a:solidFill>
                  <a:schemeClr val="bg2">
                    <a:lumMod val="50000"/>
                  </a:schemeClr>
                </a:solidFill>
                <a:latin typeface="+mn-lt"/>
              </a:rPr>
              <a:t> = "</a:t>
            </a:r>
            <a:r>
              <a:rPr lang="it-IT" altLang="it-IT" sz="1400" i="1" dirty="0" err="1">
                <a:solidFill>
                  <a:schemeClr val="bg2">
                    <a:lumMod val="50000"/>
                  </a:schemeClr>
                </a:solidFill>
                <a:latin typeface="+mn-lt"/>
              </a:rPr>
              <a:t>steelblue</a:t>
            </a:r>
            <a:r>
              <a:rPr lang="it-IT" altLang="it-IT" sz="1400" i="1" dirty="0">
                <a:solidFill>
                  <a:schemeClr val="bg2">
                    <a:lumMod val="50000"/>
                  </a:schemeClr>
                </a:solidFill>
                <a:latin typeface="+mn-lt"/>
              </a:rPr>
              <a:t>") +</a:t>
            </a:r>
          </a:p>
          <a:p>
            <a:pPr lvl="0" defTabSz="914400"/>
            <a:r>
              <a:rPr lang="it-IT" altLang="it-IT" sz="1400" i="1" dirty="0">
                <a:solidFill>
                  <a:schemeClr val="bg2">
                    <a:lumMod val="50000"/>
                  </a:schemeClr>
                </a:solidFill>
                <a:latin typeface="+mn-lt"/>
              </a:rPr>
              <a:t>  labs(</a:t>
            </a:r>
            <a:r>
              <a:rPr lang="it-IT" altLang="it-IT" sz="1400" i="1" dirty="0" err="1">
                <a:solidFill>
                  <a:schemeClr val="bg2">
                    <a:lumMod val="50000"/>
                  </a:schemeClr>
                </a:solidFill>
                <a:latin typeface="+mn-lt"/>
              </a:rPr>
              <a:t>title</a:t>
            </a:r>
            <a:r>
              <a:rPr lang="it-IT" altLang="it-IT" sz="1400" i="1" dirty="0">
                <a:solidFill>
                  <a:schemeClr val="bg2">
                    <a:lumMod val="50000"/>
                  </a:schemeClr>
                </a:solidFill>
                <a:latin typeface="+mn-lt"/>
              </a:rPr>
              <a:t> = "</a:t>
            </a:r>
            <a:r>
              <a:rPr lang="it-IT" altLang="it-IT" sz="1400" i="1" dirty="0" err="1">
                <a:solidFill>
                  <a:schemeClr val="bg2">
                    <a:lumMod val="50000"/>
                  </a:schemeClr>
                </a:solidFill>
                <a:latin typeface="+mn-lt"/>
              </a:rPr>
              <a:t>Pregnancies</a:t>
            </a:r>
            <a:r>
              <a:rPr lang="it-IT" altLang="it-IT" sz="1400" i="1" dirty="0">
                <a:solidFill>
                  <a:schemeClr val="bg2">
                    <a:lumMod val="50000"/>
                  </a:schemeClr>
                </a:solidFill>
                <a:latin typeface="+mn-lt"/>
              </a:rPr>
              <a:t> </a:t>
            </a:r>
            <a:r>
              <a:rPr lang="it-IT" altLang="it-IT" sz="1400" i="1" dirty="0" err="1">
                <a:solidFill>
                  <a:schemeClr val="bg2">
                    <a:lumMod val="50000"/>
                  </a:schemeClr>
                </a:solidFill>
                <a:latin typeface="+mn-lt"/>
              </a:rPr>
              <a:t>Boxplot</a:t>
            </a:r>
            <a:r>
              <a:rPr lang="it-IT" altLang="it-IT" sz="1400" i="1" dirty="0">
                <a:solidFill>
                  <a:schemeClr val="bg2">
                    <a:lumMod val="50000"/>
                  </a:schemeClr>
                </a:solidFill>
                <a:latin typeface="+mn-lt"/>
              </a:rPr>
              <a:t>")</a:t>
            </a:r>
          </a:p>
          <a:p>
            <a:pPr lvl="0" defTabSz="914400"/>
            <a:endParaRPr lang="it-IT" altLang="it-IT" sz="1400" i="1" dirty="0">
              <a:solidFill>
                <a:schemeClr val="bg2">
                  <a:lumMod val="50000"/>
                </a:schemeClr>
              </a:solidFill>
              <a:latin typeface="+mn-lt"/>
            </a:endParaRPr>
          </a:p>
          <a:p>
            <a:pPr lvl="0" defTabSz="914400"/>
            <a:r>
              <a:rPr lang="it-IT" altLang="it-IT" sz="1400" i="1" dirty="0" err="1">
                <a:solidFill>
                  <a:schemeClr val="bg2">
                    <a:lumMod val="50000"/>
                  </a:schemeClr>
                </a:solidFill>
                <a:latin typeface="+mn-lt"/>
              </a:rPr>
              <a:t>ggplot</a:t>
            </a:r>
            <a:r>
              <a:rPr lang="it-IT" altLang="it-IT" sz="1400" i="1" dirty="0">
                <a:solidFill>
                  <a:schemeClr val="bg2">
                    <a:lumMod val="50000"/>
                  </a:schemeClr>
                </a:solidFill>
                <a:latin typeface="+mn-lt"/>
              </a:rPr>
              <a:t>(</a:t>
            </a:r>
            <a:r>
              <a:rPr lang="it-IT" altLang="it-IT" sz="1400" i="1" dirty="0" err="1">
                <a:solidFill>
                  <a:schemeClr val="bg2">
                    <a:lumMod val="50000"/>
                  </a:schemeClr>
                </a:solidFill>
                <a:latin typeface="+mn-lt"/>
              </a:rPr>
              <a:t>diabetes</a:t>
            </a:r>
            <a:r>
              <a:rPr lang="it-IT" altLang="it-IT" sz="1400" i="1" dirty="0">
                <a:solidFill>
                  <a:schemeClr val="bg2">
                    <a:lumMod val="50000"/>
                  </a:schemeClr>
                </a:solidFill>
                <a:latin typeface="+mn-lt"/>
              </a:rPr>
              <a:t>, </a:t>
            </a:r>
            <a:r>
              <a:rPr lang="it-IT" altLang="it-IT" sz="1400" i="1" dirty="0" err="1">
                <a:solidFill>
                  <a:schemeClr val="bg2">
                    <a:lumMod val="50000"/>
                  </a:schemeClr>
                </a:solidFill>
                <a:latin typeface="+mn-lt"/>
              </a:rPr>
              <a:t>aes</a:t>
            </a:r>
            <a:r>
              <a:rPr lang="it-IT" altLang="it-IT" sz="1400" i="1" dirty="0">
                <a:solidFill>
                  <a:schemeClr val="bg2">
                    <a:lumMod val="50000"/>
                  </a:schemeClr>
                </a:solidFill>
                <a:latin typeface="+mn-lt"/>
              </a:rPr>
              <a:t>(y = </a:t>
            </a:r>
            <a:r>
              <a:rPr lang="it-IT" altLang="it-IT" sz="1400" i="1" dirty="0" err="1">
                <a:solidFill>
                  <a:schemeClr val="bg2">
                    <a:lumMod val="50000"/>
                  </a:schemeClr>
                </a:solidFill>
                <a:latin typeface="+mn-lt"/>
              </a:rPr>
              <a:t>BloodPressure</a:t>
            </a:r>
            <a:r>
              <a:rPr lang="it-IT" altLang="it-IT" sz="1400" i="1" dirty="0">
                <a:solidFill>
                  <a:schemeClr val="bg2">
                    <a:lumMod val="50000"/>
                  </a:schemeClr>
                </a:solidFill>
                <a:latin typeface="+mn-lt"/>
              </a:rPr>
              <a:t>)) +</a:t>
            </a:r>
          </a:p>
          <a:p>
            <a:pPr lvl="0" defTabSz="914400"/>
            <a:r>
              <a:rPr lang="it-IT" altLang="it-IT" sz="1400" i="1" dirty="0">
                <a:solidFill>
                  <a:schemeClr val="bg2">
                    <a:lumMod val="50000"/>
                  </a:schemeClr>
                </a:solidFill>
                <a:latin typeface="+mn-lt"/>
              </a:rPr>
              <a:t>  </a:t>
            </a:r>
            <a:r>
              <a:rPr lang="it-IT" altLang="it-IT" sz="1400" i="1" dirty="0" err="1">
                <a:solidFill>
                  <a:schemeClr val="bg2">
                    <a:lumMod val="50000"/>
                  </a:schemeClr>
                </a:solidFill>
                <a:latin typeface="+mn-lt"/>
              </a:rPr>
              <a:t>geom_boxplot</a:t>
            </a:r>
            <a:r>
              <a:rPr lang="it-IT" altLang="it-IT" sz="1400" i="1" dirty="0">
                <a:solidFill>
                  <a:schemeClr val="bg2">
                    <a:lumMod val="50000"/>
                  </a:schemeClr>
                </a:solidFill>
                <a:latin typeface="+mn-lt"/>
              </a:rPr>
              <a:t>(</a:t>
            </a:r>
            <a:r>
              <a:rPr lang="it-IT" altLang="it-IT" sz="1400" i="1" dirty="0" err="1">
                <a:solidFill>
                  <a:schemeClr val="bg2">
                    <a:lumMod val="50000"/>
                  </a:schemeClr>
                </a:solidFill>
                <a:latin typeface="+mn-lt"/>
              </a:rPr>
              <a:t>fill</a:t>
            </a:r>
            <a:r>
              <a:rPr lang="it-IT" altLang="it-IT" sz="1400" i="1" dirty="0">
                <a:solidFill>
                  <a:schemeClr val="bg2">
                    <a:lumMod val="50000"/>
                  </a:schemeClr>
                </a:solidFill>
                <a:latin typeface="+mn-lt"/>
              </a:rPr>
              <a:t> = "</a:t>
            </a:r>
            <a:r>
              <a:rPr lang="it-IT" altLang="it-IT" sz="1400" i="1" dirty="0" err="1">
                <a:solidFill>
                  <a:schemeClr val="bg2">
                    <a:lumMod val="50000"/>
                  </a:schemeClr>
                </a:solidFill>
                <a:latin typeface="+mn-lt"/>
              </a:rPr>
              <a:t>steelblue</a:t>
            </a:r>
            <a:r>
              <a:rPr lang="it-IT" altLang="it-IT" sz="1400" i="1" dirty="0">
                <a:solidFill>
                  <a:schemeClr val="bg2">
                    <a:lumMod val="50000"/>
                  </a:schemeClr>
                </a:solidFill>
                <a:latin typeface="+mn-lt"/>
              </a:rPr>
              <a:t>") +</a:t>
            </a:r>
          </a:p>
          <a:p>
            <a:pPr lvl="0" defTabSz="914400"/>
            <a:r>
              <a:rPr lang="it-IT" altLang="it-IT" sz="1400" i="1" dirty="0">
                <a:solidFill>
                  <a:schemeClr val="bg2">
                    <a:lumMod val="50000"/>
                  </a:schemeClr>
                </a:solidFill>
                <a:latin typeface="+mn-lt"/>
              </a:rPr>
              <a:t>  labs(</a:t>
            </a:r>
            <a:r>
              <a:rPr lang="it-IT" altLang="it-IT" sz="1400" i="1" dirty="0" err="1">
                <a:solidFill>
                  <a:schemeClr val="bg2">
                    <a:lumMod val="50000"/>
                  </a:schemeClr>
                </a:solidFill>
                <a:latin typeface="+mn-lt"/>
              </a:rPr>
              <a:t>title</a:t>
            </a:r>
            <a:r>
              <a:rPr lang="it-IT" altLang="it-IT" sz="1400" i="1" dirty="0">
                <a:solidFill>
                  <a:schemeClr val="bg2">
                    <a:lumMod val="50000"/>
                  </a:schemeClr>
                </a:solidFill>
                <a:latin typeface="+mn-lt"/>
              </a:rPr>
              <a:t> = "Blood Pressure </a:t>
            </a:r>
            <a:r>
              <a:rPr lang="it-IT" altLang="it-IT" sz="1400" i="1" dirty="0" err="1">
                <a:solidFill>
                  <a:schemeClr val="bg2">
                    <a:lumMod val="50000"/>
                  </a:schemeClr>
                </a:solidFill>
                <a:latin typeface="+mn-lt"/>
              </a:rPr>
              <a:t>Boxplot</a:t>
            </a:r>
            <a:r>
              <a:rPr lang="it-IT" altLang="it-IT" sz="1400" i="1" dirty="0">
                <a:solidFill>
                  <a:schemeClr val="bg2">
                    <a:lumMod val="50000"/>
                  </a:schemeClr>
                </a:solidFill>
                <a:latin typeface="+mn-lt"/>
              </a:rPr>
              <a:t>")</a:t>
            </a:r>
            <a:endParaRPr kumimoji="0" lang="it-IT" altLang="it-IT" sz="1400" b="0" i="1" u="none" strike="noStrike" cap="none" normalizeH="0" baseline="0" dirty="0">
              <a:ln>
                <a:noFill/>
              </a:ln>
              <a:solidFill>
                <a:schemeClr val="bg2">
                  <a:lumMod val="50000"/>
                </a:schemeClr>
              </a:solidFill>
              <a:effectLst/>
              <a:latin typeface="+mn-lt"/>
            </a:endParaRPr>
          </a:p>
        </p:txBody>
      </p:sp>
      <p:pic>
        <p:nvPicPr>
          <p:cNvPr id="8" name="Immagine 7" descr="Immagine che contiene linea, diagramma, schermata, Diagramma&#10;&#10;Il contenuto generato dall'IA potrebbe non essere corretto.">
            <a:extLst>
              <a:ext uri="{FF2B5EF4-FFF2-40B4-BE49-F238E27FC236}">
                <a16:creationId xmlns:a16="http://schemas.microsoft.com/office/drawing/2014/main" id="{1E66EBD8-29C9-3E32-E838-CEDBBDD53323}"/>
              </a:ext>
            </a:extLst>
          </p:cNvPr>
          <p:cNvPicPr>
            <a:picLocks noChangeAspect="1"/>
          </p:cNvPicPr>
          <p:nvPr/>
        </p:nvPicPr>
        <p:blipFill>
          <a:blip r:embed="rId5"/>
          <a:stretch>
            <a:fillRect/>
          </a:stretch>
        </p:blipFill>
        <p:spPr>
          <a:xfrm>
            <a:off x="794198" y="2341074"/>
            <a:ext cx="1954050" cy="3600000"/>
          </a:xfrm>
          <a:prstGeom prst="rect">
            <a:avLst/>
          </a:prstGeom>
        </p:spPr>
      </p:pic>
      <p:sp>
        <p:nvSpPr>
          <p:cNvPr id="10" name="Rectangle 2">
            <a:extLst>
              <a:ext uri="{FF2B5EF4-FFF2-40B4-BE49-F238E27FC236}">
                <a16:creationId xmlns:a16="http://schemas.microsoft.com/office/drawing/2014/main" id="{11D198F5-233A-19AE-0098-3BAFCDE001C9}"/>
              </a:ext>
            </a:extLst>
          </p:cNvPr>
          <p:cNvSpPr>
            <a:spLocks noChangeArrowheads="1"/>
          </p:cNvSpPr>
          <p:nvPr/>
        </p:nvSpPr>
        <p:spPr bwMode="auto">
          <a:xfrm>
            <a:off x="6095999" y="1812044"/>
            <a:ext cx="5773945"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b="1" i="0" u="none" strike="noStrike" cap="none" normalizeH="0" baseline="0" dirty="0">
                <a:ln>
                  <a:noFill/>
                </a:ln>
                <a:solidFill>
                  <a:srgbClr val="000000"/>
                </a:solidFill>
                <a:effectLst/>
                <a:latin typeface="+mn-lt"/>
              </a:rPr>
              <a:t>Key </a:t>
            </a:r>
            <a:r>
              <a:rPr kumimoji="0" lang="it-IT" altLang="it-IT" b="1" i="0" u="none" strike="noStrike" cap="none" normalizeH="0" baseline="0" dirty="0" err="1">
                <a:ln>
                  <a:noFill/>
                </a:ln>
                <a:solidFill>
                  <a:srgbClr val="000000"/>
                </a:solidFill>
                <a:effectLst/>
                <a:latin typeface="+mn-lt"/>
              </a:rPr>
              <a:t>Findings</a:t>
            </a:r>
            <a:endParaRPr kumimoji="0" lang="it-IT" altLang="it-IT" b="1" i="0" u="none" strike="noStrike" cap="none" normalizeH="0" baseline="0" dirty="0">
              <a:ln>
                <a:noFill/>
              </a:ln>
              <a:solidFill>
                <a:srgbClr val="000000"/>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Pregnancies</a:t>
            </a:r>
            <a:r>
              <a:rPr kumimoji="0" lang="it-IT" altLang="it-IT" sz="1400" b="0" i="0" u="none" strike="noStrike" cap="none" normalizeH="0" baseline="0" dirty="0">
                <a:ln>
                  <a:noFill/>
                </a:ln>
                <a:solidFill>
                  <a:srgbClr val="000000"/>
                </a:solidFill>
                <a:effectLst/>
                <a:cs typeface="Arial" panose="020B0604020202020204" pitchFamily="34" charset="0"/>
              </a:rPr>
              <a:t> shows a </a:t>
            </a:r>
            <a:r>
              <a:rPr kumimoji="0" lang="it-IT" altLang="it-IT" sz="1400" b="0" i="0" u="none" strike="noStrike" cap="none" normalizeH="0" baseline="0" dirty="0" err="1">
                <a:ln>
                  <a:noFill/>
                </a:ln>
                <a:solidFill>
                  <a:srgbClr val="000000"/>
                </a:solidFill>
                <a:effectLst/>
                <a:cs typeface="Arial" panose="020B0604020202020204" pitchFamily="34" charset="0"/>
              </a:rPr>
              <a:t>positively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skewed</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distribution</a:t>
            </a:r>
            <a:r>
              <a:rPr kumimoji="0" lang="it-IT" altLang="it-IT" sz="1400" b="0" i="0" u="none" strike="noStrike" cap="none" normalizeH="0" baseline="0" dirty="0">
                <a:ln>
                  <a:noFill/>
                </a:ln>
                <a:solidFill>
                  <a:srgbClr val="000000"/>
                </a:solidFill>
                <a:effectLst/>
                <a:cs typeface="Arial" panose="020B0604020202020204" pitchFamily="34" charset="0"/>
              </a:rPr>
              <a:t> with </a:t>
            </a:r>
            <a:r>
              <a:rPr kumimoji="0" lang="it-IT" altLang="it-IT" sz="1400" b="0" i="0" u="none" strike="noStrike" cap="none" normalizeH="0" baseline="0" dirty="0" err="1">
                <a:ln>
                  <a:noFill/>
                </a:ln>
                <a:solidFill>
                  <a:srgbClr val="000000"/>
                </a:solidFill>
                <a:effectLst/>
                <a:cs typeface="Arial" panose="020B0604020202020204" pitchFamily="34" charset="0"/>
              </a:rPr>
              <a:t>several</a:t>
            </a:r>
            <a:r>
              <a:rPr kumimoji="0" lang="it-IT" altLang="it-IT" sz="1400" b="0" i="0" u="none" strike="noStrike" cap="none" normalizeH="0" baseline="0" dirty="0">
                <a:ln>
                  <a:noFill/>
                </a:ln>
                <a:solidFill>
                  <a:srgbClr val="000000"/>
                </a:solidFill>
                <a:effectLst/>
                <a:cs typeface="Arial" panose="020B0604020202020204" pitchFamily="34" charset="0"/>
              </a:rPr>
              <a:t> high-</a:t>
            </a:r>
            <a:r>
              <a:rPr kumimoji="0" lang="it-IT" altLang="it-IT" sz="1400" b="0" i="0" u="none" strike="noStrike" cap="none" normalizeH="0" baseline="0" dirty="0" err="1">
                <a:ln>
                  <a:noFill/>
                </a:ln>
                <a:solidFill>
                  <a:srgbClr val="000000"/>
                </a:solidFill>
                <a:effectLst/>
                <a:cs typeface="Arial" panose="020B0604020202020204" pitchFamily="34" charset="0"/>
              </a:rPr>
              <a:t>value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outliers</a:t>
            </a:r>
            <a:r>
              <a:rPr kumimoji="0" lang="it-IT" altLang="it-IT" sz="1400" b="0" i="0" u="none" strike="noStrike" cap="none" normalizeH="0" baseline="0" dirty="0">
                <a:ln>
                  <a:noFill/>
                </a:ln>
                <a:solidFill>
                  <a:srgbClr val="000000"/>
                </a:solidFill>
                <a:effectLst/>
                <a:cs typeface="Arial" panose="020B0604020202020204" pitchFamily="34" charset="0"/>
              </a:rPr>
              <a:t> (14–17 </a:t>
            </a:r>
            <a:r>
              <a:rPr kumimoji="0" lang="it-IT" altLang="it-IT" sz="1400" b="0" i="0" u="none" strike="noStrike" cap="none" normalizeH="0" baseline="0" dirty="0" err="1">
                <a:ln>
                  <a:noFill/>
                </a:ln>
                <a:solidFill>
                  <a:srgbClr val="000000"/>
                </a:solidFill>
                <a:effectLst/>
                <a:cs typeface="Arial" panose="020B0604020202020204" pitchFamily="34" charset="0"/>
              </a:rPr>
              <a:t>pregnancies</a:t>
            </a:r>
            <a:r>
              <a:rPr kumimoji="0" lang="it-IT" altLang="it-IT" sz="1400" b="0" i="0" u="none" strike="noStrike" cap="none" normalizeH="0" baseline="0" dirty="0">
                <a:ln>
                  <a:noFill/>
                </a:ln>
                <a:solidFill>
                  <a:srgbClr val="000000"/>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000000"/>
                </a:solidFill>
                <a:effectLst/>
                <a:cs typeface="Arial" panose="020B0604020202020204" pitchFamily="34" charset="0"/>
              </a:rPr>
              <a:t>• Blood Pressure </a:t>
            </a:r>
            <a:r>
              <a:rPr kumimoji="0" lang="it-IT" altLang="it-IT" sz="1400" b="0" i="0" u="none" strike="noStrike" cap="none" normalizeH="0" baseline="0" dirty="0" err="1">
                <a:ln>
                  <a:noFill/>
                </a:ln>
                <a:solidFill>
                  <a:srgbClr val="000000"/>
                </a:solidFill>
                <a:effectLst/>
                <a:cs typeface="Arial" panose="020B0604020202020204" pitchFamily="34" charset="0"/>
              </a:rPr>
              <a:t>contains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impossible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values</a:t>
            </a:r>
            <a:r>
              <a:rPr kumimoji="0" lang="it-IT" altLang="it-IT" sz="1400" b="0" i="0" u="none" strike="noStrike" cap="none" normalizeH="0" baseline="0" dirty="0">
                <a:ln>
                  <a:noFill/>
                </a:ln>
                <a:solidFill>
                  <a:srgbClr val="000000"/>
                </a:solidFill>
                <a:effectLst/>
                <a:cs typeface="Arial" panose="020B0604020202020204" pitchFamily="34" charset="0"/>
              </a:rPr>
              <a:t> (0 mmHg), </a:t>
            </a:r>
            <a:r>
              <a:rPr kumimoji="0" lang="it-IT" altLang="it-IT" sz="1400" b="0" i="0" u="none" strike="noStrike" cap="none" normalizeH="0" baseline="0" dirty="0" err="1">
                <a:ln>
                  <a:noFill/>
                </a:ln>
                <a:solidFill>
                  <a:srgbClr val="000000"/>
                </a:solidFill>
                <a:effectLst/>
                <a:cs typeface="Arial" panose="020B0604020202020204" pitchFamily="34" charset="0"/>
              </a:rPr>
              <a:t>suggesting</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missing</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values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were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encoded</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as</a:t>
            </a:r>
            <a:r>
              <a:rPr kumimoji="0" lang="it-IT" altLang="it-IT" sz="1400" b="0" i="0" u="none" strike="noStrike" cap="none" normalizeH="0" baseline="0" dirty="0">
                <a:ln>
                  <a:noFill/>
                </a:ln>
                <a:solidFill>
                  <a:srgbClr val="000000"/>
                </a:solidFill>
                <a:effectLst/>
                <a:cs typeface="Arial" panose="020B0604020202020204" pitchFamily="34" charset="0"/>
              </a:rPr>
              <a:t> zero.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These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observations</a:t>
            </a:r>
            <a:r>
              <a:rPr kumimoji="0" lang="it-IT" altLang="it-IT" sz="1400" b="0" i="0" u="none" strike="noStrike" cap="none" normalizeH="0" baseline="0" dirty="0">
                <a:ln>
                  <a:noFill/>
                </a:ln>
                <a:solidFill>
                  <a:srgbClr val="000000"/>
                </a:solidFill>
                <a:effectLst/>
                <a:cs typeface="Arial" panose="020B0604020202020204" pitchFamily="34" charset="0"/>
              </a:rPr>
              <a:t> indicate </a:t>
            </a:r>
            <a:r>
              <a:rPr kumimoji="0" lang="it-IT" altLang="it-IT" sz="1400" b="0" i="0" u="none" strike="noStrike" cap="none" normalizeH="0" baseline="0" dirty="0" err="1">
                <a:ln>
                  <a:noFill/>
                </a:ln>
                <a:solidFill>
                  <a:srgbClr val="000000"/>
                </a:solidFill>
                <a:effectLst/>
                <a:cs typeface="Arial" panose="020B0604020202020204" pitchFamily="34" charset="0"/>
              </a:rPr>
              <a:t>that</a:t>
            </a:r>
            <a:r>
              <a:rPr kumimoji="0" lang="it-IT" altLang="it-IT" sz="1400" b="0" i="0" u="none" strike="noStrike" cap="none" normalizeH="0" baseline="0" dirty="0">
                <a:ln>
                  <a:noFill/>
                </a:ln>
                <a:solidFill>
                  <a:srgbClr val="000000"/>
                </a:solidFill>
                <a:effectLst/>
                <a:cs typeface="Arial" panose="020B0604020202020204" pitchFamily="34" charset="0"/>
              </a:rPr>
              <a:t> data </a:t>
            </a:r>
            <a:r>
              <a:rPr kumimoji="0" lang="it-IT" altLang="it-IT" sz="1400" b="0" i="0" u="none" strike="noStrike" cap="none" normalizeH="0" baseline="0" dirty="0" err="1">
                <a:ln>
                  <a:noFill/>
                </a:ln>
                <a:solidFill>
                  <a:srgbClr val="000000"/>
                </a:solidFill>
                <a:effectLst/>
                <a:cs typeface="Arial" panose="020B0604020202020204" pitchFamily="34" charset="0"/>
              </a:rPr>
              <a:t>cleaning</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should</a:t>
            </a:r>
            <a:r>
              <a:rPr kumimoji="0" lang="it-IT" altLang="it-IT" sz="1400" b="0" i="0" u="none" strike="noStrike" cap="none" normalizeH="0" baseline="0" dirty="0">
                <a:ln>
                  <a:noFill/>
                </a:ln>
                <a:solidFill>
                  <a:srgbClr val="000000"/>
                </a:solidFill>
                <a:effectLst/>
                <a:cs typeface="Arial" panose="020B0604020202020204" pitchFamily="34" charset="0"/>
              </a:rPr>
              <a:t> be </a:t>
            </a:r>
            <a:r>
              <a:rPr kumimoji="0" lang="it-IT" altLang="it-IT" sz="1400" b="0" i="0" u="none" strike="noStrike" cap="none" normalizeH="0" baseline="0" dirty="0" err="1">
                <a:ln>
                  <a:noFill/>
                </a:ln>
                <a:solidFill>
                  <a:srgbClr val="000000"/>
                </a:solidFill>
                <a:effectLst/>
                <a:cs typeface="Arial" panose="020B0604020202020204" pitchFamily="34" charset="0"/>
              </a:rPr>
              <a:t>considered</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before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predictive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modelling</a:t>
            </a:r>
            <a:r>
              <a:rPr kumimoji="0" lang="it-IT" altLang="it-IT" sz="1400" b="0" i="0" u="none" strike="noStrike" cap="none" normalizeH="0" baseline="0" dirty="0">
                <a:ln>
                  <a:noFill/>
                </a:ln>
                <a:solidFill>
                  <a:srgbClr val="000000"/>
                </a:solidFill>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Boxplots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provide</a:t>
            </a:r>
            <a:r>
              <a:rPr kumimoji="0" lang="it-IT" altLang="it-IT" sz="1400" b="0" i="0" u="none" strike="noStrike" cap="none" normalizeH="0" baseline="0" dirty="0">
                <a:ln>
                  <a:noFill/>
                </a:ln>
                <a:solidFill>
                  <a:srgbClr val="000000"/>
                </a:solidFill>
                <a:effectLst/>
                <a:cs typeface="Arial" panose="020B0604020202020204" pitchFamily="34" charset="0"/>
              </a:rPr>
              <a:t> a </a:t>
            </a:r>
            <a:r>
              <a:rPr kumimoji="0" lang="it-IT" altLang="it-IT" sz="1400" b="0" i="0" u="none" strike="noStrike" cap="none" normalizeH="0" baseline="0" dirty="0" err="1">
                <a:ln>
                  <a:noFill/>
                </a:ln>
                <a:solidFill>
                  <a:srgbClr val="000000"/>
                </a:solidFill>
                <a:effectLst/>
                <a:cs typeface="Arial" panose="020B0604020202020204" pitchFamily="34" charset="0"/>
              </a:rPr>
              <a:t>simple</a:t>
            </a:r>
            <a:r>
              <a:rPr kumimoji="0" lang="it-IT" altLang="it-IT" sz="1400" b="0" i="0" u="none" strike="noStrike" cap="none" normalizeH="0" baseline="0" dirty="0">
                <a:ln>
                  <a:noFill/>
                </a:ln>
                <a:solidFill>
                  <a:srgbClr val="000000"/>
                </a:solidFill>
                <a:effectLst/>
                <a:cs typeface="Arial" panose="020B0604020202020204" pitchFamily="34" charset="0"/>
              </a:rPr>
              <a:t> way to </a:t>
            </a:r>
            <a:r>
              <a:rPr kumimoji="0" lang="it-IT" altLang="it-IT" sz="1400" b="0" i="0" u="none" strike="noStrike" cap="none" normalizeH="0" baseline="0" dirty="0" err="1">
                <a:ln>
                  <a:noFill/>
                </a:ln>
                <a:solidFill>
                  <a:srgbClr val="000000"/>
                </a:solidFill>
                <a:effectLst/>
                <a:cs typeface="Arial" panose="020B0604020202020204" pitchFamily="34" charset="0"/>
              </a:rPr>
              <a:t>detect</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unusual</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observations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that</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may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influence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statistical</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analyses</a:t>
            </a:r>
            <a:r>
              <a:rPr kumimoji="0" lang="it-IT" altLang="it-IT" sz="1400" b="0" i="0" u="none" strike="noStrike" cap="none" normalizeH="0" baseline="0" dirty="0">
                <a:ln>
                  <a:noFill/>
                </a:ln>
                <a:solidFill>
                  <a:srgbClr val="000000"/>
                </a:solidFill>
                <a:effectLst/>
                <a:cs typeface="Arial" panose="020B0604020202020204" pitchFamily="34" charset="0"/>
              </a:rPr>
              <a:t>.</a:t>
            </a:r>
            <a:endParaRPr kumimoji="0" lang="it-IT" altLang="it-IT" sz="14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4093362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9A5461F-0A6C-33BF-17B0-6EDB02D26B75}"/>
              </a:ext>
            </a:extLst>
          </p:cNvPr>
          <p:cNvSpPr>
            <a:spLocks noGrp="1"/>
          </p:cNvSpPr>
          <p:nvPr>
            <p:ph type="title"/>
          </p:nvPr>
        </p:nvSpPr>
        <p:spPr>
          <a:xfrm>
            <a:off x="640078" y="416004"/>
            <a:ext cx="10890929" cy="599660"/>
          </a:xfrm>
        </p:spPr>
        <p:txBody>
          <a:bodyPr>
            <a:normAutofit fontScale="90000"/>
          </a:bodyPr>
          <a:lstStyle/>
          <a:p>
            <a:r>
              <a:rPr lang="it-IT" dirty="0" err="1"/>
              <a:t>Diabetes</a:t>
            </a:r>
            <a:r>
              <a:rPr lang="it-IT" dirty="0"/>
              <a:t> Rates </a:t>
            </a:r>
            <a:r>
              <a:rPr lang="it-IT" sz="2200" dirty="0" err="1"/>
              <a:t>Across</a:t>
            </a:r>
            <a:r>
              <a:rPr lang="it-IT" sz="2200" dirty="0"/>
              <a:t> Age and BMI </a:t>
            </a:r>
            <a:r>
              <a:rPr lang="it-IT" sz="2200" dirty="0" err="1"/>
              <a:t>Categories</a:t>
            </a:r>
            <a:endParaRPr lang="it-IT" sz="2200" dirty="0"/>
          </a:p>
        </p:txBody>
      </p:sp>
      <p:pic>
        <p:nvPicPr>
          <p:cNvPr id="5" name="Immagine 4" descr="Immagine che contiene logo, simbolo, Carattere, Elementi grafici&#10;&#10;Il contenuto generato dall'IA potrebbe non essere corretto.">
            <a:extLst>
              <a:ext uri="{FF2B5EF4-FFF2-40B4-BE49-F238E27FC236}">
                <a16:creationId xmlns:a16="http://schemas.microsoft.com/office/drawing/2014/main" id="{8D5DD03B-8BB0-3B72-E6E1-78181BDEFB81}"/>
              </a:ext>
            </a:extLst>
          </p:cNvPr>
          <p:cNvPicPr>
            <a:picLocks noChangeAspect="1"/>
          </p:cNvPicPr>
          <p:nvPr/>
        </p:nvPicPr>
        <p:blipFill>
          <a:blip r:embed="rId3"/>
          <a:stretch>
            <a:fillRect/>
          </a:stretch>
        </p:blipFill>
        <p:spPr>
          <a:xfrm>
            <a:off x="11324409" y="6199188"/>
            <a:ext cx="413197" cy="386366"/>
          </a:xfrm>
          <a:prstGeom prst="rect">
            <a:avLst/>
          </a:prstGeom>
        </p:spPr>
      </p:pic>
      <p:sp>
        <p:nvSpPr>
          <p:cNvPr id="6" name="CasellaDiTesto 5">
            <a:extLst>
              <a:ext uri="{FF2B5EF4-FFF2-40B4-BE49-F238E27FC236}">
                <a16:creationId xmlns:a16="http://schemas.microsoft.com/office/drawing/2014/main" id="{1B44E83B-8E18-E63C-DF61-479A08CA19DA}"/>
              </a:ext>
            </a:extLst>
          </p:cNvPr>
          <p:cNvSpPr txBox="1"/>
          <p:nvPr/>
        </p:nvSpPr>
        <p:spPr>
          <a:xfrm>
            <a:off x="9220200" y="2422053"/>
            <a:ext cx="5943600" cy="3970318"/>
          </a:xfrm>
          <a:prstGeom prst="rect">
            <a:avLst/>
          </a:prstGeom>
          <a:noFill/>
        </p:spPr>
        <p:txBody>
          <a:bodyPr wrap="square" rtlCol="0">
            <a:spAutoFit/>
          </a:bodyPr>
          <a:lstStyle/>
          <a:p>
            <a:r>
              <a:rPr lang="it-IT" sz="1200" i="1" dirty="0">
                <a:solidFill>
                  <a:schemeClr val="bg2">
                    <a:lumMod val="50000"/>
                  </a:schemeClr>
                </a:solidFill>
              </a:rPr>
              <a:t># Create age groups</a:t>
            </a:r>
          </a:p>
          <a:p>
            <a:r>
              <a:rPr lang="it-IT" sz="1200" i="1" dirty="0" err="1">
                <a:solidFill>
                  <a:schemeClr val="bg2">
                    <a:lumMod val="50000"/>
                  </a:schemeClr>
                </a:solidFill>
              </a:rPr>
              <a:t>diabetes$AgeGroup</a:t>
            </a:r>
            <a:r>
              <a:rPr lang="it-IT" sz="1200" i="1" dirty="0">
                <a:solidFill>
                  <a:schemeClr val="bg2">
                    <a:lumMod val="50000"/>
                  </a:schemeClr>
                </a:solidFill>
              </a:rPr>
              <a:t> &lt;- </a:t>
            </a:r>
            <a:r>
              <a:rPr lang="it-IT" sz="1200" i="1" dirty="0" err="1">
                <a:solidFill>
                  <a:schemeClr val="bg2">
                    <a:lumMod val="50000"/>
                  </a:schemeClr>
                </a:solidFill>
              </a:rPr>
              <a:t>cut</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diabetes$Age</a:t>
            </a:r>
            <a:r>
              <a:rPr lang="it-IT" sz="1200" i="1" dirty="0">
                <a:solidFill>
                  <a:schemeClr val="bg2">
                    <a:lumMod val="50000"/>
                  </a:schemeClr>
                </a:solidFill>
              </a:rPr>
              <a:t>,</a:t>
            </a:r>
          </a:p>
          <a:p>
            <a:r>
              <a:rPr lang="it-IT" sz="1200" i="1" dirty="0">
                <a:solidFill>
                  <a:schemeClr val="bg2">
                    <a:lumMod val="50000"/>
                  </a:schemeClr>
                </a:solidFill>
              </a:rPr>
              <a:t>  breaks = c(20, 29, 39, 49, Inf),</a:t>
            </a:r>
          </a:p>
          <a:p>
            <a:r>
              <a:rPr lang="it-IT" sz="1200" i="1" dirty="0">
                <a:solidFill>
                  <a:schemeClr val="bg2">
                    <a:lumMod val="50000"/>
                  </a:schemeClr>
                </a:solidFill>
              </a:rPr>
              <a:t>  labels = c("&lt;30", "30-39", "40-49", "50+")</a:t>
            </a:r>
          </a:p>
          <a:p>
            <a:r>
              <a:rPr lang="it-IT" sz="1200" i="1" dirty="0">
                <a:solidFill>
                  <a:schemeClr val="bg2">
                    <a:lumMod val="50000"/>
                  </a:schemeClr>
                </a:solidFill>
              </a:rPr>
              <a:t>)</a:t>
            </a:r>
          </a:p>
          <a:p>
            <a:endParaRPr lang="it-IT" sz="1200" i="1" dirty="0">
              <a:solidFill>
                <a:schemeClr val="bg2">
                  <a:lumMod val="50000"/>
                </a:schemeClr>
              </a:solidFill>
            </a:endParaRPr>
          </a:p>
          <a:p>
            <a:r>
              <a:rPr lang="it-IT" sz="1200" i="1" dirty="0">
                <a:solidFill>
                  <a:schemeClr val="bg2">
                    <a:lumMod val="50000"/>
                  </a:schemeClr>
                </a:solidFill>
              </a:rPr>
              <a:t># Create BMI </a:t>
            </a:r>
            <a:r>
              <a:rPr lang="it-IT" sz="1200" i="1" dirty="0" err="1">
                <a:solidFill>
                  <a:schemeClr val="bg2">
                    <a:lumMod val="50000"/>
                  </a:schemeClr>
                </a:solidFill>
              </a:rPr>
              <a:t>categories</a:t>
            </a:r>
            <a:endParaRPr lang="it-IT" sz="1200" i="1" dirty="0">
              <a:solidFill>
                <a:schemeClr val="bg2">
                  <a:lumMod val="50000"/>
                </a:schemeClr>
              </a:solidFill>
            </a:endParaRPr>
          </a:p>
          <a:p>
            <a:r>
              <a:rPr lang="it-IT" sz="1200" i="1" dirty="0" err="1">
                <a:solidFill>
                  <a:schemeClr val="bg2">
                    <a:lumMod val="50000"/>
                  </a:schemeClr>
                </a:solidFill>
              </a:rPr>
              <a:t>diabetes$BMICategory</a:t>
            </a:r>
            <a:r>
              <a:rPr lang="it-IT" sz="1200" i="1" dirty="0">
                <a:solidFill>
                  <a:schemeClr val="bg2">
                    <a:lumMod val="50000"/>
                  </a:schemeClr>
                </a:solidFill>
              </a:rPr>
              <a:t> &lt;- </a:t>
            </a:r>
            <a:r>
              <a:rPr lang="it-IT" sz="1200" i="1" dirty="0" err="1">
                <a:solidFill>
                  <a:schemeClr val="bg2">
                    <a:lumMod val="50000"/>
                  </a:schemeClr>
                </a:solidFill>
              </a:rPr>
              <a:t>cut</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diabetes$BMI</a:t>
            </a:r>
            <a:r>
              <a:rPr lang="it-IT" sz="1200" i="1" dirty="0">
                <a:solidFill>
                  <a:schemeClr val="bg2">
                    <a:lumMod val="50000"/>
                  </a:schemeClr>
                </a:solidFill>
              </a:rPr>
              <a:t>,</a:t>
            </a:r>
          </a:p>
          <a:p>
            <a:r>
              <a:rPr lang="it-IT" sz="1200" i="1" dirty="0">
                <a:solidFill>
                  <a:schemeClr val="bg2">
                    <a:lumMod val="50000"/>
                  </a:schemeClr>
                </a:solidFill>
              </a:rPr>
              <a:t>  breaks = c(-Inf, 18.5, 25, 30, Inf),</a:t>
            </a:r>
          </a:p>
          <a:p>
            <a:r>
              <a:rPr lang="it-IT" sz="1200" i="1" dirty="0">
                <a:solidFill>
                  <a:schemeClr val="bg2">
                    <a:lumMod val="50000"/>
                  </a:schemeClr>
                </a:solidFill>
              </a:rPr>
              <a:t>  labels = c("</a:t>
            </a:r>
            <a:r>
              <a:rPr lang="it-IT" sz="1200" i="1" dirty="0" err="1">
                <a:solidFill>
                  <a:schemeClr val="bg2">
                    <a:lumMod val="50000"/>
                  </a:schemeClr>
                </a:solidFill>
              </a:rPr>
              <a:t>Underweight</a:t>
            </a:r>
            <a:r>
              <a:rPr lang="it-IT" sz="1200" i="1" dirty="0">
                <a:solidFill>
                  <a:schemeClr val="bg2">
                    <a:lumMod val="50000"/>
                  </a:schemeClr>
                </a:solidFill>
              </a:rPr>
              <a:t>", "</a:t>
            </a:r>
            <a:r>
              <a:rPr lang="it-IT" sz="1200" i="1" dirty="0" err="1">
                <a:solidFill>
                  <a:schemeClr val="bg2">
                    <a:lumMod val="50000"/>
                  </a:schemeClr>
                </a:solidFill>
              </a:rPr>
              <a:t>Normal</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Overweight</a:t>
            </a:r>
            <a:r>
              <a:rPr lang="it-IT" sz="1200" i="1" dirty="0">
                <a:solidFill>
                  <a:schemeClr val="bg2">
                    <a:lumMod val="50000"/>
                  </a:schemeClr>
                </a:solidFill>
              </a:rPr>
              <a:t>", "Obese")</a:t>
            </a:r>
          </a:p>
          <a:p>
            <a:r>
              <a:rPr lang="it-IT" sz="1200" i="1" dirty="0">
                <a:solidFill>
                  <a:schemeClr val="bg2">
                    <a:lumMod val="50000"/>
                  </a:schemeClr>
                </a:solidFill>
              </a:rPr>
              <a:t>)</a:t>
            </a:r>
          </a:p>
          <a:p>
            <a:endParaRPr lang="it-IT" sz="1200" i="1" dirty="0">
              <a:solidFill>
                <a:schemeClr val="bg2">
                  <a:lumMod val="50000"/>
                </a:schemeClr>
              </a:solidFill>
            </a:endParaRPr>
          </a:p>
          <a:p>
            <a:r>
              <a:rPr lang="it-IT" sz="1200" i="1" dirty="0">
                <a:solidFill>
                  <a:schemeClr val="bg2">
                    <a:lumMod val="50000"/>
                  </a:schemeClr>
                </a:solidFill>
              </a:rPr>
              <a:t># </a:t>
            </a:r>
            <a:r>
              <a:rPr lang="it-IT" sz="1200" i="1" dirty="0" err="1">
                <a:solidFill>
                  <a:schemeClr val="bg2">
                    <a:lumMod val="50000"/>
                  </a:schemeClr>
                </a:solidFill>
              </a:rPr>
              <a:t>Calculate</a:t>
            </a:r>
            <a:r>
              <a:rPr lang="it-IT" sz="1200" i="1" dirty="0">
                <a:solidFill>
                  <a:schemeClr val="bg2">
                    <a:lumMod val="50000"/>
                  </a:schemeClr>
                </a:solidFill>
              </a:rPr>
              <a:t> </a:t>
            </a:r>
            <a:r>
              <a:rPr lang="it-IT" sz="1200" i="1" dirty="0" err="1">
                <a:solidFill>
                  <a:schemeClr val="bg2">
                    <a:lumMod val="50000"/>
                  </a:schemeClr>
                </a:solidFill>
              </a:rPr>
              <a:t>diabetes</a:t>
            </a:r>
            <a:r>
              <a:rPr lang="it-IT" sz="1200" i="1" dirty="0">
                <a:solidFill>
                  <a:schemeClr val="bg2">
                    <a:lumMod val="50000"/>
                  </a:schemeClr>
                </a:solidFill>
              </a:rPr>
              <a:t> rates</a:t>
            </a:r>
          </a:p>
          <a:p>
            <a:r>
              <a:rPr lang="it-IT" sz="1200" i="1" dirty="0" err="1">
                <a:solidFill>
                  <a:schemeClr val="bg2">
                    <a:lumMod val="50000"/>
                  </a:schemeClr>
                </a:solidFill>
              </a:rPr>
              <a:t>prop.table</a:t>
            </a:r>
            <a:r>
              <a:rPr lang="it-IT" sz="1200" i="1" dirty="0">
                <a:solidFill>
                  <a:schemeClr val="bg2">
                    <a:lumMod val="50000"/>
                  </a:schemeClr>
                </a:solidFill>
              </a:rPr>
              <a:t>(</a:t>
            </a:r>
            <a:r>
              <a:rPr lang="it-IT" sz="1200" i="1" dirty="0" err="1">
                <a:solidFill>
                  <a:schemeClr val="bg2">
                    <a:lumMod val="50000"/>
                  </a:schemeClr>
                </a:solidFill>
              </a:rPr>
              <a:t>table</a:t>
            </a:r>
            <a:r>
              <a:rPr lang="it-IT" sz="1200" i="1" dirty="0">
                <a:solidFill>
                  <a:schemeClr val="bg2">
                    <a:lumMod val="50000"/>
                  </a:schemeClr>
                </a:solidFill>
              </a:rPr>
              <a:t>(</a:t>
            </a:r>
            <a:r>
              <a:rPr lang="it-IT" sz="1200" i="1" dirty="0" err="1">
                <a:solidFill>
                  <a:schemeClr val="bg2">
                    <a:lumMod val="50000"/>
                  </a:schemeClr>
                </a:solidFill>
              </a:rPr>
              <a:t>diabetes$AgeGroup</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diabetes$Outcome</a:t>
            </a:r>
            <a:r>
              <a:rPr lang="it-IT" sz="1200" i="1" dirty="0">
                <a:solidFill>
                  <a:schemeClr val="bg2">
                    <a:lumMod val="50000"/>
                  </a:schemeClr>
                </a:solidFill>
              </a:rPr>
              <a:t>), 1)</a:t>
            </a:r>
          </a:p>
          <a:p>
            <a:endParaRPr lang="it-IT" sz="1200" i="1" dirty="0">
              <a:solidFill>
                <a:schemeClr val="bg2">
                  <a:lumMod val="50000"/>
                </a:schemeClr>
              </a:solidFill>
            </a:endParaRPr>
          </a:p>
          <a:p>
            <a:r>
              <a:rPr lang="it-IT" sz="1200" i="1" dirty="0" err="1">
                <a:solidFill>
                  <a:schemeClr val="bg2">
                    <a:lumMod val="50000"/>
                  </a:schemeClr>
                </a:solidFill>
              </a:rPr>
              <a:t>prop.table</a:t>
            </a:r>
            <a:r>
              <a:rPr lang="it-IT" sz="1200" i="1" dirty="0">
                <a:solidFill>
                  <a:schemeClr val="bg2">
                    <a:lumMod val="50000"/>
                  </a:schemeClr>
                </a:solidFill>
              </a:rPr>
              <a:t>(</a:t>
            </a:r>
            <a:r>
              <a:rPr lang="it-IT" sz="1200" i="1" dirty="0" err="1">
                <a:solidFill>
                  <a:schemeClr val="bg2">
                    <a:lumMod val="50000"/>
                  </a:schemeClr>
                </a:solidFill>
              </a:rPr>
              <a:t>table</a:t>
            </a:r>
            <a:r>
              <a:rPr lang="it-IT" sz="1200" i="1" dirty="0">
                <a:solidFill>
                  <a:schemeClr val="bg2">
                    <a:lumMod val="50000"/>
                  </a:schemeClr>
                </a:solidFill>
              </a:rPr>
              <a:t>(</a:t>
            </a:r>
            <a:r>
              <a:rPr lang="it-IT" sz="1200" i="1" dirty="0" err="1">
                <a:solidFill>
                  <a:schemeClr val="bg2">
                    <a:lumMod val="50000"/>
                  </a:schemeClr>
                </a:solidFill>
              </a:rPr>
              <a:t>diabetes$BMICategory</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diabetes$Outcome</a:t>
            </a:r>
            <a:r>
              <a:rPr lang="it-IT" sz="1200" i="1" dirty="0">
                <a:solidFill>
                  <a:schemeClr val="bg2">
                    <a:lumMod val="50000"/>
                  </a:schemeClr>
                </a:solidFill>
              </a:rPr>
              <a:t>), 1)</a:t>
            </a:r>
          </a:p>
        </p:txBody>
      </p:sp>
      <p:graphicFrame>
        <p:nvGraphicFramePr>
          <p:cNvPr id="12" name="Segnaposto contenuto 11">
            <a:extLst>
              <a:ext uri="{FF2B5EF4-FFF2-40B4-BE49-F238E27FC236}">
                <a16:creationId xmlns:a16="http://schemas.microsoft.com/office/drawing/2014/main" id="{F501A2B5-77C3-A8E3-369F-6DCD448C6385}"/>
              </a:ext>
            </a:extLst>
          </p:cNvPr>
          <p:cNvGraphicFramePr>
            <a:graphicFrameLocks noGrp="1"/>
          </p:cNvGraphicFramePr>
          <p:nvPr>
            <p:ph idx="1"/>
            <p:extLst>
              <p:ext uri="{D42A27DB-BD31-4B8C-83A1-F6EECF244321}">
                <p14:modId xmlns:p14="http://schemas.microsoft.com/office/powerpoint/2010/main" val="2238806206"/>
              </p:ext>
            </p:extLst>
          </p:nvPr>
        </p:nvGraphicFramePr>
        <p:xfrm>
          <a:off x="640078" y="1385629"/>
          <a:ext cx="3476363" cy="35655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Grafico 13">
            <a:extLst>
              <a:ext uri="{FF2B5EF4-FFF2-40B4-BE49-F238E27FC236}">
                <a16:creationId xmlns:a16="http://schemas.microsoft.com/office/drawing/2014/main" id="{B111ADC2-E8A5-D85E-E155-DE776616A887}"/>
              </a:ext>
            </a:extLst>
          </p:cNvPr>
          <p:cNvGraphicFramePr/>
          <p:nvPr>
            <p:extLst>
              <p:ext uri="{D42A27DB-BD31-4B8C-83A1-F6EECF244321}">
                <p14:modId xmlns:p14="http://schemas.microsoft.com/office/powerpoint/2010/main" val="2738480837"/>
              </p:ext>
            </p:extLst>
          </p:nvPr>
        </p:nvGraphicFramePr>
        <p:xfrm>
          <a:off x="4303454" y="1533721"/>
          <a:ext cx="4482804" cy="3317162"/>
        </p:xfrm>
        <a:graphic>
          <a:graphicData uri="http://schemas.openxmlformats.org/drawingml/2006/chart">
            <c:chart xmlns:c="http://schemas.openxmlformats.org/drawingml/2006/chart" xmlns:r="http://schemas.openxmlformats.org/officeDocument/2006/relationships" r:id="rId5"/>
          </a:graphicData>
        </a:graphic>
      </p:graphicFrame>
      <p:sp>
        <p:nvSpPr>
          <p:cNvPr id="16" name="Rectangle 2">
            <a:extLst>
              <a:ext uri="{FF2B5EF4-FFF2-40B4-BE49-F238E27FC236}">
                <a16:creationId xmlns:a16="http://schemas.microsoft.com/office/drawing/2014/main" id="{0B3509EB-4ED1-58A2-5C9E-CCBA90788A21}"/>
              </a:ext>
            </a:extLst>
          </p:cNvPr>
          <p:cNvSpPr>
            <a:spLocks noChangeArrowheads="1"/>
          </p:cNvSpPr>
          <p:nvPr/>
        </p:nvSpPr>
        <p:spPr bwMode="auto">
          <a:xfrm rot="10800000" flipV="1">
            <a:off x="267732" y="5662310"/>
            <a:ext cx="85185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600" b="0" i="0" u="none" strike="noStrike" cap="none" normalizeH="0" baseline="0" dirty="0" err="1">
                <a:ln>
                  <a:noFill/>
                </a:ln>
                <a:solidFill>
                  <a:srgbClr val="000000"/>
                </a:solidFill>
                <a:effectLst/>
              </a:rPr>
              <a:t>Diabetes</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prevalence</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generally</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increased</a:t>
            </a:r>
            <a:r>
              <a:rPr kumimoji="0" lang="it-IT" altLang="it-IT" sz="1600" b="0" i="0" u="none" strike="noStrike" cap="none" normalizeH="0" baseline="0" dirty="0">
                <a:ln>
                  <a:noFill/>
                </a:ln>
                <a:solidFill>
                  <a:srgbClr val="000000"/>
                </a:solidFill>
                <a:effectLst/>
              </a:rPr>
              <a:t> with age and BMI, with the </a:t>
            </a:r>
            <a:r>
              <a:rPr kumimoji="0" lang="it-IT" altLang="it-IT" sz="1600" b="0" i="0" u="none" strike="noStrike" cap="none" normalizeH="0" baseline="0" dirty="0" err="1">
                <a:ln>
                  <a:noFill/>
                </a:ln>
                <a:solidFill>
                  <a:srgbClr val="000000"/>
                </a:solidFill>
                <a:effectLst/>
              </a:rPr>
              <a:t>highest</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prevalence</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observed</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among</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participants</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aged</a:t>
            </a:r>
            <a:r>
              <a:rPr kumimoji="0" lang="it-IT" altLang="it-IT" sz="1600" b="0" i="0" u="none" strike="noStrike" cap="none" normalizeH="0" baseline="0" dirty="0">
                <a:ln>
                  <a:noFill/>
                </a:ln>
                <a:solidFill>
                  <a:srgbClr val="000000"/>
                </a:solidFill>
                <a:effectLst/>
              </a:rPr>
              <a:t> 40–49 and </a:t>
            </a:r>
            <a:r>
              <a:rPr kumimoji="0" lang="it-IT" altLang="it-IT" sz="1600" b="0" i="0" u="none" strike="noStrike" cap="none" normalizeH="0" baseline="0" dirty="0" err="1">
                <a:ln>
                  <a:noFill/>
                </a:ln>
                <a:solidFill>
                  <a:srgbClr val="000000"/>
                </a:solidFill>
                <a:effectLst/>
              </a:rPr>
              <a:t>those</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classified</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err="1">
                <a:ln>
                  <a:noFill/>
                </a:ln>
                <a:solidFill>
                  <a:srgbClr val="000000"/>
                </a:solidFill>
                <a:effectLst/>
              </a:rPr>
              <a:t>as</a:t>
            </a:r>
            <a:r>
              <a:rPr kumimoji="0" lang="it-IT" altLang="it-IT" sz="1600" b="0" i="0" u="none" strike="noStrike" cap="none" normalizeH="0" baseline="0" dirty="0">
                <a:ln>
                  <a:noFill/>
                </a:ln>
                <a:solidFill>
                  <a:srgbClr val="000000"/>
                </a:solidFill>
                <a:effectLst/>
              </a:rPr>
              <a:t> </a:t>
            </a:r>
            <a:r>
              <a:rPr kumimoji="0" lang="it-IT" altLang="it-IT" sz="16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obese</a:t>
            </a:r>
            <a:r>
              <a:rPr kumimoji="0" lang="it-IT" altLang="it-IT" sz="1600" b="0" i="0" u="none" strike="noStrike" cap="none" normalizeH="0" baseline="0" dirty="0">
                <a:ln>
                  <a:noFill/>
                </a:ln>
                <a:solidFill>
                  <a:srgbClr val="000000"/>
                </a:solidFill>
                <a:effectLst/>
              </a:rPr>
              <a:t>.</a:t>
            </a:r>
            <a:endParaRPr kumimoji="0" lang="it-IT" altLang="it-IT"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4989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C03C02-5B35-48E8-6FE5-EAC20E1B2FB1}"/>
              </a:ext>
            </a:extLst>
          </p:cNvPr>
          <p:cNvSpPr>
            <a:spLocks noGrp="1"/>
          </p:cNvSpPr>
          <p:nvPr>
            <p:ph type="title"/>
          </p:nvPr>
        </p:nvSpPr>
        <p:spPr>
          <a:xfrm>
            <a:off x="639763" y="1183417"/>
            <a:ext cx="10890929" cy="1097280"/>
          </a:xfrm>
        </p:spPr>
        <p:txBody>
          <a:bodyPr>
            <a:normAutofit/>
          </a:bodyPr>
          <a:lstStyle/>
          <a:p>
            <a:r>
              <a:rPr lang="it-IT" dirty="0" err="1"/>
              <a:t>Glucose</a:t>
            </a:r>
            <a:r>
              <a:rPr lang="it-IT" dirty="0"/>
              <a:t> </a:t>
            </a:r>
            <a:r>
              <a:rPr lang="it-IT" dirty="0" err="1"/>
              <a:t>Levels</a:t>
            </a:r>
            <a:r>
              <a:rPr lang="it-IT" dirty="0"/>
              <a:t> by </a:t>
            </a:r>
            <a:r>
              <a:rPr lang="it-IT" dirty="0" err="1"/>
              <a:t>Diabetes</a:t>
            </a:r>
            <a:r>
              <a:rPr lang="it-IT" dirty="0"/>
              <a:t> </a:t>
            </a:r>
            <a:r>
              <a:rPr lang="it-IT" dirty="0" err="1"/>
              <a:t>Outcome</a:t>
            </a:r>
            <a:endParaRPr lang="it-IT" dirty="0"/>
          </a:p>
        </p:txBody>
      </p:sp>
      <p:pic>
        <p:nvPicPr>
          <p:cNvPr id="4" name="Immagine 3" descr="Immagine che contiene logo, simbolo, Carattere, Elementi grafici&#10;&#10;Il contenuto generato dall'IA potrebbe non essere corretto.">
            <a:extLst>
              <a:ext uri="{FF2B5EF4-FFF2-40B4-BE49-F238E27FC236}">
                <a16:creationId xmlns:a16="http://schemas.microsoft.com/office/drawing/2014/main" id="{D5ABDD3C-C886-C371-9C1F-8E7D9A3B6D74}"/>
              </a:ext>
            </a:extLst>
          </p:cNvPr>
          <p:cNvPicPr>
            <a:picLocks noChangeAspect="1"/>
          </p:cNvPicPr>
          <p:nvPr/>
        </p:nvPicPr>
        <p:blipFill>
          <a:blip r:embed="rId3"/>
          <a:stretch>
            <a:fillRect/>
          </a:stretch>
        </p:blipFill>
        <p:spPr>
          <a:xfrm>
            <a:off x="11117811" y="5813266"/>
            <a:ext cx="413197" cy="386366"/>
          </a:xfrm>
          <a:prstGeom prst="rect">
            <a:avLst/>
          </a:prstGeom>
        </p:spPr>
      </p:pic>
      <p:graphicFrame>
        <p:nvGraphicFramePr>
          <p:cNvPr id="10" name="Rectangle 1">
            <a:extLst>
              <a:ext uri="{FF2B5EF4-FFF2-40B4-BE49-F238E27FC236}">
                <a16:creationId xmlns:a16="http://schemas.microsoft.com/office/drawing/2014/main" id="{4DA6DC59-A26F-1575-1E91-C44CA3E26B13}"/>
              </a:ext>
            </a:extLst>
          </p:cNvPr>
          <p:cNvGraphicFramePr>
            <a:graphicFrameLocks noGrp="1"/>
          </p:cNvGraphicFramePr>
          <p:nvPr>
            <p:ph idx="1"/>
            <p:extLst>
              <p:ext uri="{D42A27DB-BD31-4B8C-83A1-F6EECF244321}">
                <p14:modId xmlns:p14="http://schemas.microsoft.com/office/powerpoint/2010/main" val="2322347929"/>
              </p:ext>
            </p:extLst>
          </p:nvPr>
        </p:nvGraphicFramePr>
        <p:xfrm>
          <a:off x="660992" y="2247741"/>
          <a:ext cx="6138862" cy="3565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Immagine 7" descr="Immagine che contiene schermata, diagramma, Rettangolo, linea&#10;&#10;Il contenuto generato dall'IA potrebbe non essere corretto.">
            <a:extLst>
              <a:ext uri="{FF2B5EF4-FFF2-40B4-BE49-F238E27FC236}">
                <a16:creationId xmlns:a16="http://schemas.microsoft.com/office/drawing/2014/main" id="{D4725E48-65CC-E54C-45D8-F93C1574C39A}"/>
              </a:ext>
            </a:extLst>
          </p:cNvPr>
          <p:cNvPicPr>
            <a:picLocks noChangeAspect="1"/>
          </p:cNvPicPr>
          <p:nvPr/>
        </p:nvPicPr>
        <p:blipFill>
          <a:blip r:embed="rId9"/>
          <a:stretch>
            <a:fillRect/>
          </a:stretch>
        </p:blipFill>
        <p:spPr>
          <a:xfrm>
            <a:off x="7696201" y="2087881"/>
            <a:ext cx="3855720" cy="3398518"/>
          </a:xfrm>
          <a:prstGeom prst="rect">
            <a:avLst/>
          </a:prstGeom>
        </p:spPr>
      </p:pic>
      <p:sp>
        <p:nvSpPr>
          <p:cNvPr id="9" name="Rectangle 2">
            <a:extLst>
              <a:ext uri="{FF2B5EF4-FFF2-40B4-BE49-F238E27FC236}">
                <a16:creationId xmlns:a16="http://schemas.microsoft.com/office/drawing/2014/main" id="{A1F85D66-D559-61A9-9440-5212A827866A}"/>
              </a:ext>
            </a:extLst>
          </p:cNvPr>
          <p:cNvSpPr>
            <a:spLocks noChangeArrowheads="1"/>
          </p:cNvSpPr>
          <p:nvPr/>
        </p:nvSpPr>
        <p:spPr bwMode="auto">
          <a:xfrm>
            <a:off x="7137400" y="5427816"/>
            <a:ext cx="29083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000" b="0" i="0" u="none" strike="noStrike" cap="none" normalizeH="0" baseline="0" dirty="0" err="1">
                <a:ln>
                  <a:noFill/>
                </a:ln>
                <a:solidFill>
                  <a:schemeClr val="bg2">
                    <a:lumMod val="50000"/>
                  </a:schemeClr>
                </a:solidFill>
                <a:effectLst/>
              </a:rPr>
              <a:t>ggplot</a:t>
            </a:r>
            <a:r>
              <a:rPr kumimoji="0" lang="it-IT" altLang="it-IT" sz="1000" b="0" i="0" u="none" strike="noStrike" cap="none" normalizeH="0" baseline="0" dirty="0">
                <a:ln>
                  <a:noFill/>
                </a:ln>
                <a:solidFill>
                  <a:schemeClr val="bg2">
                    <a:lumMod val="50000"/>
                  </a:schemeClr>
                </a:solidFill>
                <a:effectLst/>
              </a:rPr>
              <a:t>(</a:t>
            </a:r>
            <a:r>
              <a:rPr kumimoji="0" lang="it-IT" altLang="it-IT" sz="1000" b="0" i="0" u="none" strike="noStrike" cap="none" normalizeH="0" baseline="0" dirty="0" err="1">
                <a:ln>
                  <a:noFill/>
                </a:ln>
                <a:solidFill>
                  <a:schemeClr val="bg2">
                    <a:lumMod val="50000"/>
                  </a:schemeClr>
                </a:solidFill>
                <a:effectLst/>
              </a:rPr>
              <a:t>diabetes</a:t>
            </a:r>
            <a:r>
              <a:rPr kumimoji="0" lang="it-IT" altLang="it-IT" sz="1000" b="0" i="0" u="none" strike="noStrike" cap="none" normalizeH="0" baseline="0" dirty="0">
                <a:ln>
                  <a:noFill/>
                </a:ln>
                <a:solidFill>
                  <a:schemeClr val="bg2">
                    <a:lumMod val="50000"/>
                  </a:schemeClr>
                </a:solidFill>
                <a:effectLst/>
              </a:rPr>
              <a:t>, </a:t>
            </a:r>
            <a:r>
              <a:rPr kumimoji="0" lang="it-IT" altLang="it-IT" sz="1000" b="0" i="0" u="none" strike="noStrike" cap="none" normalizeH="0" baseline="0" dirty="0" err="1">
                <a:ln>
                  <a:noFill/>
                </a:ln>
                <a:solidFill>
                  <a:schemeClr val="bg2">
                    <a:lumMod val="50000"/>
                  </a:schemeClr>
                </a:solidFill>
                <a:effectLst/>
              </a:rPr>
              <a:t>aes</a:t>
            </a:r>
            <a:r>
              <a:rPr kumimoji="0" lang="it-IT" altLang="it-IT" sz="1000" b="0" i="0" u="none" strike="noStrike" cap="none" normalizeH="0" baseline="0" dirty="0">
                <a:ln>
                  <a:noFill/>
                </a:ln>
                <a:solidFill>
                  <a:schemeClr val="bg2">
                    <a:lumMod val="50000"/>
                  </a:schemeClr>
                </a:solidFill>
                <a:effectLst/>
              </a:rPr>
              <a:t>(x = </a:t>
            </a:r>
            <a:r>
              <a:rPr kumimoji="0" lang="it-IT" altLang="it-IT" sz="1000" b="0" i="0" u="none" strike="noStrike" cap="none" normalizeH="0" baseline="0" dirty="0" err="1">
                <a:ln>
                  <a:noFill/>
                </a:ln>
                <a:solidFill>
                  <a:schemeClr val="bg2">
                    <a:lumMod val="50000"/>
                  </a:schemeClr>
                </a:solidFill>
                <a:effectLst/>
              </a:rPr>
              <a:t>factor</a:t>
            </a:r>
            <a:r>
              <a:rPr kumimoji="0" lang="it-IT" altLang="it-IT" sz="1000" b="0" i="0" u="none" strike="noStrike" cap="none" normalizeH="0" baseline="0" dirty="0">
                <a:ln>
                  <a:noFill/>
                </a:ln>
                <a:solidFill>
                  <a:schemeClr val="bg2">
                    <a:lumMod val="50000"/>
                  </a:schemeClr>
                </a:solidFill>
                <a:effectLst/>
              </a:rPr>
              <a:t>(</a:t>
            </a:r>
            <a:r>
              <a:rPr kumimoji="0" lang="it-IT" altLang="it-IT" sz="1000" b="0" i="0" u="none" strike="noStrike" cap="none" normalizeH="0" baseline="0" dirty="0" err="1">
                <a:ln>
                  <a:noFill/>
                </a:ln>
                <a:solidFill>
                  <a:schemeClr val="bg2">
                    <a:lumMod val="50000"/>
                  </a:schemeClr>
                </a:solidFill>
                <a:effectLst/>
              </a:rPr>
              <a:t>Outcome</a:t>
            </a:r>
            <a:r>
              <a:rPr kumimoji="0" lang="it-IT" altLang="it-IT" sz="1000" b="0" i="0" u="none" strike="noStrike" cap="none" normalizeH="0" baseline="0" dirty="0">
                <a:ln>
                  <a:noFill/>
                </a:ln>
                <a:solidFill>
                  <a:schemeClr val="bg2">
                    <a:lumMod val="50000"/>
                  </a:schemeClr>
                </a:solidFill>
                <a:effectLst/>
              </a:rPr>
              <a:t>, labels = c("No </a:t>
            </a:r>
            <a:r>
              <a:rPr kumimoji="0" lang="it-IT" altLang="it-IT" sz="1000" b="0" i="0" u="none" strike="noStrike" cap="none" normalizeH="0" baseline="0" dirty="0" err="1">
                <a:ln>
                  <a:noFill/>
                </a:ln>
                <a:solidFill>
                  <a:schemeClr val="bg2">
                    <a:lumMod val="50000"/>
                  </a:schemeClr>
                </a:solidFill>
                <a:effectLst/>
              </a:rPr>
              <a:t>Diabetes</a:t>
            </a:r>
            <a:r>
              <a:rPr kumimoji="0" lang="it-IT" altLang="it-IT" sz="1000" b="0" i="0" u="none" strike="noStrike" cap="none" normalizeH="0" baseline="0" dirty="0">
                <a:ln>
                  <a:noFill/>
                </a:ln>
                <a:solidFill>
                  <a:schemeClr val="bg2">
                    <a:lumMod val="50000"/>
                  </a:schemeClr>
                </a:solidFill>
                <a:effectLst/>
              </a:rPr>
              <a:t>","</a:t>
            </a:r>
            <a:r>
              <a:rPr kumimoji="0" lang="it-IT" altLang="it-IT" sz="1000" b="0" i="0" u="none" strike="noStrike" cap="none" normalizeH="0" baseline="0" dirty="0" err="1">
                <a:ln>
                  <a:noFill/>
                </a:ln>
                <a:solidFill>
                  <a:schemeClr val="bg2">
                    <a:lumMod val="50000"/>
                  </a:schemeClr>
                </a:solidFill>
                <a:effectLst/>
              </a:rPr>
              <a:t>Diabetes</a:t>
            </a:r>
            <a:r>
              <a:rPr kumimoji="0" lang="it-IT" altLang="it-IT" sz="1000" b="0" i="0" u="none" strike="noStrike" cap="none" normalizeH="0" baseline="0" dirty="0">
                <a:ln>
                  <a:noFill/>
                </a:ln>
                <a:solidFill>
                  <a:schemeClr val="bg2">
                    <a:lumMod val="50000"/>
                  </a:schemeClr>
                </a:solidFill>
                <a:effectLst/>
              </a:rPr>
              <a:t>")), y = </a:t>
            </a:r>
            <a:r>
              <a:rPr kumimoji="0" lang="it-IT" altLang="it-IT" sz="1000" b="0" i="0" u="none" strike="noStrike" cap="none" normalizeH="0" baseline="0" dirty="0" err="1">
                <a:ln>
                  <a:noFill/>
                </a:ln>
                <a:solidFill>
                  <a:schemeClr val="bg2">
                    <a:lumMod val="50000"/>
                  </a:schemeClr>
                </a:solidFill>
                <a:effectLst/>
              </a:rPr>
              <a:t>Glucose</a:t>
            </a:r>
            <a:r>
              <a:rPr kumimoji="0" lang="it-IT" altLang="it-IT" sz="1000" b="0" i="0" u="none" strike="noStrike" cap="none" normalizeH="0" baseline="0" dirty="0">
                <a:ln>
                  <a:noFill/>
                </a:ln>
                <a:solidFill>
                  <a:schemeClr val="bg2">
                    <a:lumMod val="50000"/>
                  </a:schemeClr>
                </a:solidFill>
                <a:effectLst/>
              </a:rPr>
              <a:t>, </a:t>
            </a:r>
            <a:r>
              <a:rPr kumimoji="0" lang="it-IT" altLang="it-IT" sz="1000" b="0" i="0" u="none" strike="noStrike" cap="none" normalizeH="0" baseline="0" dirty="0" err="1">
                <a:ln>
                  <a:noFill/>
                </a:ln>
                <a:solidFill>
                  <a:schemeClr val="bg2">
                    <a:lumMod val="50000"/>
                  </a:schemeClr>
                </a:solidFill>
                <a:effectLst/>
              </a:rPr>
              <a:t>fill</a:t>
            </a:r>
            <a:r>
              <a:rPr kumimoji="0" lang="it-IT" altLang="it-IT" sz="1000" b="0" i="0" u="none" strike="noStrike" cap="none" normalizeH="0" baseline="0" dirty="0">
                <a:ln>
                  <a:noFill/>
                </a:ln>
                <a:solidFill>
                  <a:schemeClr val="bg2">
                    <a:lumMod val="50000"/>
                  </a:schemeClr>
                </a:solidFill>
                <a:effectLst/>
              </a:rPr>
              <a:t> = </a:t>
            </a:r>
            <a:r>
              <a:rPr kumimoji="0" lang="it-IT" altLang="it-IT" sz="1000" b="0" i="0" u="none" strike="noStrike" cap="none" normalizeH="0" baseline="0" dirty="0" err="1">
                <a:ln>
                  <a:noFill/>
                </a:ln>
                <a:solidFill>
                  <a:schemeClr val="bg2">
                    <a:lumMod val="50000"/>
                  </a:schemeClr>
                </a:solidFill>
                <a:effectLst/>
              </a:rPr>
              <a:t>factor</a:t>
            </a:r>
            <a:r>
              <a:rPr kumimoji="0" lang="it-IT" altLang="it-IT" sz="1000" b="0" i="0" u="none" strike="noStrike" cap="none" normalizeH="0" baseline="0" dirty="0">
                <a:ln>
                  <a:noFill/>
                </a:ln>
                <a:solidFill>
                  <a:schemeClr val="bg2">
                    <a:lumMod val="50000"/>
                  </a:schemeClr>
                </a:solidFill>
                <a:effectLst/>
              </a:rPr>
              <a:t>(</a:t>
            </a:r>
            <a:r>
              <a:rPr kumimoji="0" lang="it-IT" altLang="it-IT" sz="1000" b="0" i="0" u="none" strike="noStrike" cap="none" normalizeH="0" baseline="0" dirty="0" err="1">
                <a:ln>
                  <a:noFill/>
                </a:ln>
                <a:solidFill>
                  <a:schemeClr val="bg2">
                    <a:lumMod val="50000"/>
                  </a:schemeClr>
                </a:solidFill>
                <a:effectLst/>
              </a:rPr>
              <a:t>Outcome</a:t>
            </a:r>
            <a:r>
              <a:rPr kumimoji="0" lang="it-IT" altLang="it-IT" sz="1000" b="0" i="0" u="none" strike="noStrike" cap="none" normalizeH="0" baseline="0" dirty="0">
                <a:ln>
                  <a:noFill/>
                </a:ln>
                <a:solidFill>
                  <a:schemeClr val="bg2">
                    <a:lumMod val="50000"/>
                  </a:schemeClr>
                </a:solidFill>
                <a:effectLst/>
              </a:rPr>
              <a:t>))) + </a:t>
            </a:r>
            <a:r>
              <a:rPr kumimoji="0" lang="it-IT" altLang="it-IT" sz="1000" b="0" i="0" u="none" strike="noStrike" cap="none" normalizeH="0" baseline="0" dirty="0" err="1">
                <a:ln>
                  <a:noFill/>
                </a:ln>
                <a:solidFill>
                  <a:schemeClr val="bg2">
                    <a:lumMod val="50000"/>
                  </a:schemeClr>
                </a:solidFill>
                <a:effectLst/>
              </a:rPr>
              <a:t>geom_boxplot</a:t>
            </a:r>
            <a:r>
              <a:rPr kumimoji="0" lang="it-IT" altLang="it-IT" sz="1000" b="0" i="0" u="none" strike="noStrike" cap="none" normalizeH="0" baseline="0" dirty="0">
                <a:ln>
                  <a:noFill/>
                </a:ln>
                <a:solidFill>
                  <a:schemeClr val="bg2">
                    <a:lumMod val="50000"/>
                  </a:schemeClr>
                </a:solidFill>
                <a:effectLst/>
              </a:rPr>
              <a:t>() + labs(</a:t>
            </a:r>
            <a:r>
              <a:rPr kumimoji="0" lang="it-IT" altLang="it-IT" sz="1000" b="0" i="0" u="none" strike="noStrike" cap="none" normalizeH="0" baseline="0" dirty="0" err="1">
                <a:ln>
                  <a:noFill/>
                </a:ln>
                <a:solidFill>
                  <a:schemeClr val="bg2">
                    <a:lumMod val="50000"/>
                  </a:schemeClr>
                </a:solidFill>
                <a:effectLst/>
              </a:rPr>
              <a:t>title</a:t>
            </a:r>
            <a:r>
              <a:rPr kumimoji="0" lang="it-IT" altLang="it-IT" sz="1000" b="0" i="0" u="none" strike="noStrike" cap="none" normalizeH="0" baseline="0" dirty="0">
                <a:ln>
                  <a:noFill/>
                </a:ln>
                <a:solidFill>
                  <a:schemeClr val="bg2">
                    <a:lumMod val="50000"/>
                  </a:schemeClr>
                </a:solidFill>
                <a:effectLst/>
              </a:rPr>
              <a:t> = "</a:t>
            </a:r>
            <a:r>
              <a:rPr kumimoji="0" lang="it-IT" altLang="it-IT" sz="1000" b="0" i="0" u="none" strike="noStrike" cap="none" normalizeH="0" baseline="0" dirty="0" err="1">
                <a:ln>
                  <a:noFill/>
                </a:ln>
                <a:solidFill>
                  <a:schemeClr val="bg2">
                    <a:lumMod val="50000"/>
                  </a:schemeClr>
                </a:solidFill>
                <a:effectLst/>
              </a:rPr>
              <a:t>Glucose</a:t>
            </a:r>
            <a:r>
              <a:rPr kumimoji="0" lang="it-IT" altLang="it-IT" sz="1000" b="0" i="0" u="none" strike="noStrike" cap="none" normalizeH="0" baseline="0" dirty="0">
                <a:ln>
                  <a:noFill/>
                </a:ln>
                <a:solidFill>
                  <a:schemeClr val="bg2">
                    <a:lumMod val="50000"/>
                  </a:schemeClr>
                </a:solidFill>
                <a:effectLst/>
              </a:rPr>
              <a:t> </a:t>
            </a:r>
            <a:r>
              <a:rPr kumimoji="0" lang="it-IT" altLang="it-IT" sz="1000" b="0" i="0" u="none" strike="noStrike" cap="none" normalizeH="0" baseline="0" dirty="0" err="1">
                <a:ln>
                  <a:noFill/>
                </a:ln>
                <a:solidFill>
                  <a:schemeClr val="bg2">
                    <a:lumMod val="50000"/>
                  </a:schemeClr>
                </a:solidFill>
                <a:effectLst/>
              </a:rPr>
              <a:t>Levels</a:t>
            </a:r>
            <a:r>
              <a:rPr kumimoji="0" lang="it-IT" altLang="it-IT" sz="1000" b="0" i="0" u="none" strike="noStrike" cap="none" normalizeH="0" baseline="0" dirty="0">
                <a:ln>
                  <a:noFill/>
                </a:ln>
                <a:solidFill>
                  <a:schemeClr val="bg2">
                    <a:lumMod val="50000"/>
                  </a:schemeClr>
                </a:solidFill>
                <a:effectLst/>
              </a:rPr>
              <a:t> by </a:t>
            </a:r>
            <a:r>
              <a:rPr kumimoji="0" lang="it-IT" altLang="it-IT" sz="1000" b="0" i="0" u="none" strike="noStrike" cap="none" normalizeH="0" baseline="0" dirty="0" err="1">
                <a:ln>
                  <a:noFill/>
                </a:ln>
                <a:solidFill>
                  <a:schemeClr val="bg2">
                    <a:lumMod val="50000"/>
                  </a:schemeClr>
                </a:solidFill>
                <a:effectLst/>
              </a:rPr>
              <a:t>Diabetes</a:t>
            </a:r>
            <a:r>
              <a:rPr kumimoji="0" lang="it-IT" altLang="it-IT" sz="1000" b="0" i="0" u="none" strike="noStrike" cap="none" normalizeH="0" baseline="0" dirty="0">
                <a:ln>
                  <a:noFill/>
                </a:ln>
                <a:solidFill>
                  <a:schemeClr val="bg2">
                    <a:lumMod val="50000"/>
                  </a:schemeClr>
                </a:solidFill>
                <a:effectLst/>
              </a:rPr>
              <a:t> </a:t>
            </a:r>
            <a:r>
              <a:rPr kumimoji="0" lang="it-IT" altLang="it-IT" sz="1000" b="0" i="0" u="none" strike="noStrike" cap="none" normalizeH="0" baseline="0" dirty="0" err="1">
                <a:ln>
                  <a:noFill/>
                </a:ln>
                <a:solidFill>
                  <a:schemeClr val="bg2">
                    <a:lumMod val="50000"/>
                  </a:schemeClr>
                </a:solidFill>
                <a:effectLst/>
              </a:rPr>
              <a:t>Outcome</a:t>
            </a:r>
            <a:r>
              <a:rPr kumimoji="0" lang="it-IT" altLang="it-IT" sz="1000" b="0" i="0" u="none" strike="noStrike" cap="none" normalizeH="0" baseline="0" dirty="0">
                <a:ln>
                  <a:noFill/>
                </a:ln>
                <a:solidFill>
                  <a:schemeClr val="bg2">
                    <a:lumMod val="50000"/>
                  </a:schemeClr>
                </a:solidFill>
                <a:effectLst/>
              </a:rPr>
              <a:t>", x = "", y = "</a:t>
            </a:r>
            <a:r>
              <a:rPr kumimoji="0" lang="it-IT" altLang="it-IT" sz="1000" b="0" i="0" u="none" strike="noStrike" cap="none" normalizeH="0" baseline="0" dirty="0" err="1">
                <a:ln>
                  <a:noFill/>
                </a:ln>
                <a:solidFill>
                  <a:schemeClr val="bg2">
                    <a:lumMod val="50000"/>
                  </a:schemeClr>
                </a:solidFill>
                <a:effectLst/>
              </a:rPr>
              <a:t>Glucose</a:t>
            </a:r>
            <a:r>
              <a:rPr kumimoji="0" lang="it-IT" altLang="it-IT" sz="1000" b="0" i="0" u="none" strike="noStrike" cap="none" normalizeH="0" baseline="0" dirty="0">
                <a:ln>
                  <a:noFill/>
                </a:ln>
                <a:solidFill>
                  <a:schemeClr val="bg2">
                    <a:lumMod val="50000"/>
                  </a:schemeClr>
                </a:solidFill>
                <a:effectLst/>
              </a:rPr>
              <a:t> (mg/</a:t>
            </a:r>
            <a:r>
              <a:rPr kumimoji="0" lang="it-IT" altLang="it-IT" sz="1000" b="0" i="0" u="none" strike="noStrike" cap="none" normalizeH="0" baseline="0" dirty="0" err="1">
                <a:ln>
                  <a:noFill/>
                </a:ln>
                <a:solidFill>
                  <a:schemeClr val="bg2">
                    <a:lumMod val="50000"/>
                  </a:schemeClr>
                </a:solidFill>
                <a:effectLst/>
              </a:rPr>
              <a:t>dL</a:t>
            </a:r>
            <a:r>
              <a:rPr kumimoji="0" lang="it-IT" altLang="it-IT" sz="1000" b="0" i="0" u="none" strike="noStrike" cap="none" normalizeH="0" baseline="0" dirty="0">
                <a:ln>
                  <a:noFill/>
                </a:ln>
                <a:solidFill>
                  <a:schemeClr val="bg2">
                    <a:lumMod val="50000"/>
                  </a:schemeClr>
                </a:solidFill>
                <a:effectLst/>
              </a:rPr>
              <a:t>)") + </a:t>
            </a:r>
            <a:r>
              <a:rPr kumimoji="0" lang="it-IT" altLang="it-IT" sz="1000" b="0" i="0" u="none" strike="noStrike" cap="none" normalizeH="0" baseline="0" dirty="0" err="1">
                <a:ln>
                  <a:noFill/>
                </a:ln>
                <a:solidFill>
                  <a:schemeClr val="bg2">
                    <a:lumMod val="50000"/>
                  </a:schemeClr>
                </a:solidFill>
                <a:effectLst/>
              </a:rPr>
              <a:t>theme_minimal</a:t>
            </a:r>
            <a:r>
              <a:rPr kumimoji="0" lang="it-IT" altLang="it-IT" sz="1000" b="0" i="0" u="none" strike="noStrike" cap="none" normalizeH="0" baseline="0" dirty="0">
                <a:ln>
                  <a:noFill/>
                </a:ln>
                <a:solidFill>
                  <a:schemeClr val="bg2">
                    <a:lumMod val="50000"/>
                  </a:schemeClr>
                </a:solidFill>
                <a:effectLst/>
              </a:rPr>
              <a:t>() + </a:t>
            </a:r>
            <a:r>
              <a:rPr kumimoji="0" lang="it-IT" altLang="it-IT" sz="1000" b="0" i="0" u="none" strike="noStrike" cap="none" normalizeH="0" baseline="0" dirty="0" err="1">
                <a:ln>
                  <a:noFill/>
                </a:ln>
                <a:solidFill>
                  <a:schemeClr val="bg2">
                    <a:lumMod val="50000"/>
                  </a:schemeClr>
                </a:solidFill>
                <a:effectLst/>
              </a:rPr>
              <a:t>theme</a:t>
            </a:r>
            <a:r>
              <a:rPr kumimoji="0" lang="it-IT" altLang="it-IT" sz="1000" b="0" i="0" u="none" strike="noStrike" cap="none" normalizeH="0" baseline="0" dirty="0">
                <a:ln>
                  <a:noFill/>
                </a:ln>
                <a:solidFill>
                  <a:schemeClr val="bg2">
                    <a:lumMod val="50000"/>
                  </a:schemeClr>
                </a:solidFill>
                <a:effectLst/>
              </a:rPr>
              <a:t>(</a:t>
            </a:r>
            <a:r>
              <a:rPr kumimoji="0" lang="it-IT" altLang="it-IT" sz="1000" b="0" i="0" u="none" strike="noStrike" cap="none" normalizeH="0" baseline="0" dirty="0" err="1">
                <a:ln>
                  <a:noFill/>
                </a:ln>
                <a:solidFill>
                  <a:schemeClr val="bg2">
                    <a:lumMod val="50000"/>
                  </a:schemeClr>
                </a:solidFill>
                <a:effectLst/>
              </a:rPr>
              <a:t>legend.position</a:t>
            </a:r>
            <a:r>
              <a:rPr kumimoji="0" lang="it-IT" altLang="it-IT" sz="1000" b="0" i="0" u="none" strike="noStrike" cap="none" normalizeH="0" baseline="0" dirty="0">
                <a:ln>
                  <a:noFill/>
                </a:ln>
                <a:solidFill>
                  <a:schemeClr val="bg2">
                    <a:lumMod val="50000"/>
                  </a:schemeClr>
                </a:solidFill>
                <a:effectLst/>
              </a:rPr>
              <a:t> = "none")</a:t>
            </a:r>
            <a:endParaRPr kumimoji="0" lang="it-IT" altLang="it-IT" sz="1800" b="0" i="0" u="none" strike="noStrike" cap="none" normalizeH="0" baseline="0" dirty="0">
              <a:ln>
                <a:noFill/>
              </a:ln>
              <a:solidFill>
                <a:schemeClr val="bg2">
                  <a:lumMod val="50000"/>
                </a:schemeClr>
              </a:solidFill>
              <a:effectLst/>
            </a:endParaRPr>
          </a:p>
        </p:txBody>
      </p:sp>
      <p:sp>
        <p:nvSpPr>
          <p:cNvPr id="11" name="Rectangle 3">
            <a:extLst>
              <a:ext uri="{FF2B5EF4-FFF2-40B4-BE49-F238E27FC236}">
                <a16:creationId xmlns:a16="http://schemas.microsoft.com/office/drawing/2014/main" id="{388DF054-210D-C2D8-C433-74AA4944AB1E}"/>
              </a:ext>
            </a:extLst>
          </p:cNvPr>
          <p:cNvSpPr>
            <a:spLocks noChangeArrowheads="1"/>
          </p:cNvSpPr>
          <p:nvPr/>
        </p:nvSpPr>
        <p:spPr bwMode="auto">
          <a:xfrm rot="10800000" flipV="1">
            <a:off x="9113520" y="6273224"/>
            <a:ext cx="2438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400" b="0" i="1" u="none" strike="noStrike" cap="none" normalizeH="0" baseline="0" dirty="0" err="1">
                <a:ln>
                  <a:noFill/>
                </a:ln>
                <a:solidFill>
                  <a:schemeClr val="bg2">
                    <a:lumMod val="50000"/>
                  </a:schemeClr>
                </a:solidFill>
                <a:effectLst/>
                <a:latin typeface="+mn-lt"/>
              </a:rPr>
              <a:t>t.test</a:t>
            </a:r>
            <a:r>
              <a:rPr kumimoji="0" lang="it-IT" altLang="it-IT" sz="1400" b="0" i="1" u="none" strike="noStrike" cap="none" normalizeH="0" baseline="0" dirty="0">
                <a:ln>
                  <a:noFill/>
                </a:ln>
                <a:solidFill>
                  <a:schemeClr val="bg2">
                    <a:lumMod val="50000"/>
                  </a:schemeClr>
                </a:solidFill>
                <a:effectLst/>
                <a:latin typeface="+mn-lt"/>
              </a:rPr>
              <a:t>(</a:t>
            </a:r>
            <a:r>
              <a:rPr kumimoji="0" lang="it-IT" altLang="it-IT" sz="1400" b="0" i="1" u="none" strike="noStrike" cap="none" normalizeH="0" baseline="0" dirty="0" err="1">
                <a:ln>
                  <a:noFill/>
                </a:ln>
                <a:solidFill>
                  <a:schemeClr val="bg2">
                    <a:lumMod val="50000"/>
                  </a:schemeClr>
                </a:solidFill>
                <a:effectLst/>
                <a:latin typeface="+mn-lt"/>
              </a:rPr>
              <a:t>Glucose</a:t>
            </a:r>
            <a:r>
              <a:rPr kumimoji="0" lang="it-IT" altLang="it-IT" sz="1400" b="0" i="1" u="none" strike="noStrike" cap="none" normalizeH="0" baseline="0" dirty="0">
                <a:ln>
                  <a:noFill/>
                </a:ln>
                <a:solidFill>
                  <a:schemeClr val="bg2">
                    <a:lumMod val="50000"/>
                  </a:schemeClr>
                </a:solidFill>
                <a:effectLst/>
                <a:latin typeface="+mn-lt"/>
              </a:rPr>
              <a:t> ~ </a:t>
            </a:r>
            <a:r>
              <a:rPr kumimoji="0" lang="it-IT" altLang="it-IT" sz="1400" b="0" i="1" u="none" strike="noStrike" cap="none" normalizeH="0" baseline="0" dirty="0" err="1">
                <a:ln>
                  <a:noFill/>
                </a:ln>
                <a:solidFill>
                  <a:schemeClr val="bg2">
                    <a:lumMod val="50000"/>
                  </a:schemeClr>
                </a:solidFill>
                <a:effectLst/>
                <a:latin typeface="+mn-lt"/>
              </a:rPr>
              <a:t>Outcome</a:t>
            </a:r>
            <a:r>
              <a:rPr kumimoji="0" lang="it-IT" altLang="it-IT" sz="1400" b="0" i="1" u="none" strike="noStrike" cap="none" normalizeH="0" baseline="0" dirty="0">
                <a:ln>
                  <a:noFill/>
                </a:ln>
                <a:solidFill>
                  <a:schemeClr val="bg2">
                    <a:lumMod val="50000"/>
                  </a:schemeClr>
                </a:solidFill>
                <a:effectLst/>
                <a:latin typeface="+mn-lt"/>
              </a:rPr>
              <a:t>, data = </a:t>
            </a:r>
            <a:r>
              <a:rPr kumimoji="0" lang="it-IT" altLang="it-IT" sz="1400" b="0" i="1" u="none" strike="noStrike" cap="none" normalizeH="0" baseline="0" dirty="0" err="1">
                <a:ln>
                  <a:noFill/>
                </a:ln>
                <a:solidFill>
                  <a:schemeClr val="bg2">
                    <a:lumMod val="50000"/>
                  </a:schemeClr>
                </a:solidFill>
                <a:effectLst/>
                <a:latin typeface="+mn-lt"/>
              </a:rPr>
              <a:t>diabetes</a:t>
            </a:r>
            <a:r>
              <a:rPr kumimoji="0" lang="it-IT" altLang="it-IT" sz="1400" b="0" i="1" u="none" strike="noStrike" cap="none" normalizeH="0" baseline="0" dirty="0">
                <a:ln>
                  <a:noFill/>
                </a:ln>
                <a:solidFill>
                  <a:schemeClr val="bg2">
                    <a:lumMod val="50000"/>
                  </a:schemeClr>
                </a:solidFill>
                <a:effectLst/>
                <a:latin typeface="+mn-lt"/>
              </a:rPr>
              <a:t>)</a:t>
            </a:r>
          </a:p>
        </p:txBody>
      </p:sp>
    </p:spTree>
    <p:extLst>
      <p:ext uri="{BB962C8B-B14F-4D97-AF65-F5344CB8AC3E}">
        <p14:creationId xmlns:p14="http://schemas.microsoft.com/office/powerpoint/2010/main" val="260654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dissolv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dissolve">
                                      <p:cBhvr>
                                        <p:cTn id="1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A18439E-437E-F88D-BA61-3D09BEC37D49}"/>
              </a:ext>
            </a:extLst>
          </p:cNvPr>
          <p:cNvSpPr>
            <a:spLocks noGrp="1"/>
          </p:cNvSpPr>
          <p:nvPr>
            <p:ph type="title"/>
          </p:nvPr>
        </p:nvSpPr>
        <p:spPr>
          <a:xfrm>
            <a:off x="640078" y="1099753"/>
            <a:ext cx="10890929" cy="1097280"/>
          </a:xfrm>
        </p:spPr>
        <p:txBody>
          <a:bodyPr/>
          <a:lstStyle/>
          <a:p>
            <a:r>
              <a:rPr lang="it-IT" dirty="0" err="1"/>
              <a:t>Pregnancies</a:t>
            </a:r>
            <a:r>
              <a:rPr lang="it-IT" dirty="0"/>
              <a:t> by </a:t>
            </a:r>
            <a:r>
              <a:rPr lang="it-IT" dirty="0" err="1"/>
              <a:t>Diabetes</a:t>
            </a:r>
            <a:r>
              <a:rPr lang="it-IT" dirty="0"/>
              <a:t> </a:t>
            </a:r>
            <a:r>
              <a:rPr lang="it-IT" dirty="0" err="1"/>
              <a:t>Outcome</a:t>
            </a:r>
            <a:endParaRPr lang="it-IT" dirty="0"/>
          </a:p>
        </p:txBody>
      </p:sp>
      <p:pic>
        <p:nvPicPr>
          <p:cNvPr id="8" name="Segnaposto contenuto 7" descr="Immagine che contiene testo, schermata, diagramma, linea&#10;&#10;Il contenuto generato dall'IA potrebbe non essere corretto.">
            <a:extLst>
              <a:ext uri="{FF2B5EF4-FFF2-40B4-BE49-F238E27FC236}">
                <a16:creationId xmlns:a16="http://schemas.microsoft.com/office/drawing/2014/main" id="{C08A8885-7F5A-8318-F445-B07D2B53D603}"/>
              </a:ext>
            </a:extLst>
          </p:cNvPr>
          <p:cNvPicPr>
            <a:picLocks noGrp="1" noChangeAspect="1"/>
          </p:cNvPicPr>
          <p:nvPr>
            <p:ph idx="1"/>
          </p:nvPr>
        </p:nvPicPr>
        <p:blipFill>
          <a:blip r:embed="rId3"/>
          <a:stretch>
            <a:fillRect/>
          </a:stretch>
        </p:blipFill>
        <p:spPr>
          <a:xfrm>
            <a:off x="854139" y="2103375"/>
            <a:ext cx="2523336" cy="3008283"/>
          </a:xfrm>
        </p:spPr>
      </p:pic>
      <p:pic>
        <p:nvPicPr>
          <p:cNvPr id="4" name="Immagine 3" descr="Immagine che contiene logo, simbolo, Carattere, Elementi grafici&#10;&#10;Il contenuto generato dall'IA potrebbe non essere corretto.">
            <a:extLst>
              <a:ext uri="{FF2B5EF4-FFF2-40B4-BE49-F238E27FC236}">
                <a16:creationId xmlns:a16="http://schemas.microsoft.com/office/drawing/2014/main" id="{A9C156C1-CF4B-8325-9892-96F033511A95}"/>
              </a:ext>
            </a:extLst>
          </p:cNvPr>
          <p:cNvPicPr>
            <a:picLocks noChangeAspect="1"/>
          </p:cNvPicPr>
          <p:nvPr/>
        </p:nvPicPr>
        <p:blipFill>
          <a:blip r:embed="rId4"/>
          <a:stretch>
            <a:fillRect/>
          </a:stretch>
        </p:blipFill>
        <p:spPr>
          <a:xfrm>
            <a:off x="11117811" y="5813266"/>
            <a:ext cx="413197" cy="386366"/>
          </a:xfrm>
          <a:prstGeom prst="rect">
            <a:avLst/>
          </a:prstGeom>
        </p:spPr>
      </p:pic>
      <p:sp>
        <p:nvSpPr>
          <p:cNvPr id="10" name="Rectangle 3">
            <a:extLst>
              <a:ext uri="{FF2B5EF4-FFF2-40B4-BE49-F238E27FC236}">
                <a16:creationId xmlns:a16="http://schemas.microsoft.com/office/drawing/2014/main" id="{D75CB11E-EA4B-8BA2-48D4-8C5CE9CEE5D7}"/>
              </a:ext>
            </a:extLst>
          </p:cNvPr>
          <p:cNvSpPr>
            <a:spLocks noChangeArrowheads="1"/>
          </p:cNvSpPr>
          <p:nvPr/>
        </p:nvSpPr>
        <p:spPr bwMode="auto">
          <a:xfrm>
            <a:off x="10162308" y="3177402"/>
            <a:ext cx="273739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it-IT" altLang="it-IT" sz="1000" i="1" dirty="0">
                <a:solidFill>
                  <a:schemeClr val="bg2">
                    <a:lumMod val="50000"/>
                  </a:schemeClr>
                </a:solidFill>
              </a:rPr>
              <a:t># </a:t>
            </a:r>
            <a:r>
              <a:rPr lang="it-IT" altLang="it-IT" sz="1000" i="1" dirty="0" err="1">
                <a:solidFill>
                  <a:schemeClr val="bg2">
                    <a:lumMod val="50000"/>
                  </a:schemeClr>
                </a:solidFill>
              </a:rPr>
              <a:t>Pregnancy</a:t>
            </a:r>
            <a:r>
              <a:rPr lang="it-IT" altLang="it-IT" sz="1000" i="1" dirty="0">
                <a:solidFill>
                  <a:schemeClr val="bg2">
                    <a:lumMod val="50000"/>
                  </a:schemeClr>
                </a:solidFill>
              </a:rPr>
              <a:t> groups</a:t>
            </a:r>
          </a:p>
          <a:p>
            <a:pPr lvl="0" defTabSz="914400" eaLnBrk="0" fontAlgn="base" hangingPunct="0">
              <a:spcBef>
                <a:spcPct val="0"/>
              </a:spcBef>
              <a:spcAft>
                <a:spcPct val="0"/>
              </a:spcAft>
            </a:pPr>
            <a:r>
              <a:rPr lang="it-IT" altLang="it-IT" sz="1000" i="1" dirty="0" err="1">
                <a:solidFill>
                  <a:schemeClr val="bg2">
                    <a:lumMod val="50000"/>
                  </a:schemeClr>
                </a:solidFill>
              </a:rPr>
              <a:t>diabetes$PregnancyGroup</a:t>
            </a:r>
            <a:r>
              <a:rPr lang="it-IT" altLang="it-IT" sz="1000" i="1" dirty="0">
                <a:solidFill>
                  <a:schemeClr val="bg2">
                    <a:lumMod val="50000"/>
                  </a:schemeClr>
                </a:solidFill>
              </a:rPr>
              <a:t> &lt;- </a:t>
            </a:r>
            <a:r>
              <a:rPr lang="it-IT" altLang="it-IT" sz="1000" i="1" dirty="0" err="1">
                <a:solidFill>
                  <a:schemeClr val="bg2">
                    <a:lumMod val="50000"/>
                  </a:schemeClr>
                </a:solidFill>
              </a:rPr>
              <a:t>cut</a:t>
            </a:r>
            <a:r>
              <a:rPr lang="it-IT" altLang="it-IT" sz="1000" i="1" dirty="0">
                <a:solidFill>
                  <a:schemeClr val="bg2">
                    <a:lumMod val="50000"/>
                  </a:schemeClr>
                </a:solidFill>
              </a:rPr>
              <a:t>(</a:t>
            </a:r>
          </a:p>
          <a:p>
            <a:pPr lvl="0" defTabSz="914400" eaLnBrk="0" fontAlgn="base" hangingPunct="0">
              <a:spcBef>
                <a:spcPct val="0"/>
              </a:spcBef>
              <a:spcAft>
                <a:spcPct val="0"/>
              </a:spcAft>
            </a:pPr>
            <a:r>
              <a:rPr lang="it-IT" altLang="it-IT" sz="1000" i="1" dirty="0">
                <a:solidFill>
                  <a:schemeClr val="bg2">
                    <a:lumMod val="50000"/>
                  </a:schemeClr>
                </a:solidFill>
              </a:rPr>
              <a:t>  </a:t>
            </a:r>
            <a:r>
              <a:rPr lang="it-IT" altLang="it-IT" sz="1000" i="1" dirty="0" err="1">
                <a:solidFill>
                  <a:schemeClr val="bg2">
                    <a:lumMod val="50000"/>
                  </a:schemeClr>
                </a:solidFill>
              </a:rPr>
              <a:t>diabetes$Pregnancies</a:t>
            </a:r>
            <a:r>
              <a:rPr lang="it-IT" altLang="it-IT" sz="1000" i="1" dirty="0">
                <a:solidFill>
                  <a:schemeClr val="bg2">
                    <a:lumMod val="50000"/>
                  </a:schemeClr>
                </a:solidFill>
              </a:rPr>
              <a:t>,</a:t>
            </a:r>
          </a:p>
          <a:p>
            <a:pPr lvl="0" defTabSz="914400" eaLnBrk="0" fontAlgn="base" hangingPunct="0">
              <a:spcBef>
                <a:spcPct val="0"/>
              </a:spcBef>
              <a:spcAft>
                <a:spcPct val="0"/>
              </a:spcAft>
            </a:pPr>
            <a:r>
              <a:rPr lang="it-IT" altLang="it-IT" sz="1000" i="1" dirty="0">
                <a:solidFill>
                  <a:schemeClr val="bg2">
                    <a:lumMod val="50000"/>
                  </a:schemeClr>
                </a:solidFill>
              </a:rPr>
              <a:t>  breaks = c(-1, 0, 2, 4, Inf),</a:t>
            </a:r>
          </a:p>
          <a:p>
            <a:pPr lvl="0" defTabSz="914400" eaLnBrk="0" fontAlgn="base" hangingPunct="0">
              <a:spcBef>
                <a:spcPct val="0"/>
              </a:spcBef>
              <a:spcAft>
                <a:spcPct val="0"/>
              </a:spcAft>
            </a:pPr>
            <a:r>
              <a:rPr lang="it-IT" altLang="it-IT" sz="1000" i="1" dirty="0">
                <a:solidFill>
                  <a:schemeClr val="bg2">
                    <a:lumMod val="50000"/>
                  </a:schemeClr>
                </a:solidFill>
              </a:rPr>
              <a:t>  labels = c("0", "1-2", "3-4", "5+")</a:t>
            </a:r>
          </a:p>
          <a:p>
            <a:pPr lvl="0" defTabSz="914400" eaLnBrk="0" fontAlgn="base" hangingPunct="0">
              <a:spcBef>
                <a:spcPct val="0"/>
              </a:spcBef>
              <a:spcAft>
                <a:spcPct val="0"/>
              </a:spcAft>
            </a:pPr>
            <a:r>
              <a:rPr lang="it-IT" altLang="it-IT" sz="1000" i="1" dirty="0">
                <a:solidFill>
                  <a:schemeClr val="bg2">
                    <a:lumMod val="50000"/>
                  </a:schemeClr>
                </a:solidFill>
              </a:rPr>
              <a:t>)</a:t>
            </a:r>
          </a:p>
          <a:p>
            <a:pPr lvl="0" defTabSz="914400" eaLnBrk="0" fontAlgn="base" hangingPunct="0">
              <a:spcBef>
                <a:spcPct val="0"/>
              </a:spcBef>
              <a:spcAft>
                <a:spcPct val="0"/>
              </a:spcAft>
            </a:pPr>
            <a:endParaRPr lang="it-IT" altLang="it-IT" sz="1000" i="1" dirty="0">
              <a:solidFill>
                <a:schemeClr val="bg2">
                  <a:lumMod val="50000"/>
                </a:schemeClr>
              </a:solidFill>
            </a:endParaRPr>
          </a:p>
          <a:p>
            <a:pPr lvl="0" defTabSz="914400" eaLnBrk="0" fontAlgn="base" hangingPunct="0">
              <a:spcBef>
                <a:spcPct val="0"/>
              </a:spcBef>
              <a:spcAft>
                <a:spcPct val="0"/>
              </a:spcAft>
            </a:pPr>
            <a:r>
              <a:rPr lang="it-IT" altLang="it-IT" sz="1000" i="1" dirty="0">
                <a:solidFill>
                  <a:schemeClr val="bg2">
                    <a:lumMod val="50000"/>
                  </a:schemeClr>
                </a:solidFill>
              </a:rPr>
              <a:t># </a:t>
            </a:r>
            <a:r>
              <a:rPr lang="it-IT" altLang="it-IT" sz="1000" i="1" dirty="0" err="1">
                <a:solidFill>
                  <a:schemeClr val="bg2">
                    <a:lumMod val="50000"/>
                  </a:schemeClr>
                </a:solidFill>
              </a:rPr>
              <a:t>Diabetes</a:t>
            </a:r>
            <a:r>
              <a:rPr lang="it-IT" altLang="it-IT" sz="1000" i="1" dirty="0">
                <a:solidFill>
                  <a:schemeClr val="bg2">
                    <a:lumMod val="50000"/>
                  </a:schemeClr>
                </a:solidFill>
              </a:rPr>
              <a:t> rates</a:t>
            </a:r>
          </a:p>
          <a:p>
            <a:pPr lvl="0" defTabSz="914400" eaLnBrk="0" fontAlgn="base" hangingPunct="0">
              <a:spcBef>
                <a:spcPct val="0"/>
              </a:spcBef>
              <a:spcAft>
                <a:spcPct val="0"/>
              </a:spcAft>
            </a:pPr>
            <a:r>
              <a:rPr lang="it-IT" altLang="it-IT" sz="1000" i="1" dirty="0" err="1">
                <a:solidFill>
                  <a:schemeClr val="bg2">
                    <a:lumMod val="50000"/>
                  </a:schemeClr>
                </a:solidFill>
              </a:rPr>
              <a:t>prop.table</a:t>
            </a:r>
            <a:r>
              <a:rPr lang="it-IT" altLang="it-IT" sz="1000" i="1" dirty="0">
                <a:solidFill>
                  <a:schemeClr val="bg2">
                    <a:lumMod val="50000"/>
                  </a:schemeClr>
                </a:solidFill>
              </a:rPr>
              <a:t>(</a:t>
            </a:r>
          </a:p>
          <a:p>
            <a:pPr lvl="0" defTabSz="914400" eaLnBrk="0" fontAlgn="base" hangingPunct="0">
              <a:spcBef>
                <a:spcPct val="0"/>
              </a:spcBef>
              <a:spcAft>
                <a:spcPct val="0"/>
              </a:spcAft>
            </a:pPr>
            <a:r>
              <a:rPr lang="it-IT" altLang="it-IT" sz="1000" i="1" dirty="0">
                <a:solidFill>
                  <a:schemeClr val="bg2">
                    <a:lumMod val="50000"/>
                  </a:schemeClr>
                </a:solidFill>
              </a:rPr>
              <a:t>  </a:t>
            </a:r>
            <a:r>
              <a:rPr lang="it-IT" altLang="it-IT" sz="1000" i="1" dirty="0" err="1">
                <a:solidFill>
                  <a:schemeClr val="bg2">
                    <a:lumMod val="50000"/>
                  </a:schemeClr>
                </a:solidFill>
              </a:rPr>
              <a:t>table</a:t>
            </a:r>
            <a:r>
              <a:rPr lang="it-IT" altLang="it-IT" sz="1000" i="1" dirty="0">
                <a:solidFill>
                  <a:schemeClr val="bg2">
                    <a:lumMod val="50000"/>
                  </a:schemeClr>
                </a:solidFill>
              </a:rPr>
              <a:t>(</a:t>
            </a:r>
            <a:r>
              <a:rPr lang="it-IT" altLang="it-IT" sz="1000" i="1" dirty="0" err="1">
                <a:solidFill>
                  <a:schemeClr val="bg2">
                    <a:lumMod val="50000"/>
                  </a:schemeClr>
                </a:solidFill>
              </a:rPr>
              <a:t>diabetes$PregnancyGroup</a:t>
            </a:r>
            <a:r>
              <a:rPr lang="it-IT" altLang="it-IT" sz="1000" i="1" dirty="0">
                <a:solidFill>
                  <a:schemeClr val="bg2">
                    <a:lumMod val="50000"/>
                  </a:schemeClr>
                </a:solidFill>
              </a:rPr>
              <a:t>,</a:t>
            </a:r>
          </a:p>
          <a:p>
            <a:pPr lvl="0" defTabSz="914400" eaLnBrk="0" fontAlgn="base" hangingPunct="0">
              <a:spcBef>
                <a:spcPct val="0"/>
              </a:spcBef>
              <a:spcAft>
                <a:spcPct val="0"/>
              </a:spcAft>
            </a:pPr>
            <a:r>
              <a:rPr lang="it-IT" altLang="it-IT" sz="1000" i="1" dirty="0">
                <a:solidFill>
                  <a:schemeClr val="bg2">
                    <a:lumMod val="50000"/>
                  </a:schemeClr>
                </a:solidFill>
              </a:rPr>
              <a:t>        </a:t>
            </a:r>
            <a:r>
              <a:rPr lang="it-IT" altLang="it-IT" sz="1000" i="1" dirty="0" err="1">
                <a:solidFill>
                  <a:schemeClr val="bg2">
                    <a:lumMod val="50000"/>
                  </a:schemeClr>
                </a:solidFill>
              </a:rPr>
              <a:t>diabetes$Outcome</a:t>
            </a:r>
            <a:r>
              <a:rPr lang="it-IT" altLang="it-IT" sz="1000" i="1" dirty="0">
                <a:solidFill>
                  <a:schemeClr val="bg2">
                    <a:lumMod val="50000"/>
                  </a:schemeClr>
                </a:solidFill>
              </a:rPr>
              <a:t>), 1</a:t>
            </a:r>
          </a:p>
          <a:p>
            <a:pPr lvl="0" defTabSz="914400" eaLnBrk="0" fontAlgn="base" hangingPunct="0">
              <a:spcBef>
                <a:spcPct val="0"/>
              </a:spcBef>
              <a:spcAft>
                <a:spcPct val="0"/>
              </a:spcAft>
            </a:pPr>
            <a:r>
              <a:rPr lang="it-IT" altLang="it-IT" sz="1000" i="1" dirty="0">
                <a:solidFill>
                  <a:schemeClr val="bg2">
                    <a:lumMod val="50000"/>
                  </a:schemeClr>
                </a:solidFill>
              </a:rPr>
              <a:t>)</a:t>
            </a:r>
          </a:p>
          <a:p>
            <a:pPr lvl="0" defTabSz="914400" eaLnBrk="0" fontAlgn="base" hangingPunct="0">
              <a:spcBef>
                <a:spcPct val="0"/>
              </a:spcBef>
              <a:spcAft>
                <a:spcPct val="0"/>
              </a:spcAft>
            </a:pPr>
            <a:endParaRPr lang="it-IT" altLang="it-IT" sz="1000" i="1" dirty="0">
              <a:solidFill>
                <a:schemeClr val="bg2">
                  <a:lumMod val="50000"/>
                </a:schemeClr>
              </a:solidFill>
            </a:endParaRPr>
          </a:p>
          <a:p>
            <a:pPr lvl="0" defTabSz="914400" eaLnBrk="0" fontAlgn="base" hangingPunct="0">
              <a:spcBef>
                <a:spcPct val="0"/>
              </a:spcBef>
              <a:spcAft>
                <a:spcPct val="0"/>
              </a:spcAft>
            </a:pPr>
            <a:r>
              <a:rPr lang="it-IT" altLang="it-IT" sz="1000" i="1" dirty="0">
                <a:solidFill>
                  <a:schemeClr val="bg2">
                    <a:lumMod val="50000"/>
                  </a:schemeClr>
                </a:solidFill>
              </a:rPr>
              <a:t># Group </a:t>
            </a:r>
            <a:r>
              <a:rPr lang="it-IT" altLang="it-IT" sz="1000" i="1" dirty="0" err="1">
                <a:solidFill>
                  <a:schemeClr val="bg2">
                    <a:lumMod val="50000"/>
                  </a:schemeClr>
                </a:solidFill>
              </a:rPr>
              <a:t>comparison</a:t>
            </a:r>
            <a:endParaRPr lang="it-IT" altLang="it-IT" sz="1000" i="1" dirty="0">
              <a:solidFill>
                <a:schemeClr val="bg2">
                  <a:lumMod val="50000"/>
                </a:schemeClr>
              </a:solidFill>
            </a:endParaRPr>
          </a:p>
          <a:p>
            <a:pPr lvl="0" defTabSz="914400" eaLnBrk="0" fontAlgn="base" hangingPunct="0">
              <a:spcBef>
                <a:spcPct val="0"/>
              </a:spcBef>
              <a:spcAft>
                <a:spcPct val="0"/>
              </a:spcAft>
            </a:pPr>
            <a:r>
              <a:rPr lang="it-IT" altLang="it-IT" sz="1000" i="1" dirty="0" err="1">
                <a:solidFill>
                  <a:schemeClr val="bg2">
                    <a:lumMod val="50000"/>
                  </a:schemeClr>
                </a:solidFill>
              </a:rPr>
              <a:t>t.test</a:t>
            </a:r>
            <a:r>
              <a:rPr lang="it-IT" altLang="it-IT" sz="1000" i="1" dirty="0">
                <a:solidFill>
                  <a:schemeClr val="bg2">
                    <a:lumMod val="50000"/>
                  </a:schemeClr>
                </a:solidFill>
              </a:rPr>
              <a:t>(</a:t>
            </a:r>
            <a:r>
              <a:rPr lang="it-IT" altLang="it-IT" sz="1000" i="1" dirty="0" err="1">
                <a:solidFill>
                  <a:schemeClr val="bg2">
                    <a:lumMod val="50000"/>
                  </a:schemeClr>
                </a:solidFill>
              </a:rPr>
              <a:t>Pregnancies</a:t>
            </a:r>
            <a:r>
              <a:rPr lang="it-IT" altLang="it-IT" sz="1000" i="1" dirty="0">
                <a:solidFill>
                  <a:schemeClr val="bg2">
                    <a:lumMod val="50000"/>
                  </a:schemeClr>
                </a:solidFill>
              </a:rPr>
              <a:t> ~ </a:t>
            </a:r>
            <a:r>
              <a:rPr lang="it-IT" altLang="it-IT" sz="1000" i="1" dirty="0" err="1">
                <a:solidFill>
                  <a:schemeClr val="bg2">
                    <a:lumMod val="50000"/>
                  </a:schemeClr>
                </a:solidFill>
              </a:rPr>
              <a:t>Outcome</a:t>
            </a:r>
            <a:r>
              <a:rPr lang="it-IT" altLang="it-IT" sz="1000" i="1" dirty="0">
                <a:solidFill>
                  <a:schemeClr val="bg2">
                    <a:lumMod val="50000"/>
                  </a:schemeClr>
                </a:solidFill>
              </a:rPr>
              <a:t>,</a:t>
            </a:r>
          </a:p>
          <a:p>
            <a:pPr lvl="0" defTabSz="914400" eaLnBrk="0" fontAlgn="base" hangingPunct="0">
              <a:spcBef>
                <a:spcPct val="0"/>
              </a:spcBef>
              <a:spcAft>
                <a:spcPct val="0"/>
              </a:spcAft>
            </a:pPr>
            <a:r>
              <a:rPr lang="it-IT" altLang="it-IT" sz="1000" i="1" dirty="0">
                <a:solidFill>
                  <a:schemeClr val="bg2">
                    <a:lumMod val="50000"/>
                  </a:schemeClr>
                </a:solidFill>
              </a:rPr>
              <a:t>       data = </a:t>
            </a:r>
            <a:r>
              <a:rPr lang="it-IT" altLang="it-IT" sz="1000" i="1" dirty="0" err="1">
                <a:solidFill>
                  <a:schemeClr val="bg2">
                    <a:lumMod val="50000"/>
                  </a:schemeClr>
                </a:solidFill>
              </a:rPr>
              <a:t>diabetes</a:t>
            </a:r>
            <a:r>
              <a:rPr lang="it-IT" altLang="it-IT" sz="1000" i="1" dirty="0">
                <a:solidFill>
                  <a:schemeClr val="bg2">
                    <a:lumMod val="50000"/>
                  </a:schemeClr>
                </a:solidFill>
              </a:rPr>
              <a:t>)</a:t>
            </a:r>
            <a:endParaRPr kumimoji="0" lang="it-IT" altLang="it-IT" sz="1000" b="0" i="1" u="none" strike="noStrike" cap="none" normalizeH="0" baseline="0" dirty="0">
              <a:ln>
                <a:noFill/>
              </a:ln>
              <a:solidFill>
                <a:schemeClr val="bg2">
                  <a:lumMod val="50000"/>
                </a:schemeClr>
              </a:solidFill>
              <a:effectLst/>
            </a:endParaRPr>
          </a:p>
        </p:txBody>
      </p:sp>
      <p:graphicFrame>
        <p:nvGraphicFramePr>
          <p:cNvPr id="3" name="Grafico 2">
            <a:extLst>
              <a:ext uri="{FF2B5EF4-FFF2-40B4-BE49-F238E27FC236}">
                <a16:creationId xmlns:a16="http://schemas.microsoft.com/office/drawing/2014/main" id="{9669A320-AB46-650E-0763-EB0789E96217}"/>
              </a:ext>
            </a:extLst>
          </p:cNvPr>
          <p:cNvGraphicFramePr/>
          <p:nvPr>
            <p:extLst>
              <p:ext uri="{D42A27DB-BD31-4B8C-83A1-F6EECF244321}">
                <p14:modId xmlns:p14="http://schemas.microsoft.com/office/powerpoint/2010/main" val="2527945334"/>
              </p:ext>
            </p:extLst>
          </p:nvPr>
        </p:nvGraphicFramePr>
        <p:xfrm>
          <a:off x="4604347" y="2010364"/>
          <a:ext cx="5699787" cy="3287963"/>
        </p:xfrm>
        <a:graphic>
          <a:graphicData uri="http://schemas.openxmlformats.org/drawingml/2006/chart">
            <c:chart xmlns:c="http://schemas.openxmlformats.org/drawingml/2006/chart" xmlns:r="http://schemas.openxmlformats.org/officeDocument/2006/relationships" r:id="rId5"/>
          </a:graphicData>
        </a:graphic>
      </p:graphicFrame>
      <p:sp>
        <p:nvSpPr>
          <p:cNvPr id="5" name="Rectangle 1">
            <a:extLst>
              <a:ext uri="{FF2B5EF4-FFF2-40B4-BE49-F238E27FC236}">
                <a16:creationId xmlns:a16="http://schemas.microsoft.com/office/drawing/2014/main" id="{B1AE49DB-887B-BFA1-1F70-6966B4D2C575}"/>
              </a:ext>
            </a:extLst>
          </p:cNvPr>
          <p:cNvSpPr>
            <a:spLocks noChangeArrowheads="1"/>
          </p:cNvSpPr>
          <p:nvPr/>
        </p:nvSpPr>
        <p:spPr bwMode="auto">
          <a:xfrm>
            <a:off x="495300" y="5375612"/>
            <a:ext cx="79756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1800" b="1" i="0" u="none" strike="noStrike" cap="none" normalizeH="0" baseline="0" dirty="0">
                <a:ln>
                  <a:noFill/>
                </a:ln>
                <a:solidFill>
                  <a:srgbClr val="000000"/>
                </a:solidFill>
                <a:effectLst/>
              </a:rPr>
              <a:t>Key </a:t>
            </a:r>
            <a:r>
              <a:rPr kumimoji="0" lang="it-IT" altLang="it-IT" sz="1800" b="1" i="0" u="none" strike="noStrike" cap="none" normalizeH="0" baseline="0" dirty="0" err="1">
                <a:ln>
                  <a:noFill/>
                </a:ln>
                <a:solidFill>
                  <a:srgbClr val="000000"/>
                </a:solidFill>
                <a:effectLst/>
              </a:rPr>
              <a:t>Findings</a:t>
            </a:r>
            <a:endParaRPr kumimoji="0" lang="it-IT" altLang="it-IT"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a:ln>
                  <a:noFill/>
                </a:ln>
                <a:solidFill>
                  <a:srgbClr val="000000"/>
                </a:solidFill>
                <a:effectLst/>
              </a:rPr>
              <a:t>Mean </a:t>
            </a:r>
            <a:r>
              <a:rPr kumimoji="0" lang="it-IT" altLang="it-IT" sz="1800" b="0" i="0" u="none" strike="noStrike" cap="none" normalizeH="0" baseline="0" dirty="0" err="1">
                <a:ln>
                  <a:noFill/>
                </a:ln>
                <a:solidFill>
                  <a:srgbClr val="000000"/>
                </a:solidFill>
                <a:effectLst/>
              </a:rPr>
              <a:t>pregnancies</a:t>
            </a:r>
            <a:r>
              <a:rPr kumimoji="0" lang="it-IT" altLang="it-IT" sz="1800" b="0" i="0" u="none" strike="noStrike" cap="none" normalizeH="0" baseline="0" dirty="0">
                <a:ln>
                  <a:noFill/>
                </a:ln>
                <a:solidFill>
                  <a:srgbClr val="000000"/>
                </a:solidFill>
                <a:effectLst/>
              </a:rPr>
              <a:t>: </a:t>
            </a:r>
            <a:r>
              <a:rPr kumimoji="0" lang="it-IT" altLang="it-IT" sz="1800" b="1" i="0" u="none" strike="noStrike" cap="none" normalizeH="0" baseline="0" dirty="0">
                <a:ln>
                  <a:noFill/>
                </a:ln>
                <a:solidFill>
                  <a:srgbClr val="000000"/>
                </a:solidFill>
                <a:effectLst/>
              </a:rPr>
              <a:t>4.87 vs 3.30</a:t>
            </a:r>
            <a:endParaRPr kumimoji="0" lang="it-IT" altLang="it-IT" sz="1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1" i="0" u="none" strike="noStrike" cap="none" normalizeH="0" baseline="0" dirty="0" err="1">
                <a:ln>
                  <a:noFill/>
                </a:ln>
                <a:solidFill>
                  <a:srgbClr val="000000"/>
                </a:solidFill>
                <a:effectLst/>
              </a:rPr>
              <a:t>Significant</a:t>
            </a:r>
            <a:r>
              <a:rPr kumimoji="0" lang="it-IT" altLang="it-IT" sz="1800" b="1" i="0" u="none" strike="noStrike" cap="none" normalizeH="0" baseline="0" dirty="0">
                <a:ln>
                  <a:noFill/>
                </a:ln>
                <a:solidFill>
                  <a:srgbClr val="000000"/>
                </a:solidFill>
                <a:effectLst/>
              </a:rPr>
              <a:t> </a:t>
            </a:r>
            <a:r>
              <a:rPr kumimoji="0" lang="it-IT" altLang="it-IT" sz="1800" b="1" i="0" u="none" strike="noStrike" cap="none" normalizeH="0" baseline="0" dirty="0" err="1">
                <a:ln>
                  <a:noFill/>
                </a:ln>
                <a:solidFill>
                  <a:srgbClr val="000000"/>
                </a:solidFill>
                <a:effectLst/>
              </a:rPr>
              <a:t>difference</a:t>
            </a:r>
            <a:r>
              <a:rPr kumimoji="0" lang="it-IT" altLang="it-IT" sz="1800" b="1" i="0" u="none" strike="noStrike" cap="none" normalizeH="0" baseline="0" dirty="0">
                <a:ln>
                  <a:noFill/>
                </a:ln>
                <a:solidFill>
                  <a:srgbClr val="000000"/>
                </a:solidFill>
                <a:effectLst/>
              </a:rPr>
              <a:t> (</a:t>
            </a:r>
            <a:r>
              <a:rPr kumimoji="0" lang="it-IT" altLang="it-IT" sz="1800" b="1" i="0" u="none" strike="noStrike" cap="none" normalizeH="0" baseline="0" dirty="0" err="1">
                <a:ln>
                  <a:noFill/>
                </a:ln>
                <a:solidFill>
                  <a:srgbClr val="000000"/>
                </a:solidFill>
                <a:effectLst/>
              </a:rPr>
              <a:t>p</a:t>
            </a:r>
            <a:r>
              <a:rPr kumimoji="0" lang="it-IT" altLang="it-IT" sz="1800" b="1" i="0" u="none" strike="noStrike" cap="none" normalizeH="0" baseline="0" dirty="0">
                <a:ln>
                  <a:noFill/>
                </a:ln>
                <a:solidFill>
                  <a:srgbClr val="000000"/>
                </a:solidFill>
                <a:effectLst/>
              </a:rPr>
              <a:t> &lt; 0.001)</a:t>
            </a:r>
            <a:endParaRPr kumimoji="0" lang="it-IT" altLang="it-IT" sz="1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800" b="0" i="0" u="none" strike="noStrike" cap="none" normalizeH="0" baseline="0" dirty="0" err="1">
                <a:ln>
                  <a:noFill/>
                </a:ln>
                <a:solidFill>
                  <a:srgbClr val="000000"/>
                </a:solidFill>
                <a:effectLst/>
              </a:rPr>
              <a:t>Highest</a:t>
            </a:r>
            <a:r>
              <a:rPr kumimoji="0" lang="it-IT" altLang="it-IT" sz="1800" b="0" i="0" u="none" strike="noStrike" cap="none" normalizeH="0" baseline="0" dirty="0">
                <a:ln>
                  <a:noFill/>
                </a:ln>
                <a:solidFill>
                  <a:srgbClr val="000000"/>
                </a:solidFill>
                <a:effectLst/>
              </a:rPr>
              <a:t> </a:t>
            </a:r>
            <a:r>
              <a:rPr kumimoji="0" lang="it-IT" altLang="it-IT" sz="1800" b="0" i="0" u="none" strike="noStrike" cap="none" normalizeH="0" baseline="0" dirty="0" err="1">
                <a:ln>
                  <a:noFill/>
                </a:ln>
                <a:solidFill>
                  <a:srgbClr val="000000"/>
                </a:solidFill>
                <a:effectLst/>
              </a:rPr>
              <a:t>diabetes</a:t>
            </a:r>
            <a:r>
              <a:rPr kumimoji="0" lang="it-IT" altLang="it-IT" sz="1800" b="0" i="0" u="none" strike="noStrike" cap="none" normalizeH="0" baseline="0" dirty="0">
                <a:ln>
                  <a:noFill/>
                </a:ln>
                <a:solidFill>
                  <a:srgbClr val="000000"/>
                </a:solidFill>
                <a:effectLst/>
              </a:rPr>
              <a:t> rate in </a:t>
            </a:r>
            <a:r>
              <a:rPr kumimoji="0" lang="it-IT" altLang="it-IT" sz="1800" b="1" i="0" u="none" strike="noStrike" cap="none" normalizeH="0" baseline="0" dirty="0">
                <a:ln>
                  <a:noFill/>
                </a:ln>
                <a:solidFill>
                  <a:srgbClr val="000000"/>
                </a:solidFill>
                <a:effectLst/>
              </a:rPr>
              <a:t>5+ </a:t>
            </a:r>
            <a:r>
              <a:rPr kumimoji="0" lang="it-IT" altLang="it-IT" sz="18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pregnancies</a:t>
            </a:r>
            <a:r>
              <a:rPr kumimoji="0" lang="it-IT" altLang="it-IT" sz="1800" b="1" i="0" u="none" strike="noStrike" cap="none" normalizeH="0" baseline="0" dirty="0">
                <a:ln>
                  <a:noFill/>
                </a:ln>
                <a:solidFill>
                  <a:srgbClr val="000000"/>
                </a:solidFill>
                <a:effectLst/>
              </a:rPr>
              <a:t> (47.8%)</a:t>
            </a:r>
            <a:endParaRPr kumimoji="0" lang="it-IT" altLang="it-IT" sz="1800" b="0" i="0" u="none" strike="noStrike" cap="none" normalizeH="0" baseline="0" dirty="0">
              <a:ln>
                <a:noFill/>
              </a:ln>
              <a:solidFill>
                <a:srgbClr val="00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79521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olo 1">
            <a:extLst>
              <a:ext uri="{FF2B5EF4-FFF2-40B4-BE49-F238E27FC236}">
                <a16:creationId xmlns:a16="http://schemas.microsoft.com/office/drawing/2014/main" id="{C537433E-B845-4C30-FD94-BA51BD9DFF76}"/>
              </a:ext>
            </a:extLst>
          </p:cNvPr>
          <p:cNvSpPr>
            <a:spLocks noGrp="1"/>
          </p:cNvSpPr>
          <p:nvPr>
            <p:ph type="title"/>
          </p:nvPr>
        </p:nvSpPr>
        <p:spPr>
          <a:xfrm>
            <a:off x="320040" y="365919"/>
            <a:ext cx="4306824" cy="1477817"/>
          </a:xfrm>
        </p:spPr>
        <p:txBody>
          <a:bodyPr vert="horz" lIns="91440" tIns="45720" rIns="91440" bIns="45720" rtlCol="0" anchor="t">
            <a:normAutofit/>
          </a:bodyPr>
          <a:lstStyle/>
          <a:p>
            <a:r>
              <a:rPr lang="en-US" dirty="0"/>
              <a:t>Correlation Matrix</a:t>
            </a:r>
          </a:p>
        </p:txBody>
      </p:sp>
      <p:cxnSp>
        <p:nvCxnSpPr>
          <p:cNvPr id="20" name="Straight Connector 19">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asellaDiTesto 3">
            <a:extLst>
              <a:ext uri="{FF2B5EF4-FFF2-40B4-BE49-F238E27FC236}">
                <a16:creationId xmlns:a16="http://schemas.microsoft.com/office/drawing/2014/main" id="{56EB0B2B-CEFC-D970-8E1F-8426E01D1F06}"/>
              </a:ext>
            </a:extLst>
          </p:cNvPr>
          <p:cNvSpPr txBox="1"/>
          <p:nvPr/>
        </p:nvSpPr>
        <p:spPr>
          <a:xfrm>
            <a:off x="6096000" y="1995140"/>
            <a:ext cx="5944025" cy="5820651"/>
          </a:xfrm>
          <a:prstGeom prst="rect">
            <a:avLst/>
          </a:prstGeom>
        </p:spPr>
        <p:txBody>
          <a:bodyPr vert="horz" lIns="91440" tIns="45720" rIns="91440" bIns="45720" rtlCol="0">
            <a:normAutofit/>
          </a:bodyPr>
          <a:lstStyle/>
          <a:p>
            <a:pPr defTabSz="914400">
              <a:lnSpc>
                <a:spcPct val="120000"/>
              </a:lnSpc>
              <a:spcAft>
                <a:spcPts val="600"/>
              </a:spcAft>
              <a:buSzPct val="87000"/>
            </a:pPr>
            <a:r>
              <a:rPr lang="en-US" sz="1600" b="1" dirty="0">
                <a:latin typeface="Arial" panose="020B0604020202020204" pitchFamily="34" charset="0"/>
                <a:cs typeface="Arial" panose="020B0604020202020204" pitchFamily="34" charset="0"/>
              </a:rPr>
              <a:t> Key Findings</a:t>
            </a:r>
          </a:p>
          <a:p>
            <a:pPr defTabSz="914400">
              <a:lnSpc>
                <a:spcPct val="120000"/>
              </a:lnSpc>
              <a:spcAft>
                <a:spcPts val="600"/>
              </a:spcAft>
              <a:buSzPct val="87000"/>
              <a:buFont typeface="Arial" panose="020B0604020202020204" pitchFamily="34" charset="0"/>
              <a:buChar char="•"/>
            </a:pPr>
            <a:r>
              <a:rPr lang="en-US" sz="1600" dirty="0">
                <a:latin typeface="Arial" panose="020B0604020202020204" pitchFamily="34" charset="0"/>
                <a:cs typeface="Arial" panose="020B0604020202020204" pitchFamily="34" charset="0"/>
              </a:rPr>
              <a:t>Glucose shows the strongest positive association with Outcome.</a:t>
            </a:r>
          </a:p>
          <a:p>
            <a:pPr defTabSz="914400">
              <a:lnSpc>
                <a:spcPct val="120000"/>
              </a:lnSpc>
              <a:spcAft>
                <a:spcPts val="600"/>
              </a:spcAft>
              <a:buSzPct val="87000"/>
              <a:buFont typeface="Arial" panose="020B0604020202020204" pitchFamily="34" charset="0"/>
              <a:buChar char="•"/>
            </a:pPr>
            <a:r>
              <a:rPr lang="en-US" sz="1600" dirty="0">
                <a:latin typeface="Arial" panose="020B0604020202020204" pitchFamily="34" charset="0"/>
                <a:cs typeface="Arial" panose="020B0604020202020204" pitchFamily="34" charset="0"/>
              </a:rPr>
              <a:t>BMI and Age exhibit moderate positive relationships.</a:t>
            </a:r>
          </a:p>
          <a:p>
            <a:pPr defTabSz="914400">
              <a:lnSpc>
                <a:spcPct val="120000"/>
              </a:lnSpc>
              <a:spcAft>
                <a:spcPts val="600"/>
              </a:spcAft>
              <a:buSzPct val="87000"/>
              <a:buFont typeface="Arial" panose="020B0604020202020204" pitchFamily="34" charset="0"/>
              <a:buChar char="•"/>
            </a:pPr>
            <a:r>
              <a:rPr lang="en-US" sz="1600" dirty="0">
                <a:latin typeface="Arial" panose="020B0604020202020204" pitchFamily="34" charset="0"/>
                <a:cs typeface="Arial" panose="020B0604020202020204" pitchFamily="34" charset="0"/>
              </a:rPr>
              <a:t> No strong correlations (&gt;0.70) were observed, indicating low multicollinearity among predictors.</a:t>
            </a:r>
          </a:p>
          <a:p>
            <a:pPr defTabSz="914400">
              <a:lnSpc>
                <a:spcPct val="120000"/>
              </a:lnSpc>
              <a:spcAft>
                <a:spcPts val="600"/>
              </a:spcAft>
              <a:buSzPct val="87000"/>
              <a:buFont typeface="Arial" panose="020B0604020202020204" pitchFamily="34" charset="0"/>
              <a:buChar char="•"/>
            </a:pPr>
            <a:endParaRPr lang="en-US" dirty="0"/>
          </a:p>
        </p:txBody>
      </p:sp>
      <p:graphicFrame>
        <p:nvGraphicFramePr>
          <p:cNvPr id="7" name="Grafico 6">
            <a:extLst>
              <a:ext uri="{FF2B5EF4-FFF2-40B4-BE49-F238E27FC236}">
                <a16:creationId xmlns:a16="http://schemas.microsoft.com/office/drawing/2014/main" id="{263A5DCD-03C3-B099-C8EA-B5BEE07203DD}"/>
              </a:ext>
            </a:extLst>
          </p:cNvPr>
          <p:cNvGraphicFramePr/>
          <p:nvPr>
            <p:extLst>
              <p:ext uri="{D42A27DB-BD31-4B8C-83A1-F6EECF244321}">
                <p14:modId xmlns:p14="http://schemas.microsoft.com/office/powerpoint/2010/main" val="1867182424"/>
              </p:ext>
            </p:extLst>
          </p:nvPr>
        </p:nvGraphicFramePr>
        <p:xfrm>
          <a:off x="54496" y="1323710"/>
          <a:ext cx="6041504" cy="3390901"/>
        </p:xfrm>
        <a:graphic>
          <a:graphicData uri="http://schemas.openxmlformats.org/drawingml/2006/chart">
            <c:chart xmlns:c="http://schemas.openxmlformats.org/drawingml/2006/chart" xmlns:r="http://schemas.openxmlformats.org/officeDocument/2006/relationships" r:id="rId3"/>
          </a:graphicData>
        </a:graphic>
      </p:graphicFrame>
      <p:sp>
        <p:nvSpPr>
          <p:cNvPr id="9" name="CasellaDiTesto 8">
            <a:extLst>
              <a:ext uri="{FF2B5EF4-FFF2-40B4-BE49-F238E27FC236}">
                <a16:creationId xmlns:a16="http://schemas.microsoft.com/office/drawing/2014/main" id="{89CF83FC-FD13-AA70-F4B7-252407790997}"/>
              </a:ext>
            </a:extLst>
          </p:cNvPr>
          <p:cNvSpPr txBox="1"/>
          <p:nvPr/>
        </p:nvSpPr>
        <p:spPr>
          <a:xfrm>
            <a:off x="8420100" y="5778500"/>
            <a:ext cx="2425700" cy="738664"/>
          </a:xfrm>
          <a:prstGeom prst="rect">
            <a:avLst/>
          </a:prstGeom>
          <a:noFill/>
        </p:spPr>
        <p:txBody>
          <a:bodyPr wrap="square" rtlCol="0">
            <a:spAutoFit/>
          </a:bodyPr>
          <a:lstStyle/>
          <a:p>
            <a:r>
              <a:rPr lang="it-IT" sz="1400" i="1" dirty="0" err="1">
                <a:solidFill>
                  <a:schemeClr val="bg2">
                    <a:lumMod val="50000"/>
                  </a:schemeClr>
                </a:solidFill>
              </a:rPr>
              <a:t>cor_matrix</a:t>
            </a:r>
            <a:r>
              <a:rPr lang="it-IT" sz="1400" i="1" dirty="0">
                <a:solidFill>
                  <a:schemeClr val="bg2">
                    <a:lumMod val="50000"/>
                  </a:schemeClr>
                </a:solidFill>
              </a:rPr>
              <a:t> &lt;- </a:t>
            </a:r>
            <a:r>
              <a:rPr lang="it-IT" sz="1400" i="1" dirty="0" err="1">
                <a:solidFill>
                  <a:schemeClr val="bg2">
                    <a:lumMod val="50000"/>
                  </a:schemeClr>
                </a:solidFill>
              </a:rPr>
              <a:t>cor</a:t>
            </a:r>
            <a:r>
              <a:rPr lang="it-IT" sz="1400" i="1" dirty="0">
                <a:solidFill>
                  <a:schemeClr val="bg2">
                    <a:lumMod val="50000"/>
                  </a:schemeClr>
                </a:solidFill>
              </a:rPr>
              <a:t>(</a:t>
            </a:r>
            <a:r>
              <a:rPr lang="it-IT" sz="1400" i="1" dirty="0" err="1">
                <a:solidFill>
                  <a:schemeClr val="bg2">
                    <a:lumMod val="50000"/>
                  </a:schemeClr>
                </a:solidFill>
              </a:rPr>
              <a:t>diabetes</a:t>
            </a:r>
            <a:r>
              <a:rPr lang="it-IT" sz="1400" i="1" dirty="0">
                <a:solidFill>
                  <a:schemeClr val="bg2">
                    <a:lumMod val="50000"/>
                  </a:schemeClr>
                </a:solidFill>
              </a:rPr>
              <a:t>)</a:t>
            </a:r>
          </a:p>
          <a:p>
            <a:endParaRPr lang="it-IT" sz="1400" i="1" dirty="0">
              <a:solidFill>
                <a:schemeClr val="bg2">
                  <a:lumMod val="50000"/>
                </a:schemeClr>
              </a:solidFill>
            </a:endParaRPr>
          </a:p>
          <a:p>
            <a:r>
              <a:rPr lang="it-IT" sz="1400" i="1" dirty="0">
                <a:solidFill>
                  <a:schemeClr val="bg2">
                    <a:lumMod val="50000"/>
                  </a:schemeClr>
                </a:solidFill>
              </a:rPr>
              <a:t>round(</a:t>
            </a:r>
            <a:r>
              <a:rPr lang="it-IT" sz="1400" i="1" dirty="0" err="1">
                <a:solidFill>
                  <a:schemeClr val="bg2">
                    <a:lumMod val="50000"/>
                  </a:schemeClr>
                </a:solidFill>
              </a:rPr>
              <a:t>cor_matrix</a:t>
            </a:r>
            <a:r>
              <a:rPr lang="it-IT" sz="1400" i="1" dirty="0">
                <a:solidFill>
                  <a:schemeClr val="bg2">
                    <a:lumMod val="50000"/>
                  </a:schemeClr>
                </a:solidFill>
              </a:rPr>
              <a:t>, 2)</a:t>
            </a:r>
          </a:p>
        </p:txBody>
      </p:sp>
      <p:pic>
        <p:nvPicPr>
          <p:cNvPr id="10" name="Immagine 9" descr="Immagine che contiene logo, simbolo, Carattere, Elementi grafici&#10;&#10;Il contenuto generato dall'IA potrebbe non essere corretto.">
            <a:extLst>
              <a:ext uri="{FF2B5EF4-FFF2-40B4-BE49-F238E27FC236}">
                <a16:creationId xmlns:a16="http://schemas.microsoft.com/office/drawing/2014/main" id="{6C0E8152-1C45-0A05-154C-7B774CBA1419}"/>
              </a:ext>
            </a:extLst>
          </p:cNvPr>
          <p:cNvPicPr>
            <a:picLocks noChangeAspect="1"/>
          </p:cNvPicPr>
          <p:nvPr/>
        </p:nvPicPr>
        <p:blipFill>
          <a:blip r:embed="rId4"/>
          <a:stretch>
            <a:fillRect/>
          </a:stretch>
        </p:blipFill>
        <p:spPr>
          <a:xfrm>
            <a:off x="11194541" y="6023842"/>
            <a:ext cx="413197" cy="386366"/>
          </a:xfrm>
          <a:prstGeom prst="rect">
            <a:avLst/>
          </a:prstGeom>
        </p:spPr>
      </p:pic>
      <p:sp>
        <p:nvSpPr>
          <p:cNvPr id="5" name="CasellaDiTesto 4">
            <a:extLst>
              <a:ext uri="{FF2B5EF4-FFF2-40B4-BE49-F238E27FC236}">
                <a16:creationId xmlns:a16="http://schemas.microsoft.com/office/drawing/2014/main" id="{3F02BE0C-6937-B45D-CE1F-FA85CEEC84C7}"/>
              </a:ext>
            </a:extLst>
          </p:cNvPr>
          <p:cNvSpPr txBox="1"/>
          <p:nvPr/>
        </p:nvSpPr>
        <p:spPr>
          <a:xfrm>
            <a:off x="320040" y="5316655"/>
            <a:ext cx="6100996" cy="646331"/>
          </a:xfrm>
          <a:prstGeom prst="rect">
            <a:avLst/>
          </a:prstGeom>
          <a:noFill/>
        </p:spPr>
        <p:txBody>
          <a:bodyPr wrap="square">
            <a:spAutoFit/>
          </a:bodyPr>
          <a:lstStyle/>
          <a:p>
            <a:r>
              <a:rPr lang="it-IT" b="0" i="0" u="none" strike="noStrike" dirty="0">
                <a:solidFill>
                  <a:srgbClr val="000000"/>
                </a:solidFill>
                <a:effectLst/>
                <a:latin typeface="-webkit-standard"/>
              </a:rPr>
              <a:t>The </a:t>
            </a:r>
            <a:r>
              <a:rPr lang="it-IT" b="0" i="0" u="none" strike="noStrike" dirty="0" err="1">
                <a:solidFill>
                  <a:srgbClr val="000000"/>
                </a:solidFill>
                <a:effectLst/>
                <a:latin typeface="-webkit-standard"/>
              </a:rPr>
              <a:t>correlation</a:t>
            </a:r>
            <a:r>
              <a:rPr lang="it-IT" b="0" i="0" u="none" strike="noStrike" dirty="0">
                <a:solidFill>
                  <a:srgbClr val="000000"/>
                </a:solidFill>
                <a:effectLst/>
                <a:latin typeface="-webkit-standard"/>
              </a:rPr>
              <a:t> </a:t>
            </a:r>
            <a:r>
              <a:rPr lang="it-IT" b="0" i="0" u="none" strike="noStrike" dirty="0" err="1">
                <a:solidFill>
                  <a:srgbClr val="000000"/>
                </a:solidFill>
                <a:effectLst/>
                <a:latin typeface="-webkit-standard"/>
              </a:rPr>
              <a:t>analysis</a:t>
            </a:r>
            <a:r>
              <a:rPr lang="it-IT" b="0" i="0" u="none" strike="noStrike" dirty="0">
                <a:solidFill>
                  <a:srgbClr val="000000"/>
                </a:solidFill>
                <a:effectLst/>
                <a:latin typeface="-webkit-standard"/>
              </a:rPr>
              <a:t> </a:t>
            </a:r>
            <a:r>
              <a:rPr lang="it-IT" b="0" i="0" u="none" strike="noStrike" dirty="0" err="1">
                <a:solidFill>
                  <a:srgbClr val="000000"/>
                </a:solidFill>
                <a:effectLst/>
                <a:latin typeface="-webkit-standard"/>
              </a:rPr>
              <a:t>provides</a:t>
            </a:r>
            <a:r>
              <a:rPr lang="it-IT" b="0" i="0" u="none" strike="noStrike" dirty="0">
                <a:solidFill>
                  <a:srgbClr val="000000"/>
                </a:solidFill>
                <a:effectLst/>
                <a:latin typeface="-webkit-standard"/>
              </a:rPr>
              <a:t> the </a:t>
            </a:r>
            <a:r>
              <a:rPr lang="it-IT" b="0" i="0" u="none" strike="noStrike" dirty="0" err="1">
                <a:solidFill>
                  <a:srgbClr val="000000"/>
                </a:solidFill>
                <a:effectLst/>
                <a:latin typeface="-webkit-standard"/>
              </a:rPr>
              <a:t>basis</a:t>
            </a:r>
            <a:r>
              <a:rPr lang="it-IT" b="0" i="0" u="none" strike="noStrike" dirty="0">
                <a:solidFill>
                  <a:srgbClr val="000000"/>
                </a:solidFill>
                <a:effectLst/>
                <a:latin typeface="-webkit-standard"/>
              </a:rPr>
              <a:t> for the </a:t>
            </a:r>
            <a:r>
              <a:rPr lang="it-IT" b="0" i="0" u="none" strike="noStrike" dirty="0" err="1">
                <a:solidFill>
                  <a:srgbClr val="000000"/>
                </a:solidFill>
                <a:effectLst/>
                <a:latin typeface="-webkit-standard"/>
              </a:rPr>
              <a:t>regression</a:t>
            </a:r>
            <a:r>
              <a:rPr lang="it-IT" b="0" i="0" u="none" strike="noStrike" dirty="0">
                <a:solidFill>
                  <a:srgbClr val="000000"/>
                </a:solidFill>
                <a:effectLst/>
                <a:latin typeface="-webkit-standard"/>
              </a:rPr>
              <a:t> models </a:t>
            </a:r>
            <a:r>
              <a:rPr lang="it-IT" b="0" i="0" u="none" strike="noStrike" dirty="0" err="1">
                <a:solidFill>
                  <a:srgbClr val="000000"/>
                </a:solidFill>
                <a:effectLst/>
                <a:latin typeface="-webkit-standard"/>
              </a:rPr>
              <a:t>presented</a:t>
            </a:r>
            <a:r>
              <a:rPr lang="it-IT" b="0" i="0" u="none" strike="noStrike" dirty="0">
                <a:solidFill>
                  <a:srgbClr val="000000"/>
                </a:solidFill>
                <a:effectLst/>
                <a:latin typeface="-webkit-standard"/>
              </a:rPr>
              <a:t> </a:t>
            </a:r>
            <a:r>
              <a:rPr lang="it-IT" b="0" i="0" u="none" strike="noStrike" dirty="0" err="1">
                <a:solidFill>
                  <a:srgbClr val="000000"/>
                </a:solidFill>
                <a:effectLst/>
                <a:latin typeface="-webkit-standard"/>
              </a:rPr>
              <a:t>next</a:t>
            </a:r>
            <a:r>
              <a:rPr lang="it-IT" b="0" i="0" u="none" strike="noStrike" dirty="0">
                <a:solidFill>
                  <a:srgbClr val="000000"/>
                </a:solidFill>
                <a:effectLst/>
                <a:latin typeface="-webkit-standard"/>
              </a:rPr>
              <a:t>.</a:t>
            </a:r>
            <a:endParaRPr lang="it-IT" dirty="0"/>
          </a:p>
        </p:txBody>
      </p:sp>
    </p:spTree>
    <p:extLst>
      <p:ext uri="{BB962C8B-B14F-4D97-AF65-F5344CB8AC3E}">
        <p14:creationId xmlns:p14="http://schemas.microsoft.com/office/powerpoint/2010/main" val="2686097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1CADC1A-4827-7AB3-3980-9EEA3D8FC18C}"/>
              </a:ext>
            </a:extLst>
          </p:cNvPr>
          <p:cNvSpPr>
            <a:spLocks noGrp="1"/>
          </p:cNvSpPr>
          <p:nvPr>
            <p:ph type="title"/>
          </p:nvPr>
        </p:nvSpPr>
        <p:spPr>
          <a:xfrm>
            <a:off x="650535" y="1028701"/>
            <a:ext cx="10890929" cy="1097280"/>
          </a:xfrm>
        </p:spPr>
        <p:txBody>
          <a:bodyPr/>
          <a:lstStyle/>
          <a:p>
            <a:r>
              <a:rPr lang="it-IT" dirty="0" err="1"/>
              <a:t>Hypothesis</a:t>
            </a:r>
            <a:r>
              <a:rPr lang="it-IT" dirty="0"/>
              <a:t> Testing</a:t>
            </a:r>
          </a:p>
        </p:txBody>
      </p:sp>
      <p:graphicFrame>
        <p:nvGraphicFramePr>
          <p:cNvPr id="6" name="Segnaposto contenuto 5">
            <a:extLst>
              <a:ext uri="{FF2B5EF4-FFF2-40B4-BE49-F238E27FC236}">
                <a16:creationId xmlns:a16="http://schemas.microsoft.com/office/drawing/2014/main" id="{0D31A721-F265-D365-0515-301154CA1C34}"/>
              </a:ext>
            </a:extLst>
          </p:cNvPr>
          <p:cNvGraphicFramePr>
            <a:graphicFrameLocks noGrp="1"/>
          </p:cNvGraphicFramePr>
          <p:nvPr>
            <p:ph idx="1"/>
            <p:extLst>
              <p:ext uri="{D42A27DB-BD31-4B8C-83A1-F6EECF244321}">
                <p14:modId xmlns:p14="http://schemas.microsoft.com/office/powerpoint/2010/main" val="723020433"/>
              </p:ext>
            </p:extLst>
          </p:nvPr>
        </p:nvGraphicFramePr>
        <p:xfrm>
          <a:off x="474663" y="2125981"/>
          <a:ext cx="5989635" cy="2595880"/>
        </p:xfrm>
        <a:graphic>
          <a:graphicData uri="http://schemas.openxmlformats.org/drawingml/2006/table">
            <a:tbl>
              <a:tblPr firstRow="1" bandRow="1">
                <a:tableStyleId>{21E4AEA4-8DFA-4A89-87EB-49C32662AFE0}</a:tableStyleId>
              </a:tblPr>
              <a:tblGrid>
                <a:gridCol w="1197927">
                  <a:extLst>
                    <a:ext uri="{9D8B030D-6E8A-4147-A177-3AD203B41FA5}">
                      <a16:colId xmlns:a16="http://schemas.microsoft.com/office/drawing/2014/main" val="2619724048"/>
                    </a:ext>
                  </a:extLst>
                </a:gridCol>
                <a:gridCol w="1197927">
                  <a:extLst>
                    <a:ext uri="{9D8B030D-6E8A-4147-A177-3AD203B41FA5}">
                      <a16:colId xmlns:a16="http://schemas.microsoft.com/office/drawing/2014/main" val="2288883145"/>
                    </a:ext>
                  </a:extLst>
                </a:gridCol>
                <a:gridCol w="1197927">
                  <a:extLst>
                    <a:ext uri="{9D8B030D-6E8A-4147-A177-3AD203B41FA5}">
                      <a16:colId xmlns:a16="http://schemas.microsoft.com/office/drawing/2014/main" val="2044007922"/>
                    </a:ext>
                  </a:extLst>
                </a:gridCol>
                <a:gridCol w="1197927">
                  <a:extLst>
                    <a:ext uri="{9D8B030D-6E8A-4147-A177-3AD203B41FA5}">
                      <a16:colId xmlns:a16="http://schemas.microsoft.com/office/drawing/2014/main" val="2836601991"/>
                    </a:ext>
                  </a:extLst>
                </a:gridCol>
                <a:gridCol w="1197927">
                  <a:extLst>
                    <a:ext uri="{9D8B030D-6E8A-4147-A177-3AD203B41FA5}">
                      <a16:colId xmlns:a16="http://schemas.microsoft.com/office/drawing/2014/main" val="875358618"/>
                    </a:ext>
                  </a:extLst>
                </a:gridCol>
              </a:tblGrid>
              <a:tr h="370840">
                <a:tc>
                  <a:txBody>
                    <a:bodyPr/>
                    <a:lstStyle/>
                    <a:p>
                      <a:r>
                        <a:rPr lang="it-IT" sz="1600" dirty="0"/>
                        <a:t>Analysis</a:t>
                      </a:r>
                    </a:p>
                  </a:txBody>
                  <a:tcPr/>
                </a:tc>
                <a:tc>
                  <a:txBody>
                    <a:bodyPr/>
                    <a:lstStyle/>
                    <a:p>
                      <a:r>
                        <a:rPr lang="it-IT" sz="1600" dirty="0"/>
                        <a:t>Test</a:t>
                      </a:r>
                    </a:p>
                  </a:txBody>
                  <a:tcPr/>
                </a:tc>
                <a:tc>
                  <a:txBody>
                    <a:bodyPr/>
                    <a:lstStyle/>
                    <a:p>
                      <a:r>
                        <a:rPr lang="it-IT" sz="1600" dirty="0" err="1"/>
                        <a:t>Statistic</a:t>
                      </a:r>
                      <a:endParaRPr lang="it-IT" sz="1600" dirty="0"/>
                    </a:p>
                  </a:txBody>
                  <a:tcPr/>
                </a:tc>
                <a:tc>
                  <a:txBody>
                    <a:bodyPr/>
                    <a:lstStyle/>
                    <a:p>
                      <a:r>
                        <a:rPr lang="it-IT" sz="1600" dirty="0" err="1"/>
                        <a:t>P-value</a:t>
                      </a:r>
                      <a:endParaRPr lang="it-IT" sz="1600" dirty="0"/>
                    </a:p>
                  </a:txBody>
                  <a:tcPr/>
                </a:tc>
                <a:tc>
                  <a:txBody>
                    <a:bodyPr/>
                    <a:lstStyle/>
                    <a:p>
                      <a:r>
                        <a:rPr lang="it-IT" sz="1600" dirty="0" err="1"/>
                        <a:t>Decision</a:t>
                      </a:r>
                      <a:endParaRPr lang="it-IT" sz="1600" dirty="0"/>
                    </a:p>
                  </a:txBody>
                  <a:tcPr/>
                </a:tc>
                <a:extLst>
                  <a:ext uri="{0D108BD9-81ED-4DB2-BD59-A6C34878D82A}">
                    <a16:rowId xmlns:a16="http://schemas.microsoft.com/office/drawing/2014/main" val="131040561"/>
                  </a:ext>
                </a:extLst>
              </a:tr>
              <a:tr h="370840">
                <a:tc>
                  <a:txBody>
                    <a:bodyPr/>
                    <a:lstStyle/>
                    <a:p>
                      <a:r>
                        <a:rPr lang="it-IT" sz="1600" dirty="0" err="1"/>
                        <a:t>Diabetesx</a:t>
                      </a:r>
                      <a:r>
                        <a:rPr lang="it-IT" sz="1600" dirty="0"/>
                        <a:t> age groups</a:t>
                      </a:r>
                    </a:p>
                  </a:txBody>
                  <a:tcPr/>
                </a:tc>
                <a:tc>
                  <a:txBody>
                    <a:bodyPr/>
                    <a:lstStyle/>
                    <a:p>
                      <a:r>
                        <a:rPr lang="it-IT" sz="1600" dirty="0"/>
                        <a:t>Chi-</a:t>
                      </a:r>
                      <a:r>
                        <a:rPr lang="it-IT" sz="1600" dirty="0" err="1"/>
                        <a:t>square</a:t>
                      </a:r>
                      <a:endParaRPr lang="it-IT" sz="1600" dirty="0"/>
                    </a:p>
                  </a:txBody>
                  <a:tcPr/>
                </a:tc>
                <a:tc>
                  <a:txBody>
                    <a:bodyPr/>
                    <a:lstStyle/>
                    <a:p>
                      <a:r>
                        <a:rPr lang="el-GR" sz="1600" b="0" i="0" u="none" strike="noStrike" kern="1200" dirty="0">
                          <a:solidFill>
                            <a:schemeClr val="dk1"/>
                          </a:solidFill>
                          <a:effectLst/>
                          <a:latin typeface="+mn-lt"/>
                          <a:ea typeface="+mn-ea"/>
                          <a:cs typeface="+mn-cs"/>
                        </a:rPr>
                        <a:t>χ²</a:t>
                      </a:r>
                      <a:r>
                        <a:rPr lang="it-IT" sz="1600" b="0" i="0" u="none" strike="noStrike" kern="1200" dirty="0">
                          <a:solidFill>
                            <a:schemeClr val="dk1"/>
                          </a:solidFill>
                          <a:effectLst/>
                          <a:latin typeface="+mn-lt"/>
                          <a:ea typeface="+mn-ea"/>
                          <a:cs typeface="+mn-cs"/>
                        </a:rPr>
                        <a:t> = 69.92</a:t>
                      </a:r>
                      <a:endParaRPr lang="it-IT" sz="1600" dirty="0"/>
                    </a:p>
                  </a:txBody>
                  <a:tcPr/>
                </a:tc>
                <a:tc>
                  <a:txBody>
                    <a:bodyPr/>
                    <a:lstStyle/>
                    <a:p>
                      <a:r>
                        <a:rPr lang="it-IT" sz="1600" dirty="0"/>
                        <a:t>&lt;0.001</a:t>
                      </a:r>
                    </a:p>
                  </a:txBody>
                  <a:tcPr/>
                </a:tc>
                <a:tc>
                  <a:txBody>
                    <a:bodyPr/>
                    <a:lstStyle/>
                    <a:p>
                      <a:pPr>
                        <a:buNone/>
                      </a:pPr>
                      <a:r>
                        <a:rPr lang="it-IT" sz="1600" b="0" i="0" u="none" strike="noStrike" kern="1200" dirty="0" err="1">
                          <a:solidFill>
                            <a:schemeClr val="dk1"/>
                          </a:solidFill>
                          <a:effectLst/>
                          <a:latin typeface="+mn-lt"/>
                          <a:ea typeface="+mn-ea"/>
                          <a:cs typeface="+mn-cs"/>
                        </a:rPr>
                        <a:t>Reject</a:t>
                      </a:r>
                      <a:r>
                        <a:rPr lang="it-IT" sz="1600" b="0" i="0" u="none" strike="noStrike" kern="1200" dirty="0">
                          <a:solidFill>
                            <a:schemeClr val="dk1"/>
                          </a:solidFill>
                          <a:effectLst/>
                          <a:latin typeface="+mn-lt"/>
                          <a:ea typeface="+mn-ea"/>
                          <a:cs typeface="+mn-cs"/>
                        </a:rPr>
                        <a:t> H₀</a:t>
                      </a:r>
                      <a:endParaRPr lang="it-IT" sz="1600" dirty="0"/>
                    </a:p>
                  </a:txBody>
                  <a:tcPr anchor="ctr"/>
                </a:tc>
                <a:extLst>
                  <a:ext uri="{0D108BD9-81ED-4DB2-BD59-A6C34878D82A}">
                    <a16:rowId xmlns:a16="http://schemas.microsoft.com/office/drawing/2014/main" val="1128395169"/>
                  </a:ext>
                </a:extLst>
              </a:tr>
              <a:tr h="370840">
                <a:tc>
                  <a:txBody>
                    <a:bodyPr/>
                    <a:lstStyle/>
                    <a:p>
                      <a:r>
                        <a:rPr lang="it-IT" sz="1600" dirty="0" err="1"/>
                        <a:t>DiabetesxBMI</a:t>
                      </a:r>
                      <a:r>
                        <a:rPr lang="it-IT" sz="1600" dirty="0"/>
                        <a:t> </a:t>
                      </a:r>
                      <a:r>
                        <a:rPr lang="it-IT" sz="1600" dirty="0" err="1"/>
                        <a:t>Categories</a:t>
                      </a:r>
                      <a:endParaRPr lang="it-IT" sz="1600" dirty="0"/>
                    </a:p>
                  </a:txBody>
                  <a:tcPr/>
                </a:tc>
                <a:tc>
                  <a:txBody>
                    <a:bodyPr/>
                    <a:lstStyle/>
                    <a:p>
                      <a:r>
                        <a:rPr lang="it-IT" sz="1600" dirty="0"/>
                        <a:t>Chi-</a:t>
                      </a:r>
                      <a:r>
                        <a:rPr lang="it-IT" sz="1600" dirty="0" err="1"/>
                        <a:t>square</a:t>
                      </a:r>
                      <a:endParaRPr lang="it-IT" sz="1600" dirty="0"/>
                    </a:p>
                  </a:txBody>
                  <a:tcPr/>
                </a:tc>
                <a:tc>
                  <a:txBody>
                    <a:bodyPr/>
                    <a:lstStyle/>
                    <a:p>
                      <a:r>
                        <a:rPr lang="el-GR" sz="1600" b="0" i="0" u="none" strike="noStrike" kern="1200" dirty="0">
                          <a:solidFill>
                            <a:schemeClr val="dk1"/>
                          </a:solidFill>
                          <a:effectLst/>
                          <a:latin typeface="+mn-lt"/>
                          <a:ea typeface="+mn-ea"/>
                          <a:cs typeface="+mn-cs"/>
                        </a:rPr>
                        <a:t>χ² = 76.43</a:t>
                      </a:r>
                      <a:endParaRPr lang="it-IT" sz="1600" dirty="0"/>
                    </a:p>
                  </a:txBody>
                  <a:tcPr/>
                </a:tc>
                <a:tc>
                  <a:txBody>
                    <a:bodyPr/>
                    <a:lstStyle/>
                    <a:p>
                      <a:pPr>
                        <a:buNone/>
                      </a:pPr>
                      <a:r>
                        <a:rPr lang="it-IT" sz="1600" dirty="0"/>
                        <a:t>&lt;0.001</a:t>
                      </a:r>
                    </a:p>
                  </a:txBody>
                  <a:tcPr anchor="ctr"/>
                </a:tc>
                <a:tc>
                  <a:txBody>
                    <a:bodyPr/>
                    <a:lstStyle/>
                    <a:p>
                      <a:r>
                        <a:rPr lang="it-IT" sz="1600" b="0" i="0" u="none" strike="noStrike" kern="1200" dirty="0" err="1">
                          <a:solidFill>
                            <a:schemeClr val="dk1"/>
                          </a:solidFill>
                          <a:effectLst/>
                          <a:latin typeface="+mn-lt"/>
                          <a:ea typeface="+mn-ea"/>
                          <a:cs typeface="+mn-cs"/>
                        </a:rPr>
                        <a:t>Reject</a:t>
                      </a:r>
                      <a:r>
                        <a:rPr lang="it-IT" sz="1600" b="0" i="0" u="none" strike="noStrike" kern="1200" dirty="0">
                          <a:solidFill>
                            <a:schemeClr val="dk1"/>
                          </a:solidFill>
                          <a:effectLst/>
                          <a:latin typeface="+mn-lt"/>
                          <a:ea typeface="+mn-ea"/>
                          <a:cs typeface="+mn-cs"/>
                        </a:rPr>
                        <a:t> H₀</a:t>
                      </a:r>
                      <a:endParaRPr lang="it-IT" sz="1600" dirty="0"/>
                    </a:p>
                  </a:txBody>
                  <a:tcPr/>
                </a:tc>
                <a:extLst>
                  <a:ext uri="{0D108BD9-81ED-4DB2-BD59-A6C34878D82A}">
                    <a16:rowId xmlns:a16="http://schemas.microsoft.com/office/drawing/2014/main" val="828297956"/>
                  </a:ext>
                </a:extLst>
              </a:tr>
              <a:tr h="370840">
                <a:tc>
                  <a:txBody>
                    <a:bodyPr/>
                    <a:lstStyle/>
                    <a:p>
                      <a:r>
                        <a:rPr lang="it-IT" sz="1600" b="0" i="0" u="none" strike="noStrike" kern="1200" dirty="0" err="1">
                          <a:solidFill>
                            <a:schemeClr val="dk1"/>
                          </a:solidFill>
                          <a:effectLst/>
                          <a:latin typeface="+mn-lt"/>
                          <a:ea typeface="+mn-ea"/>
                          <a:cs typeface="+mn-cs"/>
                        </a:rPr>
                        <a:t>Glucose</a:t>
                      </a:r>
                      <a:r>
                        <a:rPr lang="it-IT" sz="1600" b="0" i="0" u="none" strike="noStrike" kern="1200" dirty="0">
                          <a:solidFill>
                            <a:schemeClr val="dk1"/>
                          </a:solidFill>
                          <a:effectLst/>
                          <a:latin typeface="+mn-lt"/>
                          <a:ea typeface="+mn-ea"/>
                          <a:cs typeface="+mn-cs"/>
                        </a:rPr>
                        <a:t> by Age Groups</a:t>
                      </a:r>
                      <a:endParaRPr lang="it-IT" sz="1600" dirty="0"/>
                    </a:p>
                  </a:txBody>
                  <a:tcPr/>
                </a:tc>
                <a:tc>
                  <a:txBody>
                    <a:bodyPr/>
                    <a:lstStyle/>
                    <a:p>
                      <a:r>
                        <a:rPr lang="it-IT" sz="1600" b="0" i="0" u="none" strike="noStrike" kern="1200" dirty="0">
                          <a:solidFill>
                            <a:schemeClr val="dk1"/>
                          </a:solidFill>
                          <a:effectLst/>
                          <a:latin typeface="+mn-lt"/>
                          <a:ea typeface="+mn-ea"/>
                          <a:cs typeface="+mn-cs"/>
                        </a:rPr>
                        <a:t>ANOVA</a:t>
                      </a:r>
                      <a:endParaRPr lang="it-IT" sz="1600" dirty="0"/>
                    </a:p>
                  </a:txBody>
                  <a:tcPr/>
                </a:tc>
                <a:tc>
                  <a:txBody>
                    <a:bodyPr/>
                    <a:lstStyle/>
                    <a:p>
                      <a:r>
                        <a:rPr lang="it-IT" sz="1600" b="0" i="0" u="none" strike="noStrike" kern="1200" dirty="0" err="1">
                          <a:solidFill>
                            <a:schemeClr val="dk1"/>
                          </a:solidFill>
                          <a:effectLst/>
                          <a:latin typeface="+mn-lt"/>
                          <a:ea typeface="+mn-ea"/>
                          <a:cs typeface="+mn-cs"/>
                        </a:rPr>
                        <a:t>F</a:t>
                      </a:r>
                      <a:r>
                        <a:rPr lang="it-IT" sz="1600" b="0" i="0" u="none" strike="noStrike" kern="1200" dirty="0">
                          <a:solidFill>
                            <a:schemeClr val="dk1"/>
                          </a:solidFill>
                          <a:effectLst/>
                          <a:latin typeface="+mn-lt"/>
                          <a:ea typeface="+mn-ea"/>
                          <a:cs typeface="+mn-cs"/>
                        </a:rPr>
                        <a:t> = 19.62</a:t>
                      </a:r>
                      <a:endParaRPr lang="it-IT" sz="1600" dirty="0"/>
                    </a:p>
                  </a:txBody>
                  <a:tcPr/>
                </a:tc>
                <a:tc>
                  <a:txBody>
                    <a:bodyPr/>
                    <a:lstStyle/>
                    <a:p>
                      <a:r>
                        <a:rPr lang="it-IT" sz="1600" b="0" i="0" u="none" strike="noStrike" kern="1200" dirty="0">
                          <a:solidFill>
                            <a:schemeClr val="dk1"/>
                          </a:solidFill>
                          <a:effectLst/>
                          <a:latin typeface="+mn-lt"/>
                          <a:ea typeface="+mn-ea"/>
                          <a:cs typeface="+mn-cs"/>
                        </a:rPr>
                        <a:t>&lt;0.001</a:t>
                      </a:r>
                      <a:endParaRPr lang="it-IT" sz="1600" dirty="0"/>
                    </a:p>
                  </a:txBody>
                  <a:tcPr/>
                </a:tc>
                <a:tc>
                  <a:txBody>
                    <a:bodyPr/>
                    <a:lstStyle/>
                    <a:p>
                      <a:r>
                        <a:rPr lang="it-IT" sz="1600" b="0" i="0" u="none" strike="noStrike" kern="1200" dirty="0" err="1">
                          <a:solidFill>
                            <a:schemeClr val="dk1"/>
                          </a:solidFill>
                          <a:effectLst/>
                          <a:latin typeface="+mn-lt"/>
                          <a:ea typeface="+mn-ea"/>
                          <a:cs typeface="+mn-cs"/>
                        </a:rPr>
                        <a:t>Reject</a:t>
                      </a:r>
                      <a:r>
                        <a:rPr lang="it-IT" sz="1600" b="0" i="0" u="none" strike="noStrike" kern="1200" dirty="0">
                          <a:solidFill>
                            <a:schemeClr val="dk1"/>
                          </a:solidFill>
                          <a:effectLst/>
                          <a:latin typeface="+mn-lt"/>
                          <a:ea typeface="+mn-ea"/>
                          <a:cs typeface="+mn-cs"/>
                        </a:rPr>
                        <a:t> H₀</a:t>
                      </a:r>
                      <a:endParaRPr lang="it-IT" sz="1600" dirty="0"/>
                    </a:p>
                  </a:txBody>
                  <a:tcPr/>
                </a:tc>
                <a:extLst>
                  <a:ext uri="{0D108BD9-81ED-4DB2-BD59-A6C34878D82A}">
                    <a16:rowId xmlns:a16="http://schemas.microsoft.com/office/drawing/2014/main" val="1433534223"/>
                  </a:ext>
                </a:extLst>
              </a:tr>
            </a:tbl>
          </a:graphicData>
        </a:graphic>
      </p:graphicFrame>
      <p:pic>
        <p:nvPicPr>
          <p:cNvPr id="4" name="Immagine 3" descr="Immagine che contiene logo, simbolo, Carattere, Elementi grafici&#10;&#10;Il contenuto generato dall'IA potrebbe non essere corretto.">
            <a:extLst>
              <a:ext uri="{FF2B5EF4-FFF2-40B4-BE49-F238E27FC236}">
                <a16:creationId xmlns:a16="http://schemas.microsoft.com/office/drawing/2014/main" id="{BBBFC9E4-0DE9-C79B-2044-35D82DB85AC0}"/>
              </a:ext>
            </a:extLst>
          </p:cNvPr>
          <p:cNvPicPr>
            <a:picLocks noChangeAspect="1"/>
          </p:cNvPicPr>
          <p:nvPr/>
        </p:nvPicPr>
        <p:blipFill>
          <a:blip r:embed="rId3"/>
          <a:stretch>
            <a:fillRect/>
          </a:stretch>
        </p:blipFill>
        <p:spPr>
          <a:xfrm>
            <a:off x="11117811" y="5813266"/>
            <a:ext cx="413197" cy="386366"/>
          </a:xfrm>
          <a:prstGeom prst="rect">
            <a:avLst/>
          </a:prstGeom>
        </p:spPr>
      </p:pic>
      <p:sp>
        <p:nvSpPr>
          <p:cNvPr id="5" name="CasellaDiTesto 4">
            <a:extLst>
              <a:ext uri="{FF2B5EF4-FFF2-40B4-BE49-F238E27FC236}">
                <a16:creationId xmlns:a16="http://schemas.microsoft.com/office/drawing/2014/main" id="{FAF94E03-F5C2-9D23-3A50-4A894F6EA9C2}"/>
              </a:ext>
            </a:extLst>
          </p:cNvPr>
          <p:cNvSpPr txBox="1"/>
          <p:nvPr/>
        </p:nvSpPr>
        <p:spPr>
          <a:xfrm>
            <a:off x="8465589" y="4147571"/>
            <a:ext cx="3726411" cy="2677656"/>
          </a:xfrm>
          <a:prstGeom prst="rect">
            <a:avLst/>
          </a:prstGeom>
          <a:noFill/>
        </p:spPr>
        <p:txBody>
          <a:bodyPr wrap="square" rtlCol="0">
            <a:spAutoFit/>
          </a:bodyPr>
          <a:lstStyle/>
          <a:p>
            <a:r>
              <a:rPr lang="it-IT" sz="1400" i="1" dirty="0" err="1">
                <a:solidFill>
                  <a:schemeClr val="bg2">
                    <a:lumMod val="50000"/>
                  </a:schemeClr>
                </a:solidFill>
              </a:rPr>
              <a:t>chisq.test</a:t>
            </a:r>
            <a:r>
              <a:rPr lang="it-IT" sz="1400" i="1" dirty="0">
                <a:solidFill>
                  <a:schemeClr val="bg2">
                    <a:lumMod val="50000"/>
                  </a:schemeClr>
                </a:solidFill>
              </a:rPr>
              <a:t>(</a:t>
            </a:r>
            <a:r>
              <a:rPr lang="it-IT" sz="1400" i="1" dirty="0" err="1">
                <a:solidFill>
                  <a:schemeClr val="bg2">
                    <a:lumMod val="50000"/>
                  </a:schemeClr>
                </a:solidFill>
              </a:rPr>
              <a:t>table</a:t>
            </a:r>
            <a:r>
              <a:rPr lang="it-IT" sz="1400" i="1" dirty="0">
                <a:solidFill>
                  <a:schemeClr val="bg2">
                    <a:lumMod val="50000"/>
                  </a:schemeClr>
                </a:solidFill>
              </a:rPr>
              <a:t>(</a:t>
            </a:r>
            <a:r>
              <a:rPr lang="it-IT" sz="1400" i="1" dirty="0" err="1">
                <a:solidFill>
                  <a:schemeClr val="bg2">
                    <a:lumMod val="50000"/>
                  </a:schemeClr>
                </a:solidFill>
              </a:rPr>
              <a:t>diabetes$AgeGroup</a:t>
            </a:r>
            <a:r>
              <a:rPr lang="it-IT" sz="1400" i="1" dirty="0">
                <a:solidFill>
                  <a:schemeClr val="bg2">
                    <a:lumMod val="50000"/>
                  </a:schemeClr>
                </a:solidFill>
              </a:rPr>
              <a:t>, </a:t>
            </a:r>
            <a:r>
              <a:rPr lang="it-IT" sz="1400" i="1" dirty="0" err="1">
                <a:solidFill>
                  <a:schemeClr val="bg2">
                    <a:lumMod val="50000"/>
                  </a:schemeClr>
                </a:solidFill>
              </a:rPr>
              <a:t>diabetes$Outcome</a:t>
            </a:r>
            <a:r>
              <a:rPr lang="it-IT" sz="1400" i="1" dirty="0">
                <a:solidFill>
                  <a:schemeClr val="bg2">
                    <a:lumMod val="50000"/>
                  </a:schemeClr>
                </a:solidFill>
              </a:rPr>
              <a:t>))</a:t>
            </a:r>
          </a:p>
          <a:p>
            <a:endParaRPr lang="it-IT" sz="1400" i="1" dirty="0">
              <a:solidFill>
                <a:schemeClr val="bg2">
                  <a:lumMod val="50000"/>
                </a:schemeClr>
              </a:solidFill>
            </a:endParaRPr>
          </a:p>
          <a:p>
            <a:r>
              <a:rPr lang="it-IT" sz="1400" i="1" dirty="0" err="1">
                <a:solidFill>
                  <a:schemeClr val="bg2">
                    <a:lumMod val="50000"/>
                  </a:schemeClr>
                </a:solidFill>
              </a:rPr>
              <a:t>chisq.test</a:t>
            </a:r>
            <a:r>
              <a:rPr lang="it-IT" sz="1400" i="1" dirty="0">
                <a:solidFill>
                  <a:schemeClr val="bg2">
                    <a:lumMod val="50000"/>
                  </a:schemeClr>
                </a:solidFill>
              </a:rPr>
              <a:t>(</a:t>
            </a:r>
            <a:r>
              <a:rPr lang="it-IT" sz="1400" i="1" dirty="0" err="1">
                <a:solidFill>
                  <a:schemeClr val="bg2">
                    <a:lumMod val="50000"/>
                  </a:schemeClr>
                </a:solidFill>
              </a:rPr>
              <a:t>table</a:t>
            </a:r>
            <a:r>
              <a:rPr lang="it-IT" sz="1400" i="1" dirty="0">
                <a:solidFill>
                  <a:schemeClr val="bg2">
                    <a:lumMod val="50000"/>
                  </a:schemeClr>
                </a:solidFill>
              </a:rPr>
              <a:t>(</a:t>
            </a:r>
            <a:r>
              <a:rPr lang="it-IT" sz="1400" i="1" dirty="0" err="1">
                <a:solidFill>
                  <a:schemeClr val="bg2">
                    <a:lumMod val="50000"/>
                  </a:schemeClr>
                </a:solidFill>
              </a:rPr>
              <a:t>diabetes$BMICategory</a:t>
            </a:r>
            <a:r>
              <a:rPr lang="it-IT" sz="1400" i="1" dirty="0">
                <a:solidFill>
                  <a:schemeClr val="bg2">
                    <a:lumMod val="50000"/>
                  </a:schemeClr>
                </a:solidFill>
              </a:rPr>
              <a:t>, </a:t>
            </a:r>
            <a:r>
              <a:rPr lang="it-IT" sz="1400" i="1" dirty="0" err="1">
                <a:solidFill>
                  <a:schemeClr val="bg2">
                    <a:lumMod val="50000"/>
                  </a:schemeClr>
                </a:solidFill>
              </a:rPr>
              <a:t>diabetes$Outcome</a:t>
            </a:r>
            <a:r>
              <a:rPr lang="it-IT" sz="1400" i="1" dirty="0">
                <a:solidFill>
                  <a:schemeClr val="bg2">
                    <a:lumMod val="50000"/>
                  </a:schemeClr>
                </a:solidFill>
              </a:rPr>
              <a:t>))</a:t>
            </a:r>
          </a:p>
          <a:p>
            <a:endParaRPr lang="it-IT" sz="1400" i="1" dirty="0">
              <a:solidFill>
                <a:schemeClr val="bg2">
                  <a:lumMod val="50000"/>
                </a:schemeClr>
              </a:solidFill>
            </a:endParaRPr>
          </a:p>
          <a:p>
            <a:r>
              <a:rPr lang="it-IT" sz="1400" i="1" dirty="0" err="1">
                <a:solidFill>
                  <a:schemeClr val="bg2">
                    <a:lumMod val="50000"/>
                  </a:schemeClr>
                </a:solidFill>
              </a:rPr>
              <a:t>anova_model</a:t>
            </a:r>
            <a:r>
              <a:rPr lang="it-IT" sz="1400" i="1" dirty="0">
                <a:solidFill>
                  <a:schemeClr val="bg2">
                    <a:lumMod val="50000"/>
                  </a:schemeClr>
                </a:solidFill>
              </a:rPr>
              <a:t> &lt;- </a:t>
            </a:r>
            <a:r>
              <a:rPr lang="it-IT" sz="1400" i="1" dirty="0" err="1">
                <a:solidFill>
                  <a:schemeClr val="bg2">
                    <a:lumMod val="50000"/>
                  </a:schemeClr>
                </a:solidFill>
              </a:rPr>
              <a:t>aov</a:t>
            </a:r>
            <a:r>
              <a:rPr lang="it-IT" sz="1400" i="1" dirty="0">
                <a:solidFill>
                  <a:schemeClr val="bg2">
                    <a:lumMod val="50000"/>
                  </a:schemeClr>
                </a:solidFill>
              </a:rPr>
              <a:t>(</a:t>
            </a:r>
            <a:r>
              <a:rPr lang="it-IT" sz="1400" i="1" dirty="0" err="1">
                <a:solidFill>
                  <a:schemeClr val="bg2">
                    <a:lumMod val="50000"/>
                  </a:schemeClr>
                </a:solidFill>
              </a:rPr>
              <a:t>Glucose</a:t>
            </a:r>
            <a:r>
              <a:rPr lang="it-IT" sz="1400" i="1" dirty="0">
                <a:solidFill>
                  <a:schemeClr val="bg2">
                    <a:lumMod val="50000"/>
                  </a:schemeClr>
                </a:solidFill>
              </a:rPr>
              <a:t> ~ </a:t>
            </a:r>
            <a:r>
              <a:rPr lang="it-IT" sz="1400" i="1" dirty="0" err="1">
                <a:solidFill>
                  <a:schemeClr val="bg2">
                    <a:lumMod val="50000"/>
                  </a:schemeClr>
                </a:solidFill>
              </a:rPr>
              <a:t>AgeGroup</a:t>
            </a:r>
            <a:r>
              <a:rPr lang="it-IT" sz="1400" i="1" dirty="0">
                <a:solidFill>
                  <a:schemeClr val="bg2">
                    <a:lumMod val="50000"/>
                  </a:schemeClr>
                </a:solidFill>
              </a:rPr>
              <a:t>, data = </a:t>
            </a:r>
            <a:r>
              <a:rPr lang="it-IT" sz="1400" i="1" dirty="0" err="1">
                <a:solidFill>
                  <a:schemeClr val="bg2">
                    <a:lumMod val="50000"/>
                  </a:schemeClr>
                </a:solidFill>
              </a:rPr>
              <a:t>diabetes</a:t>
            </a:r>
            <a:r>
              <a:rPr lang="it-IT" sz="1400" i="1" dirty="0">
                <a:solidFill>
                  <a:schemeClr val="bg2">
                    <a:lumMod val="50000"/>
                  </a:schemeClr>
                </a:solidFill>
              </a:rPr>
              <a:t>)</a:t>
            </a:r>
          </a:p>
          <a:p>
            <a:endParaRPr lang="it-IT" sz="1400" i="1" dirty="0">
              <a:solidFill>
                <a:schemeClr val="bg2">
                  <a:lumMod val="50000"/>
                </a:schemeClr>
              </a:solidFill>
            </a:endParaRPr>
          </a:p>
          <a:p>
            <a:r>
              <a:rPr lang="it-IT" sz="1400" i="1" dirty="0" err="1">
                <a:solidFill>
                  <a:schemeClr val="bg2">
                    <a:lumMod val="50000"/>
                  </a:schemeClr>
                </a:solidFill>
              </a:rPr>
              <a:t>summary</a:t>
            </a:r>
            <a:r>
              <a:rPr lang="it-IT" sz="1400" i="1" dirty="0">
                <a:solidFill>
                  <a:schemeClr val="bg2">
                    <a:lumMod val="50000"/>
                  </a:schemeClr>
                </a:solidFill>
              </a:rPr>
              <a:t>(</a:t>
            </a:r>
            <a:r>
              <a:rPr lang="it-IT" sz="1400" i="1" dirty="0" err="1">
                <a:solidFill>
                  <a:schemeClr val="bg2">
                    <a:lumMod val="50000"/>
                  </a:schemeClr>
                </a:solidFill>
              </a:rPr>
              <a:t>anova_model</a:t>
            </a:r>
            <a:r>
              <a:rPr lang="it-IT" sz="1400" i="1" dirty="0">
                <a:solidFill>
                  <a:schemeClr val="bg2">
                    <a:lumMod val="50000"/>
                  </a:schemeClr>
                </a:solidFill>
              </a:rPr>
              <a:t>)</a:t>
            </a:r>
          </a:p>
          <a:p>
            <a:endParaRPr lang="it-IT" sz="1400" i="1" dirty="0">
              <a:solidFill>
                <a:schemeClr val="bg2">
                  <a:lumMod val="50000"/>
                </a:schemeClr>
              </a:solidFill>
            </a:endParaRPr>
          </a:p>
          <a:p>
            <a:r>
              <a:rPr lang="it-IT" sz="1400" i="1" dirty="0" err="1">
                <a:solidFill>
                  <a:schemeClr val="bg2">
                    <a:lumMod val="50000"/>
                  </a:schemeClr>
                </a:solidFill>
              </a:rPr>
              <a:t>TukeyHSD</a:t>
            </a:r>
            <a:r>
              <a:rPr lang="it-IT" sz="1400" i="1" dirty="0">
                <a:solidFill>
                  <a:schemeClr val="bg2">
                    <a:lumMod val="50000"/>
                  </a:schemeClr>
                </a:solidFill>
              </a:rPr>
              <a:t>(</a:t>
            </a:r>
            <a:r>
              <a:rPr lang="it-IT" sz="1400" i="1" dirty="0" err="1">
                <a:solidFill>
                  <a:schemeClr val="bg2">
                    <a:lumMod val="50000"/>
                  </a:schemeClr>
                </a:solidFill>
              </a:rPr>
              <a:t>anova_model</a:t>
            </a:r>
            <a:r>
              <a:rPr lang="it-IT" sz="1400" i="1" dirty="0">
                <a:solidFill>
                  <a:schemeClr val="bg2">
                    <a:lumMod val="50000"/>
                  </a:schemeClr>
                </a:solidFill>
              </a:rPr>
              <a:t>)</a:t>
            </a:r>
          </a:p>
        </p:txBody>
      </p:sp>
      <p:sp>
        <p:nvSpPr>
          <p:cNvPr id="8" name="CasellaDiTesto 7">
            <a:extLst>
              <a:ext uri="{FF2B5EF4-FFF2-40B4-BE49-F238E27FC236}">
                <a16:creationId xmlns:a16="http://schemas.microsoft.com/office/drawing/2014/main" id="{313D9B7D-3824-084D-10E7-31F32E124FA6}"/>
              </a:ext>
            </a:extLst>
          </p:cNvPr>
          <p:cNvSpPr txBox="1"/>
          <p:nvPr/>
        </p:nvSpPr>
        <p:spPr>
          <a:xfrm>
            <a:off x="7069136" y="2069704"/>
            <a:ext cx="4648200" cy="1600438"/>
          </a:xfrm>
          <a:prstGeom prst="rect">
            <a:avLst/>
          </a:prstGeom>
          <a:noFill/>
        </p:spPr>
        <p:txBody>
          <a:bodyPr wrap="square" rtlCol="0">
            <a:spAutoFit/>
          </a:bodyPr>
          <a:lstStyle/>
          <a:p>
            <a:r>
              <a:rPr lang="it-IT" b="1" dirty="0">
                <a:latin typeface="Arial" panose="020B0604020202020204" pitchFamily="34" charset="0"/>
                <a:cs typeface="Arial" panose="020B0604020202020204" pitchFamily="34" charset="0"/>
              </a:rPr>
              <a:t>Post-hoc (</a:t>
            </a:r>
            <a:r>
              <a:rPr lang="it-IT" b="1" dirty="0" err="1">
                <a:latin typeface="Arial" panose="020B0604020202020204" pitchFamily="34" charset="0"/>
                <a:cs typeface="Arial" panose="020B0604020202020204" pitchFamily="34" charset="0"/>
              </a:rPr>
              <a:t>Tukey</a:t>
            </a:r>
            <a:r>
              <a:rPr lang="it-IT" b="1" dirty="0">
                <a:latin typeface="Arial" panose="020B0604020202020204" pitchFamily="34" charset="0"/>
                <a:cs typeface="Arial" panose="020B0604020202020204" pitchFamily="34" charset="0"/>
              </a:rPr>
              <a:t> HSD)</a:t>
            </a:r>
          </a:p>
          <a:p>
            <a:pPr marL="285750" indent="-285750">
              <a:buFont typeface="Arial" panose="020B0604020202020204" pitchFamily="34" charset="0"/>
              <a:buChar char="•"/>
            </a:pPr>
            <a:r>
              <a:rPr lang="it-IT" sz="1600" dirty="0">
                <a:latin typeface="Arial" panose="020B0604020202020204" pitchFamily="34" charset="0"/>
                <a:cs typeface="Arial" panose="020B0604020202020204" pitchFamily="34" charset="0"/>
              </a:rPr>
              <a:t>50+ </a:t>
            </a:r>
            <a:r>
              <a:rPr lang="it-IT" sz="1600" dirty="0" err="1">
                <a:latin typeface="Arial" panose="020B0604020202020204" pitchFamily="34" charset="0"/>
                <a:cs typeface="Arial" panose="020B0604020202020204" pitchFamily="34" charset="0"/>
              </a:rPr>
              <a:t>years</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had</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significantly</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higher</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glucose</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levels</a:t>
            </a:r>
            <a:r>
              <a:rPr lang="it-IT" sz="1600" dirty="0">
                <a:latin typeface="Arial" panose="020B0604020202020204" pitchFamily="34" charset="0"/>
                <a:cs typeface="Arial" panose="020B0604020202020204" pitchFamily="34" charset="0"/>
              </a:rPr>
              <a:t> ( </a:t>
            </a:r>
            <a:r>
              <a:rPr lang="it-IT" sz="1600" dirty="0" err="1">
                <a:latin typeface="Arial" panose="020B0604020202020204" pitchFamily="34" charset="0"/>
                <a:cs typeface="Arial" panose="020B0604020202020204" pitchFamily="34" charset="0"/>
              </a:rPr>
              <a:t>p</a:t>
            </a:r>
            <a:r>
              <a:rPr lang="it-IT" sz="1600" dirty="0">
                <a:latin typeface="Arial" panose="020B0604020202020204" pitchFamily="34" charset="0"/>
                <a:cs typeface="Arial" panose="020B0604020202020204" pitchFamily="34" charset="0"/>
              </a:rPr>
              <a:t> &lt; 0.01).</a:t>
            </a:r>
          </a:p>
          <a:p>
            <a:endParaRPr lang="it-IT"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it-IT" sz="1600" dirty="0">
                <a:latin typeface="Arial" panose="020B0604020202020204" pitchFamily="34" charset="0"/>
                <a:cs typeface="Arial" panose="020B0604020202020204" pitchFamily="34" charset="0"/>
              </a:rPr>
              <a:t>30-39 and 40-49 </a:t>
            </a:r>
            <a:r>
              <a:rPr lang="it-IT" sz="1600" dirty="0" err="1">
                <a:latin typeface="Arial" panose="020B0604020202020204" pitchFamily="34" charset="0"/>
                <a:cs typeface="Arial" panose="020B0604020202020204" pitchFamily="34" charset="0"/>
              </a:rPr>
              <a:t>years</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showed</a:t>
            </a:r>
            <a:r>
              <a:rPr lang="it-IT" sz="1600" dirty="0">
                <a:latin typeface="Arial" panose="020B0604020202020204" pitchFamily="34" charset="0"/>
                <a:cs typeface="Arial" panose="020B0604020202020204" pitchFamily="34" charset="0"/>
              </a:rPr>
              <a:t> no </a:t>
            </a:r>
            <a:r>
              <a:rPr lang="it-IT" sz="1600" dirty="0" err="1">
                <a:latin typeface="Arial" panose="020B0604020202020204" pitchFamily="34" charset="0"/>
                <a:cs typeface="Arial" panose="020B0604020202020204" pitchFamily="34" charset="0"/>
              </a:rPr>
              <a:t>significant</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difference</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p</a:t>
            </a:r>
            <a:r>
              <a:rPr lang="it-IT" sz="1600" dirty="0">
                <a:latin typeface="Arial" panose="020B0604020202020204" pitchFamily="34" charset="0"/>
                <a:cs typeface="Arial" panose="020B0604020202020204" pitchFamily="34" charset="0"/>
              </a:rPr>
              <a:t> = 0.998).</a:t>
            </a:r>
          </a:p>
        </p:txBody>
      </p:sp>
      <p:sp>
        <p:nvSpPr>
          <p:cNvPr id="10" name="CasellaDiTesto 9">
            <a:extLst>
              <a:ext uri="{FF2B5EF4-FFF2-40B4-BE49-F238E27FC236}">
                <a16:creationId xmlns:a16="http://schemas.microsoft.com/office/drawing/2014/main" id="{2494423A-07E8-6DF1-261F-D597FA150B42}"/>
              </a:ext>
            </a:extLst>
          </p:cNvPr>
          <p:cNvSpPr txBox="1"/>
          <p:nvPr/>
        </p:nvSpPr>
        <p:spPr>
          <a:xfrm>
            <a:off x="474663" y="5024734"/>
            <a:ext cx="6096000" cy="830997"/>
          </a:xfrm>
          <a:prstGeom prst="rect">
            <a:avLst/>
          </a:prstGeom>
          <a:noFill/>
        </p:spPr>
        <p:txBody>
          <a:bodyPr wrap="square">
            <a:spAutoFit/>
          </a:bodyPr>
          <a:lstStyle/>
          <a:p>
            <a:r>
              <a:rPr lang="it-IT" sz="1600" b="0" i="0" u="none" strike="noStrike" dirty="0" err="1">
                <a:solidFill>
                  <a:srgbClr val="000000"/>
                </a:solidFill>
                <a:effectLst/>
                <a:latin typeface="Arial" panose="020B0604020202020204" pitchFamily="34" charset="0"/>
                <a:cs typeface="Arial" panose="020B0604020202020204" pitchFamily="34" charset="0"/>
              </a:rPr>
              <a:t>Diabetes</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prevalence</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differed</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significantly</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across</a:t>
            </a:r>
            <a:r>
              <a:rPr lang="it-IT" sz="1600" b="0" i="0" u="none" strike="noStrike" dirty="0">
                <a:solidFill>
                  <a:srgbClr val="000000"/>
                </a:solidFill>
                <a:effectLst/>
                <a:latin typeface="Arial" panose="020B0604020202020204" pitchFamily="34" charset="0"/>
                <a:cs typeface="Arial" panose="020B0604020202020204" pitchFamily="34" charset="0"/>
              </a:rPr>
              <a:t> age and BMI </a:t>
            </a:r>
            <a:r>
              <a:rPr lang="it-IT" sz="1600" b="0" i="0" u="none" strike="noStrike" dirty="0" err="1">
                <a:solidFill>
                  <a:srgbClr val="000000"/>
                </a:solidFill>
                <a:effectLst/>
                <a:latin typeface="Arial" panose="020B0604020202020204" pitchFamily="34" charset="0"/>
                <a:cs typeface="Arial" panose="020B0604020202020204" pitchFamily="34" charset="0"/>
              </a:rPr>
              <a:t>categories</a:t>
            </a:r>
            <a:r>
              <a:rPr lang="it-IT" sz="1600" b="0" i="0" u="none" strike="noStrike" dirty="0">
                <a:solidFill>
                  <a:srgbClr val="000000"/>
                </a:solidFill>
                <a:effectLst/>
                <a:latin typeface="Arial" panose="020B0604020202020204" pitchFamily="34" charset="0"/>
                <a:cs typeface="Arial" panose="020B0604020202020204" pitchFamily="34" charset="0"/>
              </a:rPr>
              <a:t>. In </a:t>
            </a:r>
            <a:r>
              <a:rPr lang="it-IT" sz="1600" b="0" i="0" u="none" strike="noStrike" dirty="0" err="1">
                <a:solidFill>
                  <a:srgbClr val="000000"/>
                </a:solidFill>
                <a:effectLst/>
                <a:latin typeface="Arial" panose="020B0604020202020204" pitchFamily="34" charset="0"/>
                <a:cs typeface="Arial" panose="020B0604020202020204" pitchFamily="34" charset="0"/>
              </a:rPr>
              <a:t>addition</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older</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participants</a:t>
            </a:r>
            <a:r>
              <a:rPr lang="it-IT" sz="1600" b="0" i="0" u="none" strike="noStrike" dirty="0">
                <a:solidFill>
                  <a:srgbClr val="000000"/>
                </a:solidFill>
                <a:effectLst/>
                <a:latin typeface="Arial" panose="020B0604020202020204" pitchFamily="34" charset="0"/>
                <a:cs typeface="Arial" panose="020B0604020202020204" pitchFamily="34" charset="0"/>
              </a:rPr>
              <a:t> (50+) </a:t>
            </a:r>
            <a:r>
              <a:rPr lang="it-IT" sz="1600" b="0" i="0" u="none" strike="noStrike" dirty="0" err="1">
                <a:solidFill>
                  <a:srgbClr val="000000"/>
                </a:solidFill>
                <a:effectLst/>
                <a:latin typeface="Arial" panose="020B0604020202020204" pitchFamily="34" charset="0"/>
                <a:cs typeface="Arial" panose="020B0604020202020204" pitchFamily="34" charset="0"/>
              </a:rPr>
              <a:t>had</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significantly</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higher</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mean</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glucose</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levels</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than</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younger</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participants</a:t>
            </a:r>
            <a:r>
              <a:rPr lang="it-IT" sz="1600" b="0" i="0" u="none" strike="noStrike" dirty="0">
                <a:solidFill>
                  <a:srgbClr val="000000"/>
                </a:solidFill>
                <a:effectLst/>
                <a:latin typeface="Arial" panose="020B0604020202020204" pitchFamily="34" charset="0"/>
                <a:cs typeface="Arial" panose="020B0604020202020204" pitchFamily="34" charset="0"/>
              </a:rPr>
              <a:t>.</a:t>
            </a:r>
            <a:endParaRPr lang="it-IT"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8078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F41207-8B55-DC34-B463-A52CA880A448}"/>
              </a:ext>
            </a:extLst>
          </p:cNvPr>
          <p:cNvSpPr>
            <a:spLocks noGrp="1"/>
          </p:cNvSpPr>
          <p:nvPr>
            <p:ph type="title"/>
          </p:nvPr>
        </p:nvSpPr>
        <p:spPr>
          <a:xfrm>
            <a:off x="540326" y="325495"/>
            <a:ext cx="10890929" cy="1097280"/>
          </a:xfrm>
        </p:spPr>
        <p:txBody>
          <a:bodyPr/>
          <a:lstStyle/>
          <a:p>
            <a:r>
              <a:rPr lang="it-IT" dirty="0"/>
              <a:t>Multiple Linear </a:t>
            </a:r>
            <a:r>
              <a:rPr lang="it-IT" dirty="0" err="1"/>
              <a:t>Regression</a:t>
            </a:r>
            <a:r>
              <a:rPr lang="it-IT" dirty="0"/>
              <a:t> </a:t>
            </a:r>
          </a:p>
        </p:txBody>
      </p:sp>
      <p:pic>
        <p:nvPicPr>
          <p:cNvPr id="5" name="Immagine 4" descr="Immagine che contiene logo, simbolo, Carattere, Elementi grafici&#10;&#10;Il contenuto generato dall'IA potrebbe non essere corretto.">
            <a:extLst>
              <a:ext uri="{FF2B5EF4-FFF2-40B4-BE49-F238E27FC236}">
                <a16:creationId xmlns:a16="http://schemas.microsoft.com/office/drawing/2014/main" id="{9F6B4434-1D9F-A8C6-CFBC-696C014C7F84}"/>
              </a:ext>
            </a:extLst>
          </p:cNvPr>
          <p:cNvPicPr>
            <a:picLocks noChangeAspect="1"/>
          </p:cNvPicPr>
          <p:nvPr/>
        </p:nvPicPr>
        <p:blipFill>
          <a:blip r:embed="rId3"/>
          <a:stretch>
            <a:fillRect/>
          </a:stretch>
        </p:blipFill>
        <p:spPr>
          <a:xfrm>
            <a:off x="11345637" y="6199188"/>
            <a:ext cx="413197" cy="386366"/>
          </a:xfrm>
          <a:prstGeom prst="rect">
            <a:avLst/>
          </a:prstGeom>
        </p:spPr>
      </p:pic>
      <p:sp>
        <p:nvSpPr>
          <p:cNvPr id="6" name="CasellaDiTesto 5">
            <a:extLst>
              <a:ext uri="{FF2B5EF4-FFF2-40B4-BE49-F238E27FC236}">
                <a16:creationId xmlns:a16="http://schemas.microsoft.com/office/drawing/2014/main" id="{EEB56DEE-83AD-495F-01DD-763217F1AF64}"/>
              </a:ext>
            </a:extLst>
          </p:cNvPr>
          <p:cNvSpPr txBox="1"/>
          <p:nvPr/>
        </p:nvSpPr>
        <p:spPr>
          <a:xfrm>
            <a:off x="9516811" y="5288340"/>
            <a:ext cx="5848847" cy="1569660"/>
          </a:xfrm>
          <a:prstGeom prst="rect">
            <a:avLst/>
          </a:prstGeom>
          <a:noFill/>
        </p:spPr>
        <p:txBody>
          <a:bodyPr wrap="square" rtlCol="0">
            <a:spAutoFit/>
          </a:bodyPr>
          <a:lstStyle/>
          <a:p>
            <a:r>
              <a:rPr lang="it-IT" sz="1200" i="1" dirty="0" err="1">
                <a:solidFill>
                  <a:schemeClr val="bg2">
                    <a:lumMod val="50000"/>
                  </a:schemeClr>
                </a:solidFill>
              </a:rPr>
              <a:t>linear_model</a:t>
            </a:r>
            <a:r>
              <a:rPr lang="it-IT" sz="1200" i="1" dirty="0">
                <a:solidFill>
                  <a:schemeClr val="bg2">
                    <a:lumMod val="50000"/>
                  </a:schemeClr>
                </a:solidFill>
              </a:rPr>
              <a:t> &lt;- lm(</a:t>
            </a:r>
          </a:p>
          <a:p>
            <a:r>
              <a:rPr lang="it-IT" sz="1200" i="1" dirty="0">
                <a:solidFill>
                  <a:schemeClr val="bg2">
                    <a:lumMod val="50000"/>
                  </a:schemeClr>
                </a:solidFill>
              </a:rPr>
              <a:t>  </a:t>
            </a:r>
            <a:r>
              <a:rPr lang="it-IT" sz="1200" i="1" dirty="0" err="1">
                <a:solidFill>
                  <a:schemeClr val="bg2">
                    <a:lumMod val="50000"/>
                  </a:schemeClr>
                </a:solidFill>
              </a:rPr>
              <a:t>Glucose</a:t>
            </a:r>
            <a:r>
              <a:rPr lang="it-IT" sz="1200" i="1" dirty="0">
                <a:solidFill>
                  <a:schemeClr val="bg2">
                    <a:lumMod val="50000"/>
                  </a:schemeClr>
                </a:solidFill>
              </a:rPr>
              <a:t> ~ Age + BMI + </a:t>
            </a:r>
            <a:r>
              <a:rPr lang="it-IT" sz="1200" i="1" dirty="0" err="1">
                <a:solidFill>
                  <a:schemeClr val="bg2">
                    <a:lumMod val="50000"/>
                  </a:schemeClr>
                </a:solidFill>
              </a:rPr>
              <a:t>Pregnancies</a:t>
            </a:r>
            <a:r>
              <a:rPr lang="it-IT" sz="1200" i="1" dirty="0">
                <a:solidFill>
                  <a:schemeClr val="bg2">
                    <a:lumMod val="50000"/>
                  </a:schemeClr>
                </a:solidFill>
              </a:rPr>
              <a:t> +</a:t>
            </a:r>
          </a:p>
          <a:p>
            <a:r>
              <a:rPr lang="it-IT" sz="1200" i="1" dirty="0">
                <a:solidFill>
                  <a:schemeClr val="bg2">
                    <a:lumMod val="50000"/>
                  </a:schemeClr>
                </a:solidFill>
              </a:rPr>
              <a:t>    </a:t>
            </a:r>
            <a:r>
              <a:rPr lang="it-IT" sz="1200" i="1" dirty="0" err="1">
                <a:solidFill>
                  <a:schemeClr val="bg2">
                    <a:lumMod val="50000"/>
                  </a:schemeClr>
                </a:solidFill>
              </a:rPr>
              <a:t>BloodPressure</a:t>
            </a:r>
            <a:r>
              <a:rPr lang="it-IT" sz="1200" i="1" dirty="0">
                <a:solidFill>
                  <a:schemeClr val="bg2">
                    <a:lumMod val="50000"/>
                  </a:schemeClr>
                </a:solidFill>
              </a:rPr>
              <a:t> + </a:t>
            </a:r>
            <a:r>
              <a:rPr lang="it-IT" sz="1200" i="1" dirty="0" err="1">
                <a:solidFill>
                  <a:schemeClr val="bg2">
                    <a:lumMod val="50000"/>
                  </a:schemeClr>
                </a:solidFill>
              </a:rPr>
              <a:t>SkinThickness</a:t>
            </a:r>
            <a:r>
              <a:rPr lang="it-IT" sz="1200" i="1" dirty="0">
                <a:solidFill>
                  <a:schemeClr val="bg2">
                    <a:lumMod val="50000"/>
                  </a:schemeClr>
                </a:solidFill>
              </a:rPr>
              <a:t> +</a:t>
            </a:r>
          </a:p>
          <a:p>
            <a:r>
              <a:rPr lang="it-IT" sz="1200" i="1" dirty="0">
                <a:solidFill>
                  <a:schemeClr val="bg2">
                    <a:lumMod val="50000"/>
                  </a:schemeClr>
                </a:solidFill>
              </a:rPr>
              <a:t>    </a:t>
            </a:r>
            <a:r>
              <a:rPr lang="it-IT" sz="1200" i="1" dirty="0" err="1">
                <a:solidFill>
                  <a:schemeClr val="bg2">
                    <a:lumMod val="50000"/>
                  </a:schemeClr>
                </a:solidFill>
              </a:rPr>
              <a:t>Insulin</a:t>
            </a:r>
            <a:r>
              <a:rPr lang="it-IT" sz="1200" i="1" dirty="0">
                <a:solidFill>
                  <a:schemeClr val="bg2">
                    <a:lumMod val="50000"/>
                  </a:schemeClr>
                </a:solidFill>
              </a:rPr>
              <a:t> + </a:t>
            </a:r>
            <a:r>
              <a:rPr lang="it-IT" sz="1200" i="1" dirty="0" err="1">
                <a:solidFill>
                  <a:schemeClr val="bg2">
                    <a:lumMod val="50000"/>
                  </a:schemeClr>
                </a:solidFill>
              </a:rPr>
              <a:t>DiabetesPedigreeFunction</a:t>
            </a:r>
            <a:r>
              <a:rPr lang="it-IT" sz="1200" i="1" dirty="0">
                <a:solidFill>
                  <a:schemeClr val="bg2">
                    <a:lumMod val="50000"/>
                  </a:schemeClr>
                </a:solidFill>
              </a:rPr>
              <a:t>,</a:t>
            </a:r>
          </a:p>
          <a:p>
            <a:r>
              <a:rPr lang="it-IT" sz="1200" i="1" dirty="0">
                <a:solidFill>
                  <a:schemeClr val="bg2">
                    <a:lumMod val="50000"/>
                  </a:schemeClr>
                </a:solidFill>
              </a:rPr>
              <a:t>  data = </a:t>
            </a:r>
            <a:r>
              <a:rPr lang="it-IT" sz="1200" i="1" dirty="0" err="1">
                <a:solidFill>
                  <a:schemeClr val="bg2">
                    <a:lumMod val="50000"/>
                  </a:schemeClr>
                </a:solidFill>
              </a:rPr>
              <a:t>diabetes</a:t>
            </a:r>
            <a:endParaRPr lang="it-IT" sz="1200" i="1" dirty="0">
              <a:solidFill>
                <a:schemeClr val="bg2">
                  <a:lumMod val="50000"/>
                </a:schemeClr>
              </a:solidFill>
            </a:endParaRPr>
          </a:p>
          <a:p>
            <a:r>
              <a:rPr lang="it-IT" sz="1200" i="1" dirty="0">
                <a:solidFill>
                  <a:schemeClr val="bg2">
                    <a:lumMod val="50000"/>
                  </a:schemeClr>
                </a:solidFill>
              </a:rPr>
              <a:t>)</a:t>
            </a:r>
          </a:p>
          <a:p>
            <a:endParaRPr lang="it-IT" sz="1200" i="1" dirty="0">
              <a:solidFill>
                <a:schemeClr val="bg2">
                  <a:lumMod val="50000"/>
                </a:schemeClr>
              </a:solidFill>
            </a:endParaRPr>
          </a:p>
          <a:p>
            <a:r>
              <a:rPr lang="it-IT" sz="1200" i="1" dirty="0" err="1">
                <a:solidFill>
                  <a:schemeClr val="bg2">
                    <a:lumMod val="50000"/>
                  </a:schemeClr>
                </a:solidFill>
              </a:rPr>
              <a:t>summary</a:t>
            </a:r>
            <a:r>
              <a:rPr lang="it-IT" sz="1200" i="1" dirty="0">
                <a:solidFill>
                  <a:schemeClr val="bg2">
                    <a:lumMod val="50000"/>
                  </a:schemeClr>
                </a:solidFill>
              </a:rPr>
              <a:t>(</a:t>
            </a:r>
            <a:r>
              <a:rPr lang="it-IT" sz="1200" i="1" dirty="0" err="1">
                <a:solidFill>
                  <a:schemeClr val="bg2">
                    <a:lumMod val="50000"/>
                  </a:schemeClr>
                </a:solidFill>
              </a:rPr>
              <a:t>linear_model</a:t>
            </a:r>
            <a:r>
              <a:rPr lang="it-IT" sz="1200" i="1" dirty="0">
                <a:solidFill>
                  <a:schemeClr val="bg2">
                    <a:lumMod val="50000"/>
                  </a:schemeClr>
                </a:solidFill>
              </a:rPr>
              <a:t>)</a:t>
            </a:r>
          </a:p>
        </p:txBody>
      </p:sp>
      <p:graphicFrame>
        <p:nvGraphicFramePr>
          <p:cNvPr id="7" name="Segnaposto contenuto 6">
            <a:extLst>
              <a:ext uri="{FF2B5EF4-FFF2-40B4-BE49-F238E27FC236}">
                <a16:creationId xmlns:a16="http://schemas.microsoft.com/office/drawing/2014/main" id="{A87ABEBD-3BF6-6DBC-933F-F94C5356627E}"/>
              </a:ext>
            </a:extLst>
          </p:cNvPr>
          <p:cNvGraphicFramePr>
            <a:graphicFrameLocks noGrp="1"/>
          </p:cNvGraphicFramePr>
          <p:nvPr>
            <p:ph idx="1"/>
            <p:extLst>
              <p:ext uri="{D42A27DB-BD31-4B8C-83A1-F6EECF244321}">
                <p14:modId xmlns:p14="http://schemas.microsoft.com/office/powerpoint/2010/main" val="2570933042"/>
              </p:ext>
            </p:extLst>
          </p:nvPr>
        </p:nvGraphicFramePr>
        <p:xfrm>
          <a:off x="6310396" y="1743505"/>
          <a:ext cx="4886078" cy="2225040"/>
        </p:xfrm>
        <a:graphic>
          <a:graphicData uri="http://schemas.openxmlformats.org/drawingml/2006/table">
            <a:tbl>
              <a:tblPr firstRow="1" bandRow="1">
                <a:tableStyleId>{72833802-FEF1-4C79-8D5D-14CF1EAF98D9}</a:tableStyleId>
              </a:tblPr>
              <a:tblGrid>
                <a:gridCol w="2443039">
                  <a:extLst>
                    <a:ext uri="{9D8B030D-6E8A-4147-A177-3AD203B41FA5}">
                      <a16:colId xmlns:a16="http://schemas.microsoft.com/office/drawing/2014/main" val="3355522483"/>
                    </a:ext>
                  </a:extLst>
                </a:gridCol>
                <a:gridCol w="2443039">
                  <a:extLst>
                    <a:ext uri="{9D8B030D-6E8A-4147-A177-3AD203B41FA5}">
                      <a16:colId xmlns:a16="http://schemas.microsoft.com/office/drawing/2014/main" val="1558665599"/>
                    </a:ext>
                  </a:extLst>
                </a:gridCol>
              </a:tblGrid>
              <a:tr h="370840">
                <a:tc>
                  <a:txBody>
                    <a:bodyPr/>
                    <a:lstStyle/>
                    <a:p>
                      <a:r>
                        <a:rPr lang="it-IT" sz="1400" dirty="0" err="1"/>
                        <a:t>Metric</a:t>
                      </a:r>
                      <a:endParaRPr lang="it-IT" sz="1400" dirty="0"/>
                    </a:p>
                  </a:txBody>
                  <a:tcPr/>
                </a:tc>
                <a:tc>
                  <a:txBody>
                    <a:bodyPr/>
                    <a:lstStyle/>
                    <a:p>
                      <a:r>
                        <a:rPr lang="it-IT" sz="1400" dirty="0" err="1"/>
                        <a:t>Result</a:t>
                      </a:r>
                      <a:endParaRPr lang="it-IT" sz="1400" dirty="0"/>
                    </a:p>
                  </a:txBody>
                  <a:tcPr/>
                </a:tc>
                <a:extLst>
                  <a:ext uri="{0D108BD9-81ED-4DB2-BD59-A6C34878D82A}">
                    <a16:rowId xmlns:a16="http://schemas.microsoft.com/office/drawing/2014/main" val="2248210569"/>
                  </a:ext>
                </a:extLst>
              </a:tr>
              <a:tr h="370840">
                <a:tc>
                  <a:txBody>
                    <a:bodyPr/>
                    <a:lstStyle/>
                    <a:p>
                      <a:r>
                        <a:rPr lang="it-IT" sz="1400" dirty="0" err="1"/>
                        <a:t>Observations</a:t>
                      </a:r>
                      <a:endParaRPr lang="it-IT" sz="1400" dirty="0"/>
                    </a:p>
                  </a:txBody>
                  <a:tcPr/>
                </a:tc>
                <a:tc>
                  <a:txBody>
                    <a:bodyPr/>
                    <a:lstStyle/>
                    <a:p>
                      <a:r>
                        <a:rPr lang="it-IT" sz="1400" dirty="0"/>
                        <a:t>768</a:t>
                      </a:r>
                    </a:p>
                  </a:txBody>
                  <a:tcPr/>
                </a:tc>
                <a:extLst>
                  <a:ext uri="{0D108BD9-81ED-4DB2-BD59-A6C34878D82A}">
                    <a16:rowId xmlns:a16="http://schemas.microsoft.com/office/drawing/2014/main" val="494872338"/>
                  </a:ext>
                </a:extLst>
              </a:tr>
              <a:tr h="370840">
                <a:tc>
                  <a:txBody>
                    <a:bodyPr/>
                    <a:lstStyle/>
                    <a:p>
                      <a:r>
                        <a:rPr lang="it-IT" sz="1400" b="0" i="0" u="none" strike="noStrike" kern="1200" dirty="0">
                          <a:solidFill>
                            <a:schemeClr val="tx1"/>
                          </a:solidFill>
                          <a:effectLst/>
                          <a:latin typeface="+mn-lt"/>
                          <a:ea typeface="+mn-ea"/>
                          <a:cs typeface="+mn-cs"/>
                        </a:rPr>
                        <a:t>R²</a:t>
                      </a:r>
                      <a:endParaRPr lang="it-IT" sz="1400" dirty="0"/>
                    </a:p>
                  </a:txBody>
                  <a:tcPr/>
                </a:tc>
                <a:tc>
                  <a:txBody>
                    <a:bodyPr/>
                    <a:lstStyle/>
                    <a:p>
                      <a:r>
                        <a:rPr lang="it-IT" sz="1400" dirty="0"/>
                        <a:t>0.230</a:t>
                      </a:r>
                    </a:p>
                  </a:txBody>
                  <a:tcPr/>
                </a:tc>
                <a:extLst>
                  <a:ext uri="{0D108BD9-81ED-4DB2-BD59-A6C34878D82A}">
                    <a16:rowId xmlns:a16="http://schemas.microsoft.com/office/drawing/2014/main" val="846767621"/>
                  </a:ext>
                </a:extLst>
              </a:tr>
              <a:tr h="370840">
                <a:tc>
                  <a:txBody>
                    <a:bodyPr/>
                    <a:lstStyle/>
                    <a:p>
                      <a:r>
                        <a:rPr lang="it-IT" sz="1400" b="0" i="0" u="none" strike="noStrike" kern="1200" dirty="0" err="1">
                          <a:solidFill>
                            <a:schemeClr val="tx1"/>
                          </a:solidFill>
                          <a:effectLst/>
                          <a:latin typeface="+mn-lt"/>
                          <a:ea typeface="+mn-ea"/>
                          <a:cs typeface="+mn-cs"/>
                        </a:rPr>
                        <a:t>Adjusted</a:t>
                      </a:r>
                      <a:r>
                        <a:rPr lang="it-IT" sz="1400" b="0" i="0" u="none" strike="noStrike" kern="1200" dirty="0">
                          <a:solidFill>
                            <a:schemeClr val="tx1"/>
                          </a:solidFill>
                          <a:effectLst/>
                          <a:latin typeface="+mn-lt"/>
                          <a:ea typeface="+mn-ea"/>
                          <a:cs typeface="+mn-cs"/>
                        </a:rPr>
                        <a:t> R²</a:t>
                      </a:r>
                      <a:endParaRPr lang="it-IT" sz="1400" dirty="0"/>
                    </a:p>
                  </a:txBody>
                  <a:tcPr/>
                </a:tc>
                <a:tc>
                  <a:txBody>
                    <a:bodyPr/>
                    <a:lstStyle/>
                    <a:p>
                      <a:r>
                        <a:rPr lang="it-IT" sz="1400" dirty="0"/>
                        <a:t>0.223</a:t>
                      </a:r>
                    </a:p>
                  </a:txBody>
                  <a:tcPr/>
                </a:tc>
                <a:extLst>
                  <a:ext uri="{0D108BD9-81ED-4DB2-BD59-A6C34878D82A}">
                    <a16:rowId xmlns:a16="http://schemas.microsoft.com/office/drawing/2014/main" val="1098820961"/>
                  </a:ext>
                </a:extLst>
              </a:tr>
              <a:tr h="370840">
                <a:tc>
                  <a:txBody>
                    <a:bodyPr/>
                    <a:lstStyle/>
                    <a:p>
                      <a:r>
                        <a:rPr lang="it-IT" sz="1400" b="0" i="0" u="none" strike="noStrike" kern="1200" dirty="0" err="1">
                          <a:solidFill>
                            <a:schemeClr val="tx1"/>
                          </a:solidFill>
                          <a:effectLst/>
                          <a:latin typeface="+mn-lt"/>
                          <a:ea typeface="+mn-ea"/>
                          <a:cs typeface="+mn-cs"/>
                        </a:rPr>
                        <a:t>F-statistic</a:t>
                      </a:r>
                      <a:endParaRPr lang="it-IT" sz="1400" dirty="0"/>
                    </a:p>
                  </a:txBody>
                  <a:tcPr/>
                </a:tc>
                <a:tc>
                  <a:txBody>
                    <a:bodyPr/>
                    <a:lstStyle/>
                    <a:p>
                      <a:r>
                        <a:rPr lang="it-IT" sz="1400" dirty="0"/>
                        <a:t>32.46</a:t>
                      </a:r>
                    </a:p>
                  </a:txBody>
                  <a:tcPr/>
                </a:tc>
                <a:extLst>
                  <a:ext uri="{0D108BD9-81ED-4DB2-BD59-A6C34878D82A}">
                    <a16:rowId xmlns:a16="http://schemas.microsoft.com/office/drawing/2014/main" val="3653788984"/>
                  </a:ext>
                </a:extLst>
              </a:tr>
              <a:tr h="370840">
                <a:tc>
                  <a:txBody>
                    <a:bodyPr/>
                    <a:lstStyle/>
                    <a:p>
                      <a:r>
                        <a:rPr lang="it-IT" sz="1400" b="0" i="0" u="none" strike="noStrike" kern="1200" dirty="0">
                          <a:solidFill>
                            <a:schemeClr val="tx1"/>
                          </a:solidFill>
                          <a:effectLst/>
                          <a:latin typeface="+mn-lt"/>
                          <a:ea typeface="+mn-ea"/>
                          <a:cs typeface="+mn-cs"/>
                        </a:rPr>
                        <a:t>Model </a:t>
                      </a:r>
                      <a:r>
                        <a:rPr lang="it-IT" sz="1400" b="0" i="0" u="none" strike="noStrike" kern="1200" dirty="0" err="1">
                          <a:solidFill>
                            <a:schemeClr val="tx1"/>
                          </a:solidFill>
                          <a:effectLst/>
                          <a:latin typeface="+mn-lt"/>
                          <a:ea typeface="+mn-ea"/>
                          <a:cs typeface="+mn-cs"/>
                        </a:rPr>
                        <a:t>p-value</a:t>
                      </a:r>
                      <a:endParaRPr lang="it-IT" sz="1400" dirty="0"/>
                    </a:p>
                  </a:txBody>
                  <a:tcPr/>
                </a:tc>
                <a:tc>
                  <a:txBody>
                    <a:bodyPr/>
                    <a:lstStyle/>
                    <a:p>
                      <a:r>
                        <a:rPr lang="it-IT" sz="1400" dirty="0"/>
                        <a:t>&lt; 0.001</a:t>
                      </a:r>
                    </a:p>
                  </a:txBody>
                  <a:tcPr/>
                </a:tc>
                <a:extLst>
                  <a:ext uri="{0D108BD9-81ED-4DB2-BD59-A6C34878D82A}">
                    <a16:rowId xmlns:a16="http://schemas.microsoft.com/office/drawing/2014/main" val="505996757"/>
                  </a:ext>
                </a:extLst>
              </a:tr>
            </a:tbl>
          </a:graphicData>
        </a:graphic>
      </p:graphicFrame>
      <p:graphicFrame>
        <p:nvGraphicFramePr>
          <p:cNvPr id="8" name="Tabella 7">
            <a:extLst>
              <a:ext uri="{FF2B5EF4-FFF2-40B4-BE49-F238E27FC236}">
                <a16:creationId xmlns:a16="http://schemas.microsoft.com/office/drawing/2014/main" id="{BB786564-C0F3-4129-5CFD-4A79CE7CA1FE}"/>
              </a:ext>
            </a:extLst>
          </p:cNvPr>
          <p:cNvGraphicFramePr>
            <a:graphicFrameLocks noGrp="1"/>
          </p:cNvGraphicFramePr>
          <p:nvPr>
            <p:extLst>
              <p:ext uri="{D42A27DB-BD31-4B8C-83A1-F6EECF244321}">
                <p14:modId xmlns:p14="http://schemas.microsoft.com/office/powerpoint/2010/main" val="2459959144"/>
              </p:ext>
            </p:extLst>
          </p:nvPr>
        </p:nvGraphicFramePr>
        <p:xfrm>
          <a:off x="540326" y="1787236"/>
          <a:ext cx="3973472" cy="4674524"/>
        </p:xfrm>
        <a:graphic>
          <a:graphicData uri="http://schemas.openxmlformats.org/drawingml/2006/table">
            <a:tbl>
              <a:tblPr firstRow="1" bandRow="1">
                <a:tableStyleId>{912C8C85-51F0-491E-9774-3900AFEF0FD7}</a:tableStyleId>
              </a:tblPr>
              <a:tblGrid>
                <a:gridCol w="1184189">
                  <a:extLst>
                    <a:ext uri="{9D8B030D-6E8A-4147-A177-3AD203B41FA5}">
                      <a16:colId xmlns:a16="http://schemas.microsoft.com/office/drawing/2014/main" val="2416617362"/>
                    </a:ext>
                  </a:extLst>
                </a:gridCol>
                <a:gridCol w="899271">
                  <a:extLst>
                    <a:ext uri="{9D8B030D-6E8A-4147-A177-3AD203B41FA5}">
                      <a16:colId xmlns:a16="http://schemas.microsoft.com/office/drawing/2014/main" val="983544533"/>
                    </a:ext>
                  </a:extLst>
                </a:gridCol>
                <a:gridCol w="727333">
                  <a:extLst>
                    <a:ext uri="{9D8B030D-6E8A-4147-A177-3AD203B41FA5}">
                      <a16:colId xmlns:a16="http://schemas.microsoft.com/office/drawing/2014/main" val="2404232850"/>
                    </a:ext>
                  </a:extLst>
                </a:gridCol>
                <a:gridCol w="1162679">
                  <a:extLst>
                    <a:ext uri="{9D8B030D-6E8A-4147-A177-3AD203B41FA5}">
                      <a16:colId xmlns:a16="http://schemas.microsoft.com/office/drawing/2014/main" val="4083292529"/>
                    </a:ext>
                  </a:extLst>
                </a:gridCol>
              </a:tblGrid>
              <a:tr h="568210">
                <a:tc>
                  <a:txBody>
                    <a:bodyPr/>
                    <a:lstStyle/>
                    <a:p>
                      <a:r>
                        <a:rPr lang="it-IT" sz="1400" dirty="0" err="1"/>
                        <a:t>Predictor</a:t>
                      </a:r>
                      <a:endParaRPr lang="it-IT"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l-GR" sz="1400" b="0" i="0" u="none" strike="noStrike" kern="1200" dirty="0">
                          <a:solidFill>
                            <a:schemeClr val="bg1"/>
                          </a:solidFill>
                          <a:effectLst/>
                          <a:latin typeface="+mn-lt"/>
                          <a:ea typeface="+mn-ea"/>
                          <a:cs typeface="+mn-cs"/>
                        </a:rPr>
                        <a:t>β </a:t>
                      </a:r>
                      <a:r>
                        <a:rPr lang="it-IT" sz="1400" b="0" i="0" u="none" strike="noStrike" kern="1200" dirty="0">
                          <a:solidFill>
                            <a:schemeClr val="bg1"/>
                          </a:solidFill>
                          <a:effectLst/>
                          <a:latin typeface="+mn-lt"/>
                          <a:ea typeface="+mn-ea"/>
                          <a:cs typeface="+mn-cs"/>
                        </a:rPr>
                        <a:t>Estimate</a:t>
                      </a:r>
                      <a:endParaRPr lang="it-IT" sz="1400" dirty="0"/>
                    </a:p>
                  </a:txBody>
                  <a:tcPr>
                    <a:lnL w="12700" cap="flat" cmpd="sng" algn="ctr">
                      <a:noFill/>
                      <a:prstDash val="solid"/>
                      <a:round/>
                      <a:headEnd type="none" w="med" len="med"/>
                      <a:tailEnd type="none" w="med" len="med"/>
                    </a:lnL>
                  </a:tcPr>
                </a:tc>
                <a:tc>
                  <a:txBody>
                    <a:bodyPr/>
                    <a:lstStyle/>
                    <a:p>
                      <a:r>
                        <a:rPr lang="it-IT" sz="1400" b="0" i="0" u="none" strike="noStrike" kern="1200" dirty="0" err="1">
                          <a:solidFill>
                            <a:schemeClr val="bg1"/>
                          </a:solidFill>
                          <a:effectLst/>
                          <a:latin typeface="+mn-lt"/>
                          <a:ea typeface="+mn-ea"/>
                          <a:cs typeface="+mn-cs"/>
                        </a:rPr>
                        <a:t>p-value</a:t>
                      </a:r>
                      <a:endParaRPr lang="it-IT" sz="1400" dirty="0"/>
                    </a:p>
                  </a:txBody>
                  <a:tcPr/>
                </a:tc>
                <a:tc>
                  <a:txBody>
                    <a:bodyPr/>
                    <a:lstStyle/>
                    <a:p>
                      <a:r>
                        <a:rPr lang="it-IT" sz="1400" b="0" i="0" u="none" strike="noStrike" kern="1200" dirty="0" err="1">
                          <a:solidFill>
                            <a:schemeClr val="bg1"/>
                          </a:solidFill>
                          <a:effectLst/>
                          <a:latin typeface="+mn-lt"/>
                          <a:ea typeface="+mn-ea"/>
                          <a:cs typeface="+mn-cs"/>
                        </a:rPr>
                        <a:t>Significant</a:t>
                      </a:r>
                      <a:endParaRPr lang="it-IT" sz="1400" dirty="0"/>
                    </a:p>
                  </a:txBody>
                  <a:tcPr/>
                </a:tc>
                <a:extLst>
                  <a:ext uri="{0D108BD9-81ED-4DB2-BD59-A6C34878D82A}">
                    <a16:rowId xmlns:a16="http://schemas.microsoft.com/office/drawing/2014/main" val="169073183"/>
                  </a:ext>
                </a:extLst>
              </a:tr>
              <a:tr h="360009">
                <a:tc>
                  <a:txBody>
                    <a:bodyPr/>
                    <a:lstStyle/>
                    <a:p>
                      <a:r>
                        <a:rPr lang="it-IT" sz="1400" dirty="0"/>
                        <a:t>Age</a:t>
                      </a:r>
                    </a:p>
                  </a:txBody>
                  <a:tcPr>
                    <a:lnT w="12700" cap="flat" cmpd="sng" algn="ctr">
                      <a:noFill/>
                      <a:prstDash val="solid"/>
                      <a:round/>
                      <a:headEnd type="none" w="med" len="med"/>
                      <a:tailEnd type="none" w="med" len="med"/>
                    </a:lnT>
                  </a:tcPr>
                </a:tc>
                <a:tc>
                  <a:txBody>
                    <a:bodyPr/>
                    <a:lstStyle/>
                    <a:p>
                      <a:r>
                        <a:rPr lang="it-IT" sz="1400" dirty="0"/>
                        <a:t>+0.645</a:t>
                      </a:r>
                    </a:p>
                  </a:txBody>
                  <a:tcPr/>
                </a:tc>
                <a:tc>
                  <a:txBody>
                    <a:bodyPr/>
                    <a:lstStyle/>
                    <a:p>
                      <a:r>
                        <a:rPr lang="it-IT" sz="1400" dirty="0"/>
                        <a:t>&lt;0.001</a:t>
                      </a:r>
                    </a:p>
                  </a:txBody>
                  <a:tcPr/>
                </a:tc>
                <a:tc>
                  <a:txBody>
                    <a:bodyPr/>
                    <a:lstStyle/>
                    <a:p>
                      <a:r>
                        <a:rPr lang="it-IT" dirty="0"/>
                        <a:t>☑️</a:t>
                      </a:r>
                    </a:p>
                  </a:txBody>
                  <a:tcPr/>
                </a:tc>
                <a:extLst>
                  <a:ext uri="{0D108BD9-81ED-4DB2-BD59-A6C34878D82A}">
                    <a16:rowId xmlns:a16="http://schemas.microsoft.com/office/drawing/2014/main" val="3964683126"/>
                  </a:ext>
                </a:extLst>
              </a:tr>
              <a:tr h="0">
                <a:tc>
                  <a:txBody>
                    <a:bodyPr/>
                    <a:lstStyle/>
                    <a:p>
                      <a:r>
                        <a:rPr lang="it-IT" sz="1400" dirty="0"/>
                        <a:t>BMI</a:t>
                      </a:r>
                    </a:p>
                  </a:txBody>
                  <a:tcPr/>
                </a:tc>
                <a:tc>
                  <a:txBody>
                    <a:bodyPr/>
                    <a:lstStyle/>
                    <a:p>
                      <a:r>
                        <a:rPr lang="it-IT" sz="1400" dirty="0"/>
                        <a:t>+0.750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&lt;0.001</a:t>
                      </a:r>
                    </a:p>
                    <a:p>
                      <a:endParaRPr lang="it-IT"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p>
                      <a:endParaRPr lang="it-IT" dirty="0"/>
                    </a:p>
                  </a:txBody>
                  <a:tcPr/>
                </a:tc>
                <a:extLst>
                  <a:ext uri="{0D108BD9-81ED-4DB2-BD59-A6C34878D82A}">
                    <a16:rowId xmlns:a16="http://schemas.microsoft.com/office/drawing/2014/main" val="1970343939"/>
                  </a:ext>
                </a:extLst>
              </a:tr>
              <a:tr h="413250">
                <a:tc>
                  <a:txBody>
                    <a:bodyPr/>
                    <a:lstStyle/>
                    <a:p>
                      <a:r>
                        <a:rPr lang="it-IT" sz="1400" dirty="0" err="1"/>
                        <a:t>Insulin</a:t>
                      </a:r>
                      <a:endParaRPr lang="it-IT" sz="1400" dirty="0"/>
                    </a:p>
                  </a:txBody>
                  <a:tcPr/>
                </a:tc>
                <a:tc>
                  <a:txBody>
                    <a:bodyPr/>
                    <a:lstStyle/>
                    <a:p>
                      <a:r>
                        <a:rPr lang="it-IT" sz="1400" dirty="0"/>
                        <a:t>+0.100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&lt;0.001</a:t>
                      </a:r>
                    </a:p>
                    <a:p>
                      <a:endParaRPr lang="it-IT"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p>
                      <a:endParaRPr lang="it-IT" dirty="0"/>
                    </a:p>
                  </a:txBody>
                  <a:tcPr/>
                </a:tc>
                <a:extLst>
                  <a:ext uri="{0D108BD9-81ED-4DB2-BD59-A6C34878D82A}">
                    <a16:rowId xmlns:a16="http://schemas.microsoft.com/office/drawing/2014/main" val="4090134149"/>
                  </a:ext>
                </a:extLst>
              </a:tr>
              <a:tr h="630016">
                <a:tc>
                  <a:txBody>
                    <a:bodyPr/>
                    <a:lstStyle/>
                    <a:p>
                      <a:r>
                        <a:rPr lang="it-IT" sz="1400" b="0" i="0" u="none" strike="noStrike" kern="1200" dirty="0" err="1">
                          <a:solidFill>
                            <a:schemeClr val="tx1"/>
                          </a:solidFill>
                          <a:effectLst/>
                          <a:latin typeface="+mn-lt"/>
                          <a:ea typeface="+mn-ea"/>
                          <a:cs typeface="+mn-cs"/>
                        </a:rPr>
                        <a:t>Skin</a:t>
                      </a:r>
                      <a:r>
                        <a:rPr lang="it-IT" sz="1400" b="0" i="0" u="none" strike="noStrike" kern="1200" dirty="0">
                          <a:solidFill>
                            <a:schemeClr val="tx1"/>
                          </a:solidFill>
                          <a:effectLst/>
                          <a:latin typeface="+mn-lt"/>
                          <a:ea typeface="+mn-ea"/>
                          <a:cs typeface="+mn-cs"/>
                        </a:rPr>
                        <a:t> </a:t>
                      </a:r>
                      <a:r>
                        <a:rPr lang="it-IT" sz="1400" b="0" i="0" u="none" strike="noStrike" kern="1200" dirty="0" err="1">
                          <a:solidFill>
                            <a:schemeClr val="tx1"/>
                          </a:solidFill>
                          <a:effectLst/>
                          <a:latin typeface="+mn-lt"/>
                          <a:ea typeface="+mn-ea"/>
                          <a:cs typeface="+mn-cs"/>
                        </a:rPr>
                        <a:t>Thickness</a:t>
                      </a:r>
                      <a:endParaRPr lang="it-IT" sz="1400" dirty="0"/>
                    </a:p>
                  </a:txBody>
                  <a:tcPr/>
                </a:tc>
                <a:tc>
                  <a:txBody>
                    <a:bodyPr/>
                    <a:lstStyle/>
                    <a:p>
                      <a:r>
                        <a:rPr lang="it-IT" sz="1400" dirty="0"/>
                        <a:t>-0.334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t>&lt;0.001</a:t>
                      </a:r>
                    </a:p>
                    <a:p>
                      <a:endParaRPr lang="it-IT"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p>
                      <a:endParaRPr lang="it-IT" dirty="0"/>
                    </a:p>
                  </a:txBody>
                  <a:tcPr/>
                </a:tc>
                <a:extLst>
                  <a:ext uri="{0D108BD9-81ED-4DB2-BD59-A6C34878D82A}">
                    <a16:rowId xmlns:a16="http://schemas.microsoft.com/office/drawing/2014/main" val="3002856017"/>
                  </a:ext>
                </a:extLst>
              </a:tr>
              <a:tr h="540154">
                <a:tc>
                  <a:txBody>
                    <a:bodyPr/>
                    <a:lstStyle/>
                    <a:p>
                      <a:pPr>
                        <a:buNone/>
                      </a:pPr>
                      <a:r>
                        <a:rPr lang="it-IT" sz="1400" dirty="0"/>
                        <a:t>DPF</a:t>
                      </a:r>
                    </a:p>
                  </a:txBody>
                  <a:tcPr anchor="ctr"/>
                </a:tc>
                <a:tc>
                  <a:txBody>
                    <a:bodyPr/>
                    <a:lstStyle/>
                    <a:p>
                      <a:r>
                        <a:rPr lang="it-IT" sz="1400" dirty="0"/>
                        <a:t>+6.316</a:t>
                      </a:r>
                    </a:p>
                  </a:txBody>
                  <a:tcPr/>
                </a:tc>
                <a:tc>
                  <a:txBody>
                    <a:bodyPr/>
                    <a:lstStyle/>
                    <a:p>
                      <a:r>
                        <a:rPr lang="it-IT" sz="1400" dirty="0"/>
                        <a:t>0.046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txBody>
                  <a:tcPr/>
                </a:tc>
                <a:extLst>
                  <a:ext uri="{0D108BD9-81ED-4DB2-BD59-A6C34878D82A}">
                    <a16:rowId xmlns:a16="http://schemas.microsoft.com/office/drawing/2014/main" val="4288595623"/>
                  </a:ext>
                </a:extLst>
              </a:tr>
              <a:tr h="0">
                <a:tc>
                  <a:txBody>
                    <a:bodyPr/>
                    <a:lstStyle/>
                    <a:p>
                      <a:r>
                        <a:rPr lang="it-IT" sz="1400" b="0" i="0" u="none" strike="noStrike" kern="1200" dirty="0" err="1">
                          <a:solidFill>
                            <a:schemeClr val="tx1"/>
                          </a:solidFill>
                          <a:effectLst/>
                          <a:latin typeface="+mn-lt"/>
                          <a:ea typeface="+mn-ea"/>
                          <a:cs typeface="+mn-cs"/>
                        </a:rPr>
                        <a:t>Pregnancies</a:t>
                      </a:r>
                      <a:endParaRPr lang="it-IT" sz="1400" dirty="0"/>
                    </a:p>
                  </a:txBody>
                  <a:tcPr/>
                </a:tc>
                <a:tc>
                  <a:txBody>
                    <a:bodyPr/>
                    <a:lstStyle/>
                    <a:p>
                      <a:r>
                        <a:rPr lang="it-IT" sz="1400" dirty="0"/>
                        <a:t>+0.059</a:t>
                      </a:r>
                    </a:p>
                  </a:txBody>
                  <a:tcPr/>
                </a:tc>
                <a:tc>
                  <a:txBody>
                    <a:bodyPr/>
                    <a:lstStyle/>
                    <a:p>
                      <a:r>
                        <a:rPr lang="it-IT" sz="1400" dirty="0"/>
                        <a:t>0.871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p>
                      <a:endParaRPr lang="it-IT" dirty="0"/>
                    </a:p>
                  </a:txBody>
                  <a:tcPr/>
                </a:tc>
                <a:extLst>
                  <a:ext uri="{0D108BD9-81ED-4DB2-BD59-A6C34878D82A}">
                    <a16:rowId xmlns:a16="http://schemas.microsoft.com/office/drawing/2014/main" val="4291422452"/>
                  </a:ext>
                </a:extLst>
              </a:tr>
              <a:tr h="630016">
                <a:tc>
                  <a:txBody>
                    <a:bodyPr/>
                    <a:lstStyle/>
                    <a:p>
                      <a:r>
                        <a:rPr lang="it-IT" sz="1400" b="0" i="0" u="none" strike="noStrike" kern="1200" dirty="0">
                          <a:solidFill>
                            <a:schemeClr val="tx1"/>
                          </a:solidFill>
                          <a:effectLst/>
                          <a:latin typeface="+mn-lt"/>
                          <a:ea typeface="+mn-ea"/>
                          <a:cs typeface="+mn-cs"/>
                        </a:rPr>
                        <a:t>Blood Pressure</a:t>
                      </a:r>
                      <a:endParaRPr lang="it-IT" sz="1400" dirty="0"/>
                    </a:p>
                  </a:txBody>
                  <a:tcPr/>
                </a:tc>
                <a:tc>
                  <a:txBody>
                    <a:bodyPr/>
                    <a:lstStyle/>
                    <a:p>
                      <a:r>
                        <a:rPr lang="it-IT" sz="1400" dirty="0"/>
                        <a:t>+0.070</a:t>
                      </a:r>
                    </a:p>
                  </a:txBody>
                  <a:tcPr/>
                </a:tc>
                <a:tc>
                  <a:txBody>
                    <a:bodyPr/>
                    <a:lstStyle/>
                    <a:p>
                      <a:r>
                        <a:rPr lang="it-IT" sz="1400" dirty="0"/>
                        <a:t>0.220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a:t>
                      </a:r>
                    </a:p>
                    <a:p>
                      <a:endParaRPr lang="it-IT" dirty="0"/>
                    </a:p>
                  </a:txBody>
                  <a:tcPr/>
                </a:tc>
                <a:extLst>
                  <a:ext uri="{0D108BD9-81ED-4DB2-BD59-A6C34878D82A}">
                    <a16:rowId xmlns:a16="http://schemas.microsoft.com/office/drawing/2014/main" val="764876590"/>
                  </a:ext>
                </a:extLst>
              </a:tr>
            </a:tbl>
          </a:graphicData>
        </a:graphic>
      </p:graphicFrame>
      <p:sp>
        <p:nvSpPr>
          <p:cNvPr id="11" name="CasellaDiTesto 10">
            <a:extLst>
              <a:ext uri="{FF2B5EF4-FFF2-40B4-BE49-F238E27FC236}">
                <a16:creationId xmlns:a16="http://schemas.microsoft.com/office/drawing/2014/main" id="{EAA70FD2-7E16-1663-D29B-651F2FD0A861}"/>
              </a:ext>
            </a:extLst>
          </p:cNvPr>
          <p:cNvSpPr txBox="1"/>
          <p:nvPr/>
        </p:nvSpPr>
        <p:spPr>
          <a:xfrm>
            <a:off x="7490516" y="1422775"/>
            <a:ext cx="1503938" cy="276999"/>
          </a:xfrm>
          <a:prstGeom prst="rect">
            <a:avLst/>
          </a:prstGeom>
          <a:noFill/>
        </p:spPr>
        <p:txBody>
          <a:bodyPr wrap="none" rtlCol="0">
            <a:spAutoFit/>
          </a:bodyPr>
          <a:lstStyle/>
          <a:p>
            <a:r>
              <a:rPr lang="it-IT" sz="1200" b="1" dirty="0"/>
              <a:t>Model Performance</a:t>
            </a:r>
          </a:p>
        </p:txBody>
      </p:sp>
      <p:sp>
        <p:nvSpPr>
          <p:cNvPr id="12" name="CasellaDiTesto 11">
            <a:extLst>
              <a:ext uri="{FF2B5EF4-FFF2-40B4-BE49-F238E27FC236}">
                <a16:creationId xmlns:a16="http://schemas.microsoft.com/office/drawing/2014/main" id="{1E76D30F-BD75-5667-38C0-0E9E0CF57EAE}"/>
              </a:ext>
            </a:extLst>
          </p:cNvPr>
          <p:cNvSpPr txBox="1"/>
          <p:nvPr/>
        </p:nvSpPr>
        <p:spPr>
          <a:xfrm>
            <a:off x="1558958" y="1466506"/>
            <a:ext cx="1638590" cy="276999"/>
          </a:xfrm>
          <a:prstGeom prst="rect">
            <a:avLst/>
          </a:prstGeom>
          <a:noFill/>
        </p:spPr>
        <p:txBody>
          <a:bodyPr wrap="none" rtlCol="0">
            <a:spAutoFit/>
          </a:bodyPr>
          <a:lstStyle/>
          <a:p>
            <a:r>
              <a:rPr lang="it-IT" sz="1200" b="1" dirty="0" err="1"/>
              <a:t>Significant</a:t>
            </a:r>
            <a:r>
              <a:rPr lang="it-IT" sz="1200" b="1" dirty="0"/>
              <a:t> </a:t>
            </a:r>
            <a:r>
              <a:rPr lang="it-IT" sz="1200" b="1" dirty="0" err="1"/>
              <a:t>Predictors</a:t>
            </a:r>
            <a:endParaRPr lang="it-IT" sz="1200" b="1" dirty="0"/>
          </a:p>
        </p:txBody>
      </p:sp>
      <p:sp>
        <p:nvSpPr>
          <p:cNvPr id="3" name="Rectangle 1">
            <a:extLst>
              <a:ext uri="{FF2B5EF4-FFF2-40B4-BE49-F238E27FC236}">
                <a16:creationId xmlns:a16="http://schemas.microsoft.com/office/drawing/2014/main" id="{E6F00C6D-78B8-8C99-DCE8-8977442A83DC}"/>
              </a:ext>
            </a:extLst>
          </p:cNvPr>
          <p:cNvSpPr>
            <a:spLocks noChangeArrowheads="1"/>
          </p:cNvSpPr>
          <p:nvPr/>
        </p:nvSpPr>
        <p:spPr bwMode="auto">
          <a:xfrm>
            <a:off x="5421305" y="4272677"/>
            <a:ext cx="451379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Model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significant</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&lt; 0.001)</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R² = 23%</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endPar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Age, BMI,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Insulin</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DPF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were</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significant</a:t>
            </a:r>
            <a:r>
              <a:rPr kumimoji="0" lang="it-IT" altLang="it-IT"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8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predictors</a:t>
            </a:r>
            <a:endParaRPr kumimoji="0" lang="it-IT" altLang="it-IT"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9632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6950BFC3-D8DA-4A85-94F7-54DA5524770B}">
      <p188:commentRel xmlns:p188="http://schemas.microsoft.com/office/powerpoint/2018/8/main" r:id="rId2"/>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AD16FAD-C89A-5C7D-AD6E-3F1210738D01}"/>
              </a:ext>
            </a:extLst>
          </p:cNvPr>
          <p:cNvSpPr>
            <a:spLocks noGrp="1"/>
          </p:cNvSpPr>
          <p:nvPr>
            <p:ph type="title"/>
          </p:nvPr>
        </p:nvSpPr>
        <p:spPr>
          <a:xfrm>
            <a:off x="640079" y="361466"/>
            <a:ext cx="10890929" cy="1097280"/>
          </a:xfrm>
        </p:spPr>
        <p:txBody>
          <a:bodyPr/>
          <a:lstStyle/>
          <a:p>
            <a:r>
              <a:rPr lang="it-IT" dirty="0" err="1"/>
              <a:t>Logistic</a:t>
            </a:r>
            <a:r>
              <a:rPr lang="it-IT" dirty="0"/>
              <a:t> </a:t>
            </a:r>
            <a:r>
              <a:rPr lang="it-IT" dirty="0" err="1"/>
              <a:t>Regression</a:t>
            </a:r>
            <a:endParaRPr lang="it-IT" dirty="0"/>
          </a:p>
        </p:txBody>
      </p:sp>
      <p:pic>
        <p:nvPicPr>
          <p:cNvPr id="4" name="Immagine 3" descr="Immagine che contiene logo, simbolo, Carattere, Elementi grafici&#10;&#10;Il contenuto generato dall'IA potrebbe non essere corretto.">
            <a:extLst>
              <a:ext uri="{FF2B5EF4-FFF2-40B4-BE49-F238E27FC236}">
                <a16:creationId xmlns:a16="http://schemas.microsoft.com/office/drawing/2014/main" id="{42DE28D3-E814-94DC-F55B-293A1742B36A}"/>
              </a:ext>
            </a:extLst>
          </p:cNvPr>
          <p:cNvPicPr>
            <a:picLocks noChangeAspect="1"/>
          </p:cNvPicPr>
          <p:nvPr/>
        </p:nvPicPr>
        <p:blipFill>
          <a:blip r:embed="rId3"/>
          <a:stretch>
            <a:fillRect/>
          </a:stretch>
        </p:blipFill>
        <p:spPr>
          <a:xfrm>
            <a:off x="11117811" y="5813266"/>
            <a:ext cx="413197" cy="386366"/>
          </a:xfrm>
          <a:prstGeom prst="rect">
            <a:avLst/>
          </a:prstGeom>
        </p:spPr>
      </p:pic>
      <p:sp>
        <p:nvSpPr>
          <p:cNvPr id="5" name="CasellaDiTesto 4">
            <a:extLst>
              <a:ext uri="{FF2B5EF4-FFF2-40B4-BE49-F238E27FC236}">
                <a16:creationId xmlns:a16="http://schemas.microsoft.com/office/drawing/2014/main" id="{2980D3EC-B075-5D01-24C9-54404ECF3647}"/>
              </a:ext>
            </a:extLst>
          </p:cNvPr>
          <p:cNvSpPr txBox="1"/>
          <p:nvPr/>
        </p:nvSpPr>
        <p:spPr>
          <a:xfrm>
            <a:off x="8961623" y="5221619"/>
            <a:ext cx="2231388" cy="1569660"/>
          </a:xfrm>
          <a:prstGeom prst="rect">
            <a:avLst/>
          </a:prstGeom>
          <a:noFill/>
        </p:spPr>
        <p:txBody>
          <a:bodyPr wrap="square" rtlCol="0">
            <a:spAutoFit/>
          </a:bodyPr>
          <a:lstStyle/>
          <a:p>
            <a:r>
              <a:rPr lang="it-IT" sz="1200" i="1" dirty="0" err="1">
                <a:solidFill>
                  <a:schemeClr val="bg2">
                    <a:lumMod val="50000"/>
                  </a:schemeClr>
                </a:solidFill>
              </a:rPr>
              <a:t>log_model</a:t>
            </a:r>
            <a:r>
              <a:rPr lang="it-IT" sz="1200" i="1" dirty="0">
                <a:solidFill>
                  <a:schemeClr val="bg2">
                    <a:lumMod val="50000"/>
                  </a:schemeClr>
                </a:solidFill>
              </a:rPr>
              <a:t> &lt;- </a:t>
            </a:r>
            <a:r>
              <a:rPr lang="it-IT" sz="1200" i="1" dirty="0" err="1">
                <a:solidFill>
                  <a:schemeClr val="bg2">
                    <a:lumMod val="50000"/>
                  </a:schemeClr>
                </a:solidFill>
              </a:rPr>
              <a:t>glm</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Outcome</a:t>
            </a:r>
            <a:r>
              <a:rPr lang="it-IT" sz="1200" i="1" dirty="0">
                <a:solidFill>
                  <a:schemeClr val="bg2">
                    <a:lumMod val="50000"/>
                  </a:schemeClr>
                </a:solidFill>
              </a:rPr>
              <a:t> ~ BMI + Age + </a:t>
            </a:r>
            <a:r>
              <a:rPr lang="it-IT" sz="1200" i="1" dirty="0" err="1">
                <a:solidFill>
                  <a:schemeClr val="bg2">
                    <a:lumMod val="50000"/>
                  </a:schemeClr>
                </a:solidFill>
              </a:rPr>
              <a:t>Glucose</a:t>
            </a:r>
            <a:r>
              <a:rPr lang="it-IT" sz="1200" i="1" dirty="0">
                <a:solidFill>
                  <a:schemeClr val="bg2">
                    <a:lumMod val="50000"/>
                  </a:schemeClr>
                </a:solidFill>
              </a:rPr>
              <a:t>,</a:t>
            </a:r>
          </a:p>
          <a:p>
            <a:r>
              <a:rPr lang="it-IT" sz="1200" i="1" dirty="0">
                <a:solidFill>
                  <a:schemeClr val="bg2">
                    <a:lumMod val="50000"/>
                  </a:schemeClr>
                </a:solidFill>
              </a:rPr>
              <a:t>  data = </a:t>
            </a:r>
            <a:r>
              <a:rPr lang="it-IT" sz="1200" i="1" dirty="0" err="1">
                <a:solidFill>
                  <a:schemeClr val="bg2">
                    <a:lumMod val="50000"/>
                  </a:schemeClr>
                </a:solidFill>
              </a:rPr>
              <a:t>diabetes</a:t>
            </a:r>
            <a:r>
              <a:rPr lang="it-IT" sz="1200" i="1" dirty="0">
                <a:solidFill>
                  <a:schemeClr val="bg2">
                    <a:lumMod val="50000"/>
                  </a:schemeClr>
                </a:solidFill>
              </a:rPr>
              <a:t>,</a:t>
            </a:r>
          </a:p>
          <a:p>
            <a:r>
              <a:rPr lang="it-IT" sz="1200" i="1" dirty="0">
                <a:solidFill>
                  <a:schemeClr val="bg2">
                    <a:lumMod val="50000"/>
                  </a:schemeClr>
                </a:solidFill>
              </a:rPr>
              <a:t>  family = </a:t>
            </a:r>
            <a:r>
              <a:rPr lang="it-IT" sz="1200" i="1" dirty="0" err="1">
                <a:solidFill>
                  <a:schemeClr val="bg2">
                    <a:lumMod val="50000"/>
                  </a:schemeClr>
                </a:solidFill>
              </a:rPr>
              <a:t>binomial</a:t>
            </a:r>
            <a:endParaRPr lang="it-IT" sz="1200" i="1" dirty="0">
              <a:solidFill>
                <a:schemeClr val="bg2">
                  <a:lumMod val="50000"/>
                </a:schemeClr>
              </a:solidFill>
            </a:endParaRPr>
          </a:p>
          <a:p>
            <a:r>
              <a:rPr lang="it-IT" sz="1200" i="1" dirty="0">
                <a:solidFill>
                  <a:schemeClr val="bg2">
                    <a:lumMod val="50000"/>
                  </a:schemeClr>
                </a:solidFill>
              </a:rPr>
              <a:t>)</a:t>
            </a:r>
          </a:p>
          <a:p>
            <a:endParaRPr lang="it-IT" sz="1200" i="1" dirty="0">
              <a:solidFill>
                <a:schemeClr val="bg2">
                  <a:lumMod val="50000"/>
                </a:schemeClr>
              </a:solidFill>
            </a:endParaRPr>
          </a:p>
          <a:p>
            <a:r>
              <a:rPr lang="it-IT" sz="1200" i="1" dirty="0" err="1">
                <a:solidFill>
                  <a:schemeClr val="bg2">
                    <a:lumMod val="50000"/>
                  </a:schemeClr>
                </a:solidFill>
              </a:rPr>
              <a:t>summary</a:t>
            </a:r>
            <a:r>
              <a:rPr lang="it-IT" sz="1200" i="1" dirty="0">
                <a:solidFill>
                  <a:schemeClr val="bg2">
                    <a:lumMod val="50000"/>
                  </a:schemeClr>
                </a:solidFill>
              </a:rPr>
              <a:t>(</a:t>
            </a:r>
            <a:r>
              <a:rPr lang="it-IT" sz="1200" i="1" dirty="0" err="1">
                <a:solidFill>
                  <a:schemeClr val="bg2">
                    <a:lumMod val="50000"/>
                  </a:schemeClr>
                </a:solidFill>
              </a:rPr>
              <a:t>log_model</a:t>
            </a:r>
            <a:r>
              <a:rPr lang="it-IT" sz="1200" i="1" dirty="0">
                <a:solidFill>
                  <a:schemeClr val="bg2">
                    <a:lumMod val="50000"/>
                  </a:schemeClr>
                </a:solidFill>
              </a:rPr>
              <a:t>)</a:t>
            </a:r>
          </a:p>
        </p:txBody>
      </p:sp>
      <p:graphicFrame>
        <p:nvGraphicFramePr>
          <p:cNvPr id="10" name="Segnaposto contenuto 9">
            <a:extLst>
              <a:ext uri="{FF2B5EF4-FFF2-40B4-BE49-F238E27FC236}">
                <a16:creationId xmlns:a16="http://schemas.microsoft.com/office/drawing/2014/main" id="{2C718A6D-A8CE-130E-5B5F-BC02826E2496}"/>
              </a:ext>
            </a:extLst>
          </p:cNvPr>
          <p:cNvGraphicFramePr>
            <a:graphicFrameLocks noGrp="1"/>
          </p:cNvGraphicFramePr>
          <p:nvPr>
            <p:ph idx="1"/>
            <p:extLst>
              <p:ext uri="{D42A27DB-BD31-4B8C-83A1-F6EECF244321}">
                <p14:modId xmlns:p14="http://schemas.microsoft.com/office/powerpoint/2010/main" val="2909261801"/>
              </p:ext>
            </p:extLst>
          </p:nvPr>
        </p:nvGraphicFramePr>
        <p:xfrm>
          <a:off x="656417" y="1812758"/>
          <a:ext cx="5677912" cy="2411910"/>
        </p:xfrm>
        <a:graphic>
          <a:graphicData uri="http://schemas.openxmlformats.org/drawingml/2006/table">
            <a:tbl>
              <a:tblPr firstRow="1" bandRow="1">
                <a:tableStyleId>{5DA37D80-6434-44D0-A028-1B22A696006F}</a:tableStyleId>
              </a:tblPr>
              <a:tblGrid>
                <a:gridCol w="1064348">
                  <a:extLst>
                    <a:ext uri="{9D8B030D-6E8A-4147-A177-3AD203B41FA5}">
                      <a16:colId xmlns:a16="http://schemas.microsoft.com/office/drawing/2014/main" val="3632244078"/>
                    </a:ext>
                  </a:extLst>
                </a:gridCol>
                <a:gridCol w="1143000">
                  <a:extLst>
                    <a:ext uri="{9D8B030D-6E8A-4147-A177-3AD203B41FA5}">
                      <a16:colId xmlns:a16="http://schemas.microsoft.com/office/drawing/2014/main" val="2936257804"/>
                    </a:ext>
                  </a:extLst>
                </a:gridCol>
                <a:gridCol w="1278082">
                  <a:extLst>
                    <a:ext uri="{9D8B030D-6E8A-4147-A177-3AD203B41FA5}">
                      <a16:colId xmlns:a16="http://schemas.microsoft.com/office/drawing/2014/main" val="373321247"/>
                    </a:ext>
                  </a:extLst>
                </a:gridCol>
                <a:gridCol w="2192482">
                  <a:extLst>
                    <a:ext uri="{9D8B030D-6E8A-4147-A177-3AD203B41FA5}">
                      <a16:colId xmlns:a16="http://schemas.microsoft.com/office/drawing/2014/main" val="406721034"/>
                    </a:ext>
                  </a:extLst>
                </a:gridCol>
              </a:tblGrid>
              <a:tr h="578218">
                <a:tc>
                  <a:txBody>
                    <a:bodyPr/>
                    <a:lstStyle/>
                    <a:p>
                      <a:r>
                        <a:rPr lang="it-IT" sz="1600" dirty="0" err="1"/>
                        <a:t>Predictor</a:t>
                      </a:r>
                      <a:endParaRPr lang="it-IT" sz="1600" dirty="0"/>
                    </a:p>
                  </a:txBody>
                  <a:tcPr/>
                </a:tc>
                <a:tc>
                  <a:txBody>
                    <a:bodyPr/>
                    <a:lstStyle/>
                    <a:p>
                      <a:r>
                        <a:rPr lang="it-IT" sz="1600" dirty="0" err="1"/>
                        <a:t>Odds</a:t>
                      </a:r>
                      <a:r>
                        <a:rPr lang="it-IT" sz="1600" dirty="0"/>
                        <a:t> Ratio</a:t>
                      </a:r>
                    </a:p>
                  </a:txBody>
                  <a:tcPr/>
                </a:tc>
                <a:tc>
                  <a:txBody>
                    <a:bodyPr/>
                    <a:lstStyle/>
                    <a:p>
                      <a:r>
                        <a:rPr lang="it-IT" sz="1600" dirty="0" err="1"/>
                        <a:t>P-value</a:t>
                      </a:r>
                      <a:endParaRPr lang="it-IT" sz="1600" dirty="0"/>
                    </a:p>
                  </a:txBody>
                  <a:tcPr/>
                </a:tc>
                <a:tc>
                  <a:txBody>
                    <a:bodyPr/>
                    <a:lstStyle/>
                    <a:p>
                      <a:r>
                        <a:rPr lang="it-IT" sz="1600" dirty="0" err="1"/>
                        <a:t>interpretation</a:t>
                      </a:r>
                      <a:endParaRPr lang="it-IT" sz="1600" dirty="0"/>
                    </a:p>
                  </a:txBody>
                  <a:tcPr/>
                </a:tc>
                <a:extLst>
                  <a:ext uri="{0D108BD9-81ED-4DB2-BD59-A6C34878D82A}">
                    <a16:rowId xmlns:a16="http://schemas.microsoft.com/office/drawing/2014/main" val="3486158063"/>
                  </a:ext>
                </a:extLst>
              </a:tr>
              <a:tr h="624765">
                <a:tc>
                  <a:txBody>
                    <a:bodyPr/>
                    <a:lstStyle/>
                    <a:p>
                      <a:r>
                        <a:rPr lang="it-IT" sz="1400" dirty="0"/>
                        <a:t>BMI</a:t>
                      </a:r>
                    </a:p>
                  </a:txBody>
                  <a:tcPr/>
                </a:tc>
                <a:tc>
                  <a:txBody>
                    <a:bodyPr/>
                    <a:lstStyle/>
                    <a:p>
                      <a:r>
                        <a:rPr lang="it-IT" sz="1400" dirty="0"/>
                        <a:t>1.09</a:t>
                      </a:r>
                    </a:p>
                  </a:txBody>
                  <a:tcPr/>
                </a:tc>
                <a:tc>
                  <a:txBody>
                    <a:bodyPr/>
                    <a:lstStyle/>
                    <a:p>
                      <a:r>
                        <a:rPr lang="it-IT" sz="1400" dirty="0"/>
                        <a:t>&lt;0.001</a:t>
                      </a:r>
                    </a:p>
                  </a:txBody>
                  <a:tcPr/>
                </a:tc>
                <a:tc>
                  <a:txBody>
                    <a:bodyPr/>
                    <a:lstStyle/>
                    <a:p>
                      <a:r>
                        <a:rPr lang="it-IT" sz="1400" dirty="0" err="1"/>
                        <a:t>Higher</a:t>
                      </a:r>
                      <a:r>
                        <a:rPr lang="it-IT" sz="1400" dirty="0"/>
                        <a:t> BMI </a:t>
                      </a:r>
                      <a:r>
                        <a:rPr lang="it-IT" sz="1400" dirty="0" err="1"/>
                        <a:t>increases</a:t>
                      </a:r>
                      <a:r>
                        <a:rPr lang="it-IT" sz="1400" dirty="0"/>
                        <a:t> </a:t>
                      </a:r>
                      <a:r>
                        <a:rPr lang="it-IT" sz="1400" dirty="0" err="1"/>
                        <a:t>diabetes</a:t>
                      </a:r>
                      <a:r>
                        <a:rPr lang="it-IT" sz="1400" dirty="0"/>
                        <a:t> risk</a:t>
                      </a:r>
                    </a:p>
                  </a:txBody>
                  <a:tcPr/>
                </a:tc>
                <a:extLst>
                  <a:ext uri="{0D108BD9-81ED-4DB2-BD59-A6C34878D82A}">
                    <a16:rowId xmlns:a16="http://schemas.microsoft.com/office/drawing/2014/main" val="2179546095"/>
                  </a:ext>
                </a:extLst>
              </a:tr>
              <a:tr h="602673">
                <a:tc>
                  <a:txBody>
                    <a:bodyPr/>
                    <a:lstStyle/>
                    <a:p>
                      <a:r>
                        <a:rPr lang="it-IT" sz="1400" dirty="0"/>
                        <a:t>Age</a:t>
                      </a:r>
                    </a:p>
                  </a:txBody>
                  <a:tcPr/>
                </a:tc>
                <a:tc>
                  <a:txBody>
                    <a:bodyPr/>
                    <a:lstStyle/>
                    <a:p>
                      <a:r>
                        <a:rPr lang="it-IT" sz="1400" dirty="0"/>
                        <a:t>1.03</a:t>
                      </a:r>
                    </a:p>
                  </a:txBody>
                  <a:tcPr/>
                </a:tc>
                <a:tc>
                  <a:txBody>
                    <a:bodyPr/>
                    <a:lstStyle/>
                    <a:p>
                      <a:r>
                        <a:rPr lang="it-IT" sz="1400" dirty="0"/>
                        <a:t>&lt;0.001</a:t>
                      </a:r>
                    </a:p>
                  </a:txBody>
                  <a:tcPr/>
                </a:tc>
                <a:tc>
                  <a:txBody>
                    <a:bodyPr/>
                    <a:lstStyle/>
                    <a:p>
                      <a:r>
                        <a:rPr lang="it-IT" sz="1400" dirty="0" err="1"/>
                        <a:t>Older</a:t>
                      </a:r>
                      <a:r>
                        <a:rPr lang="it-IT" sz="1400" dirty="0"/>
                        <a:t> age </a:t>
                      </a:r>
                      <a:r>
                        <a:rPr lang="it-IT" sz="1400" dirty="0" err="1"/>
                        <a:t>increases</a:t>
                      </a:r>
                      <a:r>
                        <a:rPr lang="it-IT" sz="1400" dirty="0"/>
                        <a:t> </a:t>
                      </a:r>
                      <a:r>
                        <a:rPr lang="it-IT" sz="1400" dirty="0" err="1"/>
                        <a:t>diabetes</a:t>
                      </a:r>
                      <a:r>
                        <a:rPr lang="it-IT" sz="1400" dirty="0"/>
                        <a:t> risk</a:t>
                      </a:r>
                    </a:p>
                  </a:txBody>
                  <a:tcPr/>
                </a:tc>
                <a:extLst>
                  <a:ext uri="{0D108BD9-81ED-4DB2-BD59-A6C34878D82A}">
                    <a16:rowId xmlns:a16="http://schemas.microsoft.com/office/drawing/2014/main" val="4000758194"/>
                  </a:ext>
                </a:extLst>
              </a:tr>
              <a:tr h="606254">
                <a:tc>
                  <a:txBody>
                    <a:bodyPr/>
                    <a:lstStyle/>
                    <a:p>
                      <a:r>
                        <a:rPr lang="it-IT" sz="1400" dirty="0" err="1"/>
                        <a:t>Glucose</a:t>
                      </a:r>
                      <a:endParaRPr lang="it-IT" sz="1400" dirty="0"/>
                    </a:p>
                  </a:txBody>
                  <a:tcPr/>
                </a:tc>
                <a:tc>
                  <a:txBody>
                    <a:bodyPr/>
                    <a:lstStyle/>
                    <a:p>
                      <a:r>
                        <a:rPr lang="it-IT" sz="1400" dirty="0"/>
                        <a:t>1.03</a:t>
                      </a:r>
                    </a:p>
                  </a:txBody>
                  <a:tcPr/>
                </a:tc>
                <a:tc>
                  <a:txBody>
                    <a:bodyPr/>
                    <a:lstStyle/>
                    <a:p>
                      <a:r>
                        <a:rPr lang="it-IT" sz="1400" dirty="0"/>
                        <a:t>&lt;0.001</a:t>
                      </a:r>
                    </a:p>
                  </a:txBody>
                  <a:tcPr/>
                </a:tc>
                <a:tc>
                  <a:txBody>
                    <a:bodyPr/>
                    <a:lstStyle/>
                    <a:p>
                      <a:r>
                        <a:rPr lang="it-IT" sz="1400" dirty="0" err="1"/>
                        <a:t>Higher</a:t>
                      </a:r>
                      <a:r>
                        <a:rPr lang="it-IT" sz="1400" dirty="0"/>
                        <a:t> </a:t>
                      </a:r>
                      <a:r>
                        <a:rPr lang="it-IT" sz="1400" dirty="0" err="1"/>
                        <a:t>glucose</a:t>
                      </a:r>
                      <a:r>
                        <a:rPr lang="it-IT" sz="1400" dirty="0"/>
                        <a:t> </a:t>
                      </a:r>
                      <a:r>
                        <a:rPr lang="it-IT" sz="1400" dirty="0" err="1"/>
                        <a:t>increases</a:t>
                      </a:r>
                      <a:r>
                        <a:rPr lang="it-IT" sz="1400" dirty="0"/>
                        <a:t> </a:t>
                      </a:r>
                      <a:r>
                        <a:rPr lang="it-IT" sz="1400" dirty="0" err="1"/>
                        <a:t>diabetes</a:t>
                      </a:r>
                      <a:r>
                        <a:rPr lang="it-IT" sz="1400" dirty="0"/>
                        <a:t> risk</a:t>
                      </a:r>
                    </a:p>
                  </a:txBody>
                  <a:tcPr/>
                </a:tc>
                <a:extLst>
                  <a:ext uri="{0D108BD9-81ED-4DB2-BD59-A6C34878D82A}">
                    <a16:rowId xmlns:a16="http://schemas.microsoft.com/office/drawing/2014/main" val="698526100"/>
                  </a:ext>
                </a:extLst>
              </a:tr>
            </a:tbl>
          </a:graphicData>
        </a:graphic>
      </p:graphicFrame>
      <p:sp>
        <p:nvSpPr>
          <p:cNvPr id="11" name="CasellaDiTesto 10">
            <a:extLst>
              <a:ext uri="{FF2B5EF4-FFF2-40B4-BE49-F238E27FC236}">
                <a16:creationId xmlns:a16="http://schemas.microsoft.com/office/drawing/2014/main" id="{EBA0D293-7B92-E6DE-7AB4-0E08C2DD43EB}"/>
              </a:ext>
            </a:extLst>
          </p:cNvPr>
          <p:cNvSpPr txBox="1"/>
          <p:nvPr/>
        </p:nvSpPr>
        <p:spPr>
          <a:xfrm>
            <a:off x="2513446" y="1458746"/>
            <a:ext cx="1289135" cy="307777"/>
          </a:xfrm>
          <a:prstGeom prst="rect">
            <a:avLst/>
          </a:prstGeom>
          <a:noFill/>
        </p:spPr>
        <p:txBody>
          <a:bodyPr wrap="none" rtlCol="0">
            <a:spAutoFit/>
          </a:bodyPr>
          <a:lstStyle/>
          <a:p>
            <a:r>
              <a:rPr lang="it-IT" sz="1400" b="1" dirty="0"/>
              <a:t>Model </a:t>
            </a:r>
            <a:r>
              <a:rPr lang="it-IT" sz="1400" b="1" dirty="0" err="1"/>
              <a:t>Results</a:t>
            </a:r>
            <a:endParaRPr lang="it-IT" sz="1400" b="1" dirty="0"/>
          </a:p>
        </p:txBody>
      </p:sp>
      <p:graphicFrame>
        <p:nvGraphicFramePr>
          <p:cNvPr id="12" name="Tabella 11">
            <a:extLst>
              <a:ext uri="{FF2B5EF4-FFF2-40B4-BE49-F238E27FC236}">
                <a16:creationId xmlns:a16="http://schemas.microsoft.com/office/drawing/2014/main" id="{7944E100-A5C7-D92B-45CA-BD9359D9F226}"/>
              </a:ext>
            </a:extLst>
          </p:cNvPr>
          <p:cNvGraphicFramePr>
            <a:graphicFrameLocks noGrp="1"/>
          </p:cNvGraphicFramePr>
          <p:nvPr>
            <p:extLst>
              <p:ext uri="{D42A27DB-BD31-4B8C-83A1-F6EECF244321}">
                <p14:modId xmlns:p14="http://schemas.microsoft.com/office/powerpoint/2010/main" val="3714346712"/>
              </p:ext>
            </p:extLst>
          </p:nvPr>
        </p:nvGraphicFramePr>
        <p:xfrm>
          <a:off x="7252318" y="1812758"/>
          <a:ext cx="3418610" cy="2148840"/>
        </p:xfrm>
        <a:graphic>
          <a:graphicData uri="http://schemas.openxmlformats.org/drawingml/2006/table">
            <a:tbl>
              <a:tblPr firstRow="1" bandRow="1">
                <a:tableStyleId>{BC89EF96-8CEA-46FF-86C4-4CE0E7609802}</a:tableStyleId>
              </a:tblPr>
              <a:tblGrid>
                <a:gridCol w="1709305">
                  <a:extLst>
                    <a:ext uri="{9D8B030D-6E8A-4147-A177-3AD203B41FA5}">
                      <a16:colId xmlns:a16="http://schemas.microsoft.com/office/drawing/2014/main" val="1377512673"/>
                    </a:ext>
                  </a:extLst>
                </a:gridCol>
                <a:gridCol w="1709305">
                  <a:extLst>
                    <a:ext uri="{9D8B030D-6E8A-4147-A177-3AD203B41FA5}">
                      <a16:colId xmlns:a16="http://schemas.microsoft.com/office/drawing/2014/main" val="158046063"/>
                    </a:ext>
                  </a:extLst>
                </a:gridCol>
              </a:tblGrid>
              <a:tr h="370840">
                <a:tc>
                  <a:txBody>
                    <a:bodyPr/>
                    <a:lstStyle/>
                    <a:p>
                      <a:r>
                        <a:rPr lang="it-IT" sz="1600" dirty="0" err="1"/>
                        <a:t>Metric</a:t>
                      </a:r>
                      <a:endParaRPr lang="it-IT" sz="1600" dirty="0"/>
                    </a:p>
                  </a:txBody>
                  <a:tcPr/>
                </a:tc>
                <a:tc>
                  <a:txBody>
                    <a:bodyPr/>
                    <a:lstStyle/>
                    <a:p>
                      <a:r>
                        <a:rPr lang="it-IT" sz="1600" dirty="0" err="1"/>
                        <a:t>Result</a:t>
                      </a:r>
                      <a:endParaRPr lang="it-IT" sz="1600" dirty="0"/>
                    </a:p>
                  </a:txBody>
                  <a:tcPr/>
                </a:tc>
                <a:extLst>
                  <a:ext uri="{0D108BD9-81ED-4DB2-BD59-A6C34878D82A}">
                    <a16:rowId xmlns:a16="http://schemas.microsoft.com/office/drawing/2014/main" val="1165593756"/>
                  </a:ext>
                </a:extLst>
              </a:tr>
              <a:tr h="370840">
                <a:tc>
                  <a:txBody>
                    <a:bodyPr/>
                    <a:lstStyle/>
                    <a:p>
                      <a:r>
                        <a:rPr lang="it-IT" sz="1400" dirty="0" err="1"/>
                        <a:t>Hosmer-Lemeshow</a:t>
                      </a:r>
                      <a:r>
                        <a:rPr lang="it-IT" sz="1400" dirty="0"/>
                        <a:t> t</a:t>
                      </a:r>
                    </a:p>
                  </a:txBody>
                  <a:tcPr/>
                </a:tc>
                <a:tc>
                  <a:txBody>
                    <a:bodyPr/>
                    <a:lstStyle/>
                    <a:p>
                      <a:r>
                        <a:rPr lang="it-IT" sz="1400" dirty="0" err="1"/>
                        <a:t>P</a:t>
                      </a:r>
                      <a:r>
                        <a:rPr lang="it-IT" sz="1400" dirty="0"/>
                        <a:t> = 0.349</a:t>
                      </a:r>
                    </a:p>
                  </a:txBody>
                  <a:tcPr/>
                </a:tc>
                <a:extLst>
                  <a:ext uri="{0D108BD9-81ED-4DB2-BD59-A6C34878D82A}">
                    <a16:rowId xmlns:a16="http://schemas.microsoft.com/office/drawing/2014/main" val="1824892403"/>
                  </a:ext>
                </a:extLst>
              </a:tr>
              <a:tr h="370840">
                <a:tc>
                  <a:txBody>
                    <a:bodyPr/>
                    <a:lstStyle/>
                    <a:p>
                      <a:r>
                        <a:rPr lang="it-IT" sz="1400" dirty="0" err="1"/>
                        <a:t>Classification</a:t>
                      </a:r>
                      <a:r>
                        <a:rPr lang="it-IT" sz="1400" dirty="0"/>
                        <a:t> </a:t>
                      </a:r>
                      <a:r>
                        <a:rPr lang="it-IT" sz="1400" dirty="0" err="1"/>
                        <a:t>Accuracy</a:t>
                      </a:r>
                      <a:endParaRPr lang="it-IT" sz="1400" dirty="0"/>
                    </a:p>
                  </a:txBody>
                  <a:tcPr/>
                </a:tc>
                <a:tc>
                  <a:txBody>
                    <a:bodyPr/>
                    <a:lstStyle/>
                    <a:p>
                      <a:r>
                        <a:rPr lang="it-IT" sz="1400" dirty="0"/>
                        <a:t>76.8%</a:t>
                      </a:r>
                    </a:p>
                  </a:txBody>
                  <a:tcPr/>
                </a:tc>
                <a:extLst>
                  <a:ext uri="{0D108BD9-81ED-4DB2-BD59-A6C34878D82A}">
                    <a16:rowId xmlns:a16="http://schemas.microsoft.com/office/drawing/2014/main" val="3427544309"/>
                  </a:ext>
                </a:extLst>
              </a:tr>
              <a:tr h="370840">
                <a:tc>
                  <a:txBody>
                    <a:bodyPr/>
                    <a:lstStyle/>
                    <a:p>
                      <a:r>
                        <a:rPr lang="it-IT" sz="1400" dirty="0"/>
                        <a:t>Sensitivity</a:t>
                      </a:r>
                    </a:p>
                  </a:txBody>
                  <a:tcPr/>
                </a:tc>
                <a:tc>
                  <a:txBody>
                    <a:bodyPr/>
                    <a:lstStyle/>
                    <a:p>
                      <a:r>
                        <a:rPr lang="it-IT" sz="1400" dirty="0"/>
                        <a:t>56.3%</a:t>
                      </a:r>
                    </a:p>
                  </a:txBody>
                  <a:tcPr/>
                </a:tc>
                <a:extLst>
                  <a:ext uri="{0D108BD9-81ED-4DB2-BD59-A6C34878D82A}">
                    <a16:rowId xmlns:a16="http://schemas.microsoft.com/office/drawing/2014/main" val="2795255472"/>
                  </a:ext>
                </a:extLst>
              </a:tr>
              <a:tr h="370840">
                <a:tc>
                  <a:txBody>
                    <a:bodyPr/>
                    <a:lstStyle/>
                    <a:p>
                      <a:r>
                        <a:rPr lang="it-IT" sz="1400" dirty="0" err="1"/>
                        <a:t>Specificity</a:t>
                      </a:r>
                      <a:endParaRPr lang="it-IT" sz="1400" dirty="0"/>
                    </a:p>
                  </a:txBody>
                  <a:tcPr/>
                </a:tc>
                <a:tc>
                  <a:txBody>
                    <a:bodyPr/>
                    <a:lstStyle/>
                    <a:p>
                      <a:r>
                        <a:rPr lang="it-IT" sz="1400" dirty="0"/>
                        <a:t>87.8%</a:t>
                      </a:r>
                    </a:p>
                  </a:txBody>
                  <a:tcPr/>
                </a:tc>
                <a:extLst>
                  <a:ext uri="{0D108BD9-81ED-4DB2-BD59-A6C34878D82A}">
                    <a16:rowId xmlns:a16="http://schemas.microsoft.com/office/drawing/2014/main" val="869155411"/>
                  </a:ext>
                </a:extLst>
              </a:tr>
            </a:tbl>
          </a:graphicData>
        </a:graphic>
      </p:graphicFrame>
      <p:sp>
        <p:nvSpPr>
          <p:cNvPr id="13" name="CasellaDiTesto 12">
            <a:extLst>
              <a:ext uri="{FF2B5EF4-FFF2-40B4-BE49-F238E27FC236}">
                <a16:creationId xmlns:a16="http://schemas.microsoft.com/office/drawing/2014/main" id="{AB76DD5B-4D3B-E73C-63C6-28DAA1030CF5}"/>
              </a:ext>
            </a:extLst>
          </p:cNvPr>
          <p:cNvSpPr txBox="1"/>
          <p:nvPr/>
        </p:nvSpPr>
        <p:spPr>
          <a:xfrm>
            <a:off x="7956608" y="1458745"/>
            <a:ext cx="1721946" cy="307777"/>
          </a:xfrm>
          <a:prstGeom prst="rect">
            <a:avLst/>
          </a:prstGeom>
          <a:noFill/>
        </p:spPr>
        <p:txBody>
          <a:bodyPr wrap="none" rtlCol="0">
            <a:spAutoFit/>
          </a:bodyPr>
          <a:lstStyle/>
          <a:p>
            <a:r>
              <a:rPr lang="it-IT" sz="1400" b="1" dirty="0"/>
              <a:t>Model Performance</a:t>
            </a:r>
          </a:p>
        </p:txBody>
      </p:sp>
      <p:sp>
        <p:nvSpPr>
          <p:cNvPr id="14" name="Rectangle 1">
            <a:extLst>
              <a:ext uri="{FF2B5EF4-FFF2-40B4-BE49-F238E27FC236}">
                <a16:creationId xmlns:a16="http://schemas.microsoft.com/office/drawing/2014/main" id="{AF6B1319-63C6-9D4F-D54C-235CAE6AC82F}"/>
              </a:ext>
            </a:extLst>
          </p:cNvPr>
          <p:cNvSpPr>
            <a:spLocks noChangeArrowheads="1"/>
          </p:cNvSpPr>
          <p:nvPr/>
        </p:nvSpPr>
        <p:spPr bwMode="auto">
          <a:xfrm rot="10800000" flipV="1">
            <a:off x="208150" y="4383592"/>
            <a:ext cx="832591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All</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three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predictors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a:ln>
                  <a:noFill/>
                </a:ln>
                <a:solidFill>
                  <a:srgbClr val="000000"/>
                </a:solidFill>
                <a:effectLst/>
                <a:cs typeface="Arial" panose="020B0604020202020204" pitchFamily="34" charset="0"/>
              </a:rPr>
              <a:t>BMI, Age and </a:t>
            </a:r>
            <a:r>
              <a:rPr kumimoji="0" lang="it-IT" altLang="it-IT" sz="1400" b="1" i="0" u="none" strike="noStrike" cap="none" normalizeH="0" baseline="0" dirty="0" err="1">
                <a:ln>
                  <a:noFill/>
                </a:ln>
                <a:solidFill>
                  <a:srgbClr val="000000"/>
                </a:solidFill>
                <a:effectLst/>
                <a:cs typeface="Arial" panose="020B0604020202020204" pitchFamily="34" charset="0"/>
              </a:rPr>
              <a:t>Glucose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were</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statistically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significant</a:t>
            </a:r>
            <a:r>
              <a:rPr kumimoji="0" lang="it-IT" altLang="it-IT" sz="1400" b="0" i="0" u="none" strike="noStrike" cap="none" normalizeH="0" baseline="0" dirty="0">
                <a:ln>
                  <a:noFill/>
                </a:ln>
                <a:solidFill>
                  <a:srgbClr val="000000"/>
                </a:solidFill>
                <a:effectLst/>
                <a:cs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dirty="0">
                <a:ln>
                  <a:noFill/>
                </a:ln>
                <a:solidFill>
                  <a:srgbClr val="000000"/>
                </a:solidFill>
                <a:effectLst/>
                <a:cs typeface="Arial" panose="020B0604020202020204" pitchFamily="34" charset="0"/>
              </a:rPr>
              <a:t> The </a:t>
            </a:r>
            <a:r>
              <a:rPr kumimoji="0" lang="it-IT" altLang="it-IT" sz="1400" b="0" i="0" u="none" strike="noStrike" cap="none" normalizeH="0" baseline="0" dirty="0" err="1">
                <a:ln>
                  <a:noFill/>
                </a:ln>
                <a:solidFill>
                  <a:srgbClr val="000000"/>
                </a:solidFill>
                <a:effectLst/>
                <a:cs typeface="Arial" panose="020B0604020202020204" pitchFamily="34" charset="0"/>
              </a:rPr>
              <a:t>Hosmer</a:t>
            </a:r>
            <a:r>
              <a:rPr kumimoji="0" lang="it-IT" altLang="it-IT" sz="1400" b="0" i="0" u="none" strike="noStrike" cap="none" normalizeH="0" baseline="0" dirty="0">
                <a:ln>
                  <a:noFill/>
                </a:ln>
                <a:solidFill>
                  <a:srgbClr val="000000"/>
                </a:solidFill>
                <a:effectLst/>
                <a:cs typeface="Arial" panose="020B0604020202020204" pitchFamily="34" charset="0"/>
              </a:rPr>
              <a:t>–</a:t>
            </a:r>
            <a:r>
              <a:rPr kumimoji="0" lang="it-IT" altLang="it-IT" sz="1400" b="0" i="0" u="none" strike="noStrike" cap="none" normalizeH="0" baseline="0" dirty="0" err="1">
                <a:ln>
                  <a:noFill/>
                </a:ln>
                <a:solidFill>
                  <a:srgbClr val="000000"/>
                </a:solidFill>
                <a:effectLst/>
                <a:cs typeface="Arial" panose="020B0604020202020204" pitchFamily="34" charset="0"/>
              </a:rPr>
              <a:t>Lemeshow</a:t>
            </a:r>
            <a:r>
              <a:rPr kumimoji="0" lang="it-IT" altLang="it-IT" sz="1400" b="0" i="0" u="none" strike="noStrike" cap="none" normalizeH="0" baseline="0" dirty="0">
                <a:ln>
                  <a:noFill/>
                </a:ln>
                <a:solidFill>
                  <a:srgbClr val="000000"/>
                </a:solidFill>
                <a:effectLst/>
                <a:cs typeface="Arial" panose="020B0604020202020204" pitchFamily="34" charset="0"/>
              </a:rPr>
              <a:t> test </a:t>
            </a:r>
            <a:r>
              <a:rPr kumimoji="0" lang="it-IT" altLang="it-IT" sz="1400" b="0" i="0" u="none" strike="noStrike" cap="none" normalizeH="0" baseline="0" dirty="0" err="1">
                <a:ln>
                  <a:noFill/>
                </a:ln>
                <a:solidFill>
                  <a:srgbClr val="000000"/>
                </a:solidFill>
                <a:effectLst/>
                <a:cs typeface="Arial" panose="020B0604020202020204" pitchFamily="34" charset="0"/>
              </a:rPr>
              <a:t>was</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err="1">
                <a:ln>
                  <a:noFill/>
                </a:ln>
                <a:solidFill>
                  <a:srgbClr val="000000"/>
                </a:solidFill>
                <a:effectLst/>
                <a:cs typeface="Arial" panose="020B0604020202020204" pitchFamily="34" charset="0"/>
              </a:rPr>
              <a:t>not</a:t>
            </a:r>
            <a:r>
              <a:rPr kumimoji="0" lang="it-IT" altLang="it-IT" sz="1400" b="1"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err="1">
                <a:ln>
                  <a:noFill/>
                </a:ln>
                <a:solidFill>
                  <a:srgbClr val="000000"/>
                </a:solidFill>
                <a:effectLst/>
                <a:cs typeface="Arial" panose="020B0604020202020204" pitchFamily="34" charset="0"/>
              </a:rPr>
              <a:t>significant</a:t>
            </a:r>
            <a:r>
              <a:rPr kumimoji="0" lang="it-IT" altLang="it-IT" sz="1400" b="1"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err="1">
                <a:ln>
                  <a:noFill/>
                </a:ln>
                <a:solidFill>
                  <a:srgbClr val="000000"/>
                </a:solidFill>
                <a:effectLst/>
                <a:cs typeface="Arial" panose="020B0604020202020204" pitchFamily="34" charset="0"/>
              </a:rPr>
              <a:t>p</a:t>
            </a:r>
            <a:r>
              <a:rPr kumimoji="0" lang="it-IT" altLang="it-IT" sz="1400" b="1" i="0" u="none" strike="noStrike" cap="none" normalizeH="0" baseline="0" dirty="0">
                <a:ln>
                  <a:noFill/>
                </a:ln>
                <a:solidFill>
                  <a:srgbClr val="000000"/>
                </a:solidFill>
                <a:effectLst/>
                <a:cs typeface="Arial" panose="020B0604020202020204" pitchFamily="34" charset="0"/>
              </a:rPr>
              <a:t> = 0.349)</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indicating</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that</a:t>
            </a:r>
            <a:r>
              <a:rPr kumimoji="0" lang="it-IT" altLang="it-IT" sz="1400" b="0" i="0" u="none" strike="noStrike" cap="none" normalizeH="0" baseline="0" dirty="0">
                <a:ln>
                  <a:noFill/>
                </a:ln>
                <a:solidFill>
                  <a:srgbClr val="000000"/>
                </a:solidFill>
                <a:effectLst/>
                <a:cs typeface="Arial" panose="020B0604020202020204" pitchFamily="34" charset="0"/>
              </a:rPr>
              <a:t> the model </a:t>
            </a:r>
            <a:r>
              <a:rPr kumimoji="0" lang="it-IT" altLang="it-IT" sz="1400" b="0" i="0" u="none" strike="noStrike" cap="none" normalizeH="0" baseline="0" dirty="0" err="1">
                <a:ln>
                  <a:noFill/>
                </a:ln>
                <a:solidFill>
                  <a:srgbClr val="000000"/>
                </a:solidFill>
                <a:effectLst/>
                <a:cs typeface="Arial" panose="020B0604020202020204" pitchFamily="34" charset="0"/>
              </a:rPr>
              <a:t>fits</a:t>
            </a:r>
            <a:r>
              <a:rPr kumimoji="0" lang="it-IT" altLang="it-IT" sz="1400" b="0" i="0" u="none" strike="noStrike" cap="none" normalizeH="0" baseline="0" dirty="0">
                <a:ln>
                  <a:noFill/>
                </a:ln>
                <a:solidFill>
                  <a:srgbClr val="000000"/>
                </a:solidFill>
                <a:effectLst/>
                <a:cs typeface="Arial" panose="020B0604020202020204" pitchFamily="34" charset="0"/>
              </a:rPr>
              <a:t> the data </a:t>
            </a:r>
            <a:r>
              <a:rPr kumimoji="0" lang="it-IT" altLang="it-IT" sz="1400" b="0" i="0" u="none" strike="noStrike" cap="none" normalizeH="0" baseline="0" dirty="0" err="1">
                <a:ln>
                  <a:noFill/>
                </a:ln>
                <a:solidFill>
                  <a:srgbClr val="000000"/>
                </a:solidFill>
                <a:effectLst/>
                <a:cs typeface="Arial" panose="020B0604020202020204" pitchFamily="34" charset="0"/>
              </a:rPr>
              <a:t>adequately</a:t>
            </a:r>
            <a:r>
              <a:rPr kumimoji="0" lang="it-IT" altLang="it-IT" sz="1400" b="0" i="0" u="none" strike="noStrike" cap="none" normalizeH="0" baseline="0" dirty="0">
                <a:ln>
                  <a:noFill/>
                </a:ln>
                <a:solidFill>
                  <a:srgbClr val="000000"/>
                </a:solidFill>
                <a:effectLst/>
                <a:cs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dirty="0">
                <a:ln>
                  <a:noFill/>
                </a:ln>
                <a:solidFill>
                  <a:srgbClr val="000000"/>
                </a:solidFill>
                <a:effectLst/>
                <a:cs typeface="Arial" panose="020B0604020202020204" pitchFamily="34" charset="0"/>
              </a:rPr>
              <a:t> The model </a:t>
            </a:r>
            <a:r>
              <a:rPr kumimoji="0" lang="it-IT" altLang="it-IT" sz="1400" b="0" i="0" u="none" strike="noStrike" cap="none" normalizeH="0" baseline="0" dirty="0" err="1">
                <a:ln>
                  <a:noFill/>
                </a:ln>
                <a:solidFill>
                  <a:srgbClr val="000000"/>
                </a:solidFill>
                <a:effectLst/>
                <a:cs typeface="Arial" panose="020B0604020202020204" pitchFamily="34" charset="0"/>
              </a:rPr>
              <a:t>correctly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classified</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a:ln>
                  <a:noFill/>
                </a:ln>
                <a:solidFill>
                  <a:srgbClr val="000000"/>
                </a:solidFill>
                <a:effectLst/>
                <a:cs typeface="Arial" panose="020B0604020202020204" pitchFamily="34" charset="0"/>
              </a:rPr>
              <a:t>76.8%</a:t>
            </a:r>
            <a:r>
              <a:rPr kumimoji="0" lang="it-IT" altLang="it-IT" sz="1400" b="0" i="0" u="none" strike="noStrike" cap="none" normalizeH="0" baseline="0" dirty="0">
                <a:ln>
                  <a:noFill/>
                </a:ln>
                <a:solidFill>
                  <a:srgbClr val="000000"/>
                </a:solidFill>
                <a:effectLst/>
                <a:cs typeface="Arial" panose="020B0604020202020204" pitchFamily="34" charset="0"/>
              </a:rPr>
              <a:t> of </a:t>
            </a:r>
            <a:r>
              <a:rPr kumimoji="0" lang="it-IT" altLang="it-IT" sz="1400" b="0" i="0" u="none" strike="noStrike" cap="none" normalizeH="0" baseline="0" dirty="0" err="1">
                <a:ln>
                  <a:noFill/>
                </a:ln>
                <a:solidFill>
                  <a:srgbClr val="000000"/>
                </a:solidFill>
                <a:effectLst/>
                <a:cs typeface="Arial" panose="020B0604020202020204" pitchFamily="34" charset="0"/>
              </a:rPr>
              <a:t>participants</a:t>
            </a:r>
            <a:r>
              <a:rPr kumimoji="0" lang="it-IT" altLang="it-IT" sz="1400" b="0" i="0" u="none" strike="noStrike" cap="none" normalizeH="0" baseline="0" dirty="0">
                <a:ln>
                  <a:noFill/>
                </a:ln>
                <a:solidFill>
                  <a:srgbClr val="000000"/>
                </a:solidFill>
                <a:effectLst/>
                <a:cs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it-IT" altLang="it-IT" sz="1400" b="0" i="0" u="none" strike="noStrike" cap="none" normalizeH="0" baseline="0" dirty="0">
              <a:ln>
                <a:noFill/>
              </a:ln>
              <a:solidFill>
                <a:schemeClr val="tx1"/>
              </a:solidFill>
              <a:effectLst/>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it-IT" altLang="it-IT" sz="1400" b="0" i="0" u="none" strike="noStrike" cap="none" normalizeH="0" baseline="0" dirty="0">
                <a:ln>
                  <a:noFill/>
                </a:ln>
                <a:solidFill>
                  <a:srgbClr val="000000"/>
                </a:solidFill>
                <a:effectLst/>
                <a:cs typeface="Arial" panose="020B0604020202020204" pitchFamily="34" charset="0"/>
              </a:rPr>
              <a:t>The model </a:t>
            </a:r>
            <a:r>
              <a:rPr kumimoji="0" lang="it-IT" altLang="it-IT" sz="1400" b="0" i="0" u="none" strike="noStrike" cap="none" normalizeH="0" baseline="0" dirty="0" err="1">
                <a:ln>
                  <a:noFill/>
                </a:ln>
                <a:solidFill>
                  <a:srgbClr val="000000"/>
                </a:solidFill>
                <a:effectLst/>
                <a:cs typeface="Arial" panose="020B0604020202020204" pitchFamily="34" charset="0"/>
              </a:rPr>
              <a:t>identified</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a:ln>
                  <a:noFill/>
                </a:ln>
                <a:solidFill>
                  <a:srgbClr val="000000"/>
                </a:solidFill>
                <a:effectLst/>
                <a:cs typeface="Arial" panose="020B0604020202020204" pitchFamily="34" charset="0"/>
              </a:rPr>
              <a:t>87.8% of non-</a:t>
            </a:r>
            <a:r>
              <a:rPr kumimoji="0" lang="it-IT" altLang="it-IT" sz="1400" b="1" i="0" u="none" strike="noStrike" cap="none" normalizeH="0" baseline="0" dirty="0" err="1">
                <a:ln>
                  <a:noFill/>
                </a:ln>
                <a:solidFill>
                  <a:srgbClr val="000000"/>
                </a:solidFill>
                <a:effectLst/>
                <a:cs typeface="Arial" panose="020B0604020202020204" pitchFamily="34" charset="0"/>
              </a:rPr>
              <a:t>diabetic</a:t>
            </a:r>
            <a:r>
              <a:rPr kumimoji="0" lang="it-IT" altLang="it-IT" sz="1400" b="1"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err="1">
                <a:ln>
                  <a:noFill/>
                </a:ln>
                <a:solidFill>
                  <a:srgbClr val="000000"/>
                </a:solidFill>
                <a:effectLst/>
                <a:cs typeface="Arial" panose="020B0604020202020204" pitchFamily="34" charset="0"/>
              </a:rPr>
              <a:t>individuals</a:t>
            </a:r>
            <a:r>
              <a:rPr kumimoji="0" lang="it-IT" altLang="it-IT" sz="1400" b="0" i="0" u="none" strike="noStrike" cap="none" normalizeH="0" baseline="0" dirty="0">
                <a:ln>
                  <a:noFill/>
                </a:ln>
                <a:solidFill>
                  <a:srgbClr val="000000"/>
                </a:solidFill>
                <a:effectLst/>
                <a:cs typeface="Arial" panose="020B0604020202020204" pitchFamily="34" charset="0"/>
              </a:rPr>
              <a:t> (high </a:t>
            </a:r>
            <a:r>
              <a:rPr kumimoji="0" lang="it-IT" altLang="it-IT" sz="1400" b="0" i="0" u="none" strike="noStrike" cap="none" normalizeH="0" baseline="0" dirty="0" err="1">
                <a:ln>
                  <a:noFill/>
                </a:ln>
                <a:solidFill>
                  <a:srgbClr val="000000"/>
                </a:solidFill>
                <a:effectLst/>
                <a:cs typeface="Arial" panose="020B0604020202020204" pitchFamily="34" charset="0"/>
              </a:rPr>
              <a:t>specificity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but</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0" i="0" u="none" strike="noStrike" cap="none" normalizeH="0" baseline="0" dirty="0" err="1">
                <a:ln>
                  <a:noFill/>
                </a:ln>
                <a:solidFill>
                  <a:srgbClr val="000000"/>
                </a:solidFill>
                <a:effectLst/>
                <a:cs typeface="Arial" panose="020B0604020202020204" pitchFamily="34" charset="0"/>
              </a:rPr>
              <a:t>only</a:t>
            </a:r>
            <a:r>
              <a:rPr kumimoji="0" lang="it-IT" altLang="it-IT" sz="1400" b="0"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a:ln>
                  <a:noFill/>
                </a:ln>
                <a:solidFill>
                  <a:srgbClr val="000000"/>
                </a:solidFill>
                <a:effectLst/>
                <a:cs typeface="Arial" panose="020B0604020202020204" pitchFamily="34" charset="0"/>
              </a:rPr>
              <a:t>56.3% of </a:t>
            </a:r>
            <a:r>
              <a:rPr kumimoji="0" lang="it-IT" altLang="it-IT" sz="1400" b="1" i="0" u="none" strike="noStrike" cap="none" normalizeH="0" baseline="0" dirty="0" err="1">
                <a:ln>
                  <a:noFill/>
                </a:ln>
                <a:solidFill>
                  <a:srgbClr val="000000"/>
                </a:solidFill>
                <a:effectLst/>
                <a:cs typeface="Arial" panose="020B0604020202020204" pitchFamily="34" charset="0"/>
              </a:rPr>
              <a:t>diabetic</a:t>
            </a:r>
            <a:r>
              <a:rPr kumimoji="0" lang="it-IT" altLang="it-IT" sz="1400" b="1" i="0" u="none" strike="noStrike" cap="none" normalizeH="0" baseline="0" dirty="0">
                <a:ln>
                  <a:noFill/>
                </a:ln>
                <a:solidFill>
                  <a:srgbClr val="000000"/>
                </a:solidFill>
                <a:effectLst/>
                <a:cs typeface="Arial" panose="020B0604020202020204" pitchFamily="34" charset="0"/>
              </a:rPr>
              <a:t> </a:t>
            </a:r>
            <a:r>
              <a:rPr kumimoji="0" lang="it-IT" altLang="it-IT" sz="1400" b="1" i="0" u="none" strike="noStrike" cap="none" normalizeH="0" baseline="0" dirty="0" err="1">
                <a:ln>
                  <a:noFill/>
                </a:ln>
                <a:solidFill>
                  <a:srgbClr val="000000"/>
                </a:solidFill>
                <a:effectLst/>
                <a:cs typeface="Arial" panose="020B0604020202020204" pitchFamily="34" charset="0"/>
              </a:rPr>
              <a:t>individuals</a:t>
            </a:r>
            <a:r>
              <a:rPr kumimoji="0" lang="it-IT" altLang="it-IT" sz="1400" b="0" i="0" u="none" strike="noStrike" cap="none" normalizeH="0" baseline="0" dirty="0">
                <a:ln>
                  <a:noFill/>
                </a:ln>
                <a:solidFill>
                  <a:srgbClr val="000000"/>
                </a:solidFill>
                <a:effectLst/>
                <a:cs typeface="Arial" panose="020B0604020202020204" pitchFamily="34" charset="0"/>
              </a:rPr>
              <a:t>(moderate sensitivity).</a:t>
            </a:r>
            <a:endParaRPr kumimoji="0" lang="it-IT" altLang="it-IT" sz="1400" b="0" i="0" u="none" strike="noStrike" cap="none" normalizeH="0" baseline="0" dirty="0">
              <a:ln>
                <a:noFill/>
              </a:ln>
              <a:solidFill>
                <a:schemeClr val="tx1"/>
              </a:solidFill>
              <a:effectLst/>
              <a:cs typeface="Arial" panose="020B0604020202020204" pitchFamily="34" charset="0"/>
            </a:endParaRPr>
          </a:p>
        </p:txBody>
      </p:sp>
      <p:sp>
        <p:nvSpPr>
          <p:cNvPr id="15" name="CasellaDiTesto 14">
            <a:extLst>
              <a:ext uri="{FF2B5EF4-FFF2-40B4-BE49-F238E27FC236}">
                <a16:creationId xmlns:a16="http://schemas.microsoft.com/office/drawing/2014/main" id="{7A02EE25-4837-F9F1-D7A9-EFB42DB2017F}"/>
              </a:ext>
            </a:extLst>
          </p:cNvPr>
          <p:cNvSpPr txBox="1"/>
          <p:nvPr/>
        </p:nvSpPr>
        <p:spPr>
          <a:xfrm>
            <a:off x="10733809" y="3504942"/>
            <a:ext cx="1458191" cy="2308324"/>
          </a:xfrm>
          <a:prstGeom prst="rect">
            <a:avLst/>
          </a:prstGeom>
          <a:noFill/>
        </p:spPr>
        <p:txBody>
          <a:bodyPr wrap="square" rtlCol="0">
            <a:spAutoFit/>
          </a:bodyPr>
          <a:lstStyle/>
          <a:p>
            <a:r>
              <a:rPr lang="it-IT" sz="1200" i="1" dirty="0" err="1">
                <a:solidFill>
                  <a:schemeClr val="bg2">
                    <a:lumMod val="50000"/>
                  </a:schemeClr>
                </a:solidFill>
              </a:rPr>
              <a:t>hoslem.test</a:t>
            </a:r>
            <a:r>
              <a:rPr lang="it-IT" sz="1200" i="1" dirty="0">
                <a:solidFill>
                  <a:schemeClr val="bg2">
                    <a:lumMod val="50000"/>
                  </a:schemeClr>
                </a:solidFill>
              </a:rPr>
              <a:t>(</a:t>
            </a:r>
            <a:r>
              <a:rPr lang="it-IT" sz="1200" i="1" dirty="0" err="1">
                <a:solidFill>
                  <a:schemeClr val="bg2">
                    <a:lumMod val="50000"/>
                  </a:schemeClr>
                </a:solidFill>
              </a:rPr>
              <a:t>diabetes$Outcome</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fitted</a:t>
            </a:r>
            <a:r>
              <a:rPr lang="it-IT" sz="1200" i="1" dirty="0">
                <a:solidFill>
                  <a:schemeClr val="bg2">
                    <a:lumMod val="50000"/>
                  </a:schemeClr>
                </a:solidFill>
              </a:rPr>
              <a:t>(</a:t>
            </a:r>
            <a:r>
              <a:rPr lang="it-IT" sz="1200" i="1" dirty="0" err="1">
                <a:solidFill>
                  <a:schemeClr val="bg2">
                    <a:lumMod val="50000"/>
                  </a:schemeClr>
                </a:solidFill>
              </a:rPr>
              <a:t>log_model</a:t>
            </a:r>
            <a:r>
              <a:rPr lang="it-IT" sz="1200" i="1" dirty="0">
                <a:solidFill>
                  <a:schemeClr val="bg2">
                    <a:lumMod val="50000"/>
                  </a:schemeClr>
                </a:solidFill>
              </a:rPr>
              <a:t>))</a:t>
            </a:r>
          </a:p>
          <a:p>
            <a:endParaRPr lang="it-IT" sz="1200" i="1" dirty="0">
              <a:solidFill>
                <a:schemeClr val="bg2">
                  <a:lumMod val="50000"/>
                </a:schemeClr>
              </a:solidFill>
            </a:endParaRPr>
          </a:p>
          <a:p>
            <a:r>
              <a:rPr lang="it-IT" sz="1200" i="1" dirty="0" err="1">
                <a:solidFill>
                  <a:schemeClr val="bg2">
                    <a:lumMod val="50000"/>
                  </a:schemeClr>
                </a:solidFill>
              </a:rPr>
              <a:t>predicted</a:t>
            </a:r>
            <a:r>
              <a:rPr lang="it-IT" sz="1200" i="1" dirty="0">
                <a:solidFill>
                  <a:schemeClr val="bg2">
                    <a:lumMod val="50000"/>
                  </a:schemeClr>
                </a:solidFill>
              </a:rPr>
              <a:t> &lt;- </a:t>
            </a:r>
            <a:r>
              <a:rPr lang="it-IT" sz="1200" i="1" dirty="0" err="1">
                <a:solidFill>
                  <a:schemeClr val="bg2">
                    <a:lumMod val="50000"/>
                  </a:schemeClr>
                </a:solidFill>
              </a:rPr>
              <a:t>ifelse</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predict</a:t>
            </a:r>
            <a:r>
              <a:rPr lang="it-IT" sz="1200" i="1" dirty="0">
                <a:solidFill>
                  <a:schemeClr val="bg2">
                    <a:lumMod val="50000"/>
                  </a:schemeClr>
                </a:solidFill>
              </a:rPr>
              <a:t>(</a:t>
            </a:r>
            <a:r>
              <a:rPr lang="it-IT" sz="1200" i="1" dirty="0" err="1">
                <a:solidFill>
                  <a:schemeClr val="bg2">
                    <a:lumMod val="50000"/>
                  </a:schemeClr>
                </a:solidFill>
              </a:rPr>
              <a:t>log_model</a:t>
            </a:r>
            <a:r>
              <a:rPr lang="it-IT" sz="1200" i="1" dirty="0">
                <a:solidFill>
                  <a:schemeClr val="bg2">
                    <a:lumMod val="50000"/>
                  </a:schemeClr>
                </a:solidFill>
              </a:rPr>
              <a:t>, </a:t>
            </a:r>
            <a:r>
              <a:rPr lang="it-IT" sz="1200" i="1" dirty="0" err="1">
                <a:solidFill>
                  <a:schemeClr val="bg2">
                    <a:lumMod val="50000"/>
                  </a:schemeClr>
                </a:solidFill>
              </a:rPr>
              <a:t>type</a:t>
            </a:r>
            <a:r>
              <a:rPr lang="it-IT" sz="1200" i="1" dirty="0">
                <a:solidFill>
                  <a:schemeClr val="bg2">
                    <a:lumMod val="50000"/>
                  </a:schemeClr>
                </a:solidFill>
              </a:rPr>
              <a:t> = "</a:t>
            </a:r>
            <a:r>
              <a:rPr lang="it-IT" sz="1200" i="1" dirty="0" err="1">
                <a:solidFill>
                  <a:schemeClr val="bg2">
                    <a:lumMod val="50000"/>
                  </a:schemeClr>
                </a:solidFill>
              </a:rPr>
              <a:t>response</a:t>
            </a:r>
            <a:r>
              <a:rPr lang="it-IT" sz="1200" i="1" dirty="0">
                <a:solidFill>
                  <a:schemeClr val="bg2">
                    <a:lumMod val="50000"/>
                  </a:schemeClr>
                </a:solidFill>
              </a:rPr>
              <a:t>") &gt; 0.5,</a:t>
            </a:r>
          </a:p>
          <a:p>
            <a:r>
              <a:rPr lang="it-IT" sz="1200" i="1" dirty="0">
                <a:solidFill>
                  <a:schemeClr val="bg2">
                    <a:lumMod val="50000"/>
                  </a:schemeClr>
                </a:solidFill>
              </a:rPr>
              <a:t>  1, 0</a:t>
            </a:r>
          </a:p>
          <a:p>
            <a:r>
              <a:rPr lang="it-IT" sz="1200" i="1" dirty="0">
                <a:solidFill>
                  <a:schemeClr val="bg2">
                    <a:lumMod val="50000"/>
                  </a:schemeClr>
                </a:solidFill>
              </a:rPr>
              <a:t>)</a:t>
            </a:r>
          </a:p>
        </p:txBody>
      </p:sp>
    </p:spTree>
    <p:extLst>
      <p:ext uri="{BB962C8B-B14F-4D97-AF65-F5344CB8AC3E}">
        <p14:creationId xmlns:p14="http://schemas.microsoft.com/office/powerpoint/2010/main" val="216272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Lst>
  </p:timing>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5766DBDD-78C1-6902-6781-CF25E19568FB}"/>
              </a:ext>
            </a:extLst>
          </p:cNvPr>
          <p:cNvSpPr>
            <a:spLocks noGrp="1"/>
          </p:cNvSpPr>
          <p:nvPr>
            <p:ph type="title"/>
          </p:nvPr>
        </p:nvSpPr>
        <p:spPr>
          <a:xfrm>
            <a:off x="426076" y="635372"/>
            <a:ext cx="4876801" cy="1569516"/>
          </a:xfrm>
        </p:spPr>
        <p:txBody>
          <a:bodyPr vert="horz" lIns="91440" tIns="45720" rIns="91440" bIns="45720" rtlCol="0" anchor="t">
            <a:normAutofit/>
          </a:bodyPr>
          <a:lstStyle/>
          <a:p>
            <a:r>
              <a:rPr lang="en-US" dirty="0"/>
              <a:t>Model Comparison</a:t>
            </a:r>
          </a:p>
        </p:txBody>
      </p:sp>
      <p:cxnSp>
        <p:nvCxnSpPr>
          <p:cNvPr id="18" name="Straight Connector 17">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0" name="Segnaposto contenuto 9">
            <a:extLst>
              <a:ext uri="{FF2B5EF4-FFF2-40B4-BE49-F238E27FC236}">
                <a16:creationId xmlns:a16="http://schemas.microsoft.com/office/drawing/2014/main" id="{66072883-D65A-7BF6-12EA-1460C7A26681}"/>
              </a:ext>
            </a:extLst>
          </p:cNvPr>
          <p:cNvGraphicFramePr>
            <a:graphicFrameLocks noGrp="1"/>
          </p:cNvGraphicFramePr>
          <p:nvPr>
            <p:ph idx="1"/>
            <p:extLst>
              <p:ext uri="{D42A27DB-BD31-4B8C-83A1-F6EECF244321}">
                <p14:modId xmlns:p14="http://schemas.microsoft.com/office/powerpoint/2010/main" val="2097480956"/>
              </p:ext>
            </p:extLst>
          </p:nvPr>
        </p:nvGraphicFramePr>
        <p:xfrm>
          <a:off x="233363" y="1971617"/>
          <a:ext cx="4210534" cy="1259840"/>
        </p:xfrm>
        <a:graphic>
          <a:graphicData uri="http://schemas.openxmlformats.org/drawingml/2006/table">
            <a:tbl>
              <a:tblPr firstRow="1" bandRow="1">
                <a:tableStyleId>{21E4AEA4-8DFA-4A89-87EB-49C32662AFE0}</a:tableStyleId>
              </a:tblPr>
              <a:tblGrid>
                <a:gridCol w="1016759">
                  <a:extLst>
                    <a:ext uri="{9D8B030D-6E8A-4147-A177-3AD203B41FA5}">
                      <a16:colId xmlns:a16="http://schemas.microsoft.com/office/drawing/2014/main" val="3500392057"/>
                    </a:ext>
                  </a:extLst>
                </a:gridCol>
                <a:gridCol w="3193775">
                  <a:extLst>
                    <a:ext uri="{9D8B030D-6E8A-4147-A177-3AD203B41FA5}">
                      <a16:colId xmlns:a16="http://schemas.microsoft.com/office/drawing/2014/main" val="2338685149"/>
                    </a:ext>
                  </a:extLst>
                </a:gridCol>
              </a:tblGrid>
              <a:tr h="370840">
                <a:tc>
                  <a:txBody>
                    <a:bodyPr/>
                    <a:lstStyle/>
                    <a:p>
                      <a:r>
                        <a:rPr lang="it-IT" sz="1600" dirty="0"/>
                        <a:t>Model</a:t>
                      </a:r>
                    </a:p>
                  </a:txBody>
                  <a:tcPr/>
                </a:tc>
                <a:tc>
                  <a:txBody>
                    <a:bodyPr/>
                    <a:lstStyle/>
                    <a:p>
                      <a:r>
                        <a:rPr lang="it-IT" sz="1600" dirty="0" err="1"/>
                        <a:t>Predictors</a:t>
                      </a:r>
                      <a:endParaRPr lang="it-IT" sz="1600" dirty="0"/>
                    </a:p>
                  </a:txBody>
                  <a:tcPr/>
                </a:tc>
                <a:extLst>
                  <a:ext uri="{0D108BD9-81ED-4DB2-BD59-A6C34878D82A}">
                    <a16:rowId xmlns:a16="http://schemas.microsoft.com/office/drawing/2014/main" val="1862636057"/>
                  </a:ext>
                </a:extLst>
              </a:tr>
              <a:tr h="370840">
                <a:tc>
                  <a:txBody>
                    <a:bodyPr/>
                    <a:lstStyle/>
                    <a:p>
                      <a:r>
                        <a:rPr lang="it-IT" sz="1400" dirty="0"/>
                        <a:t>Model 1</a:t>
                      </a:r>
                    </a:p>
                  </a:txBody>
                  <a:tcPr/>
                </a:tc>
                <a:tc>
                  <a:txBody>
                    <a:bodyPr/>
                    <a:lstStyle/>
                    <a:p>
                      <a:r>
                        <a:rPr lang="it-IT" sz="1400" dirty="0" err="1"/>
                        <a:t>BMI+Age+Glucose+Pregnancies</a:t>
                      </a:r>
                      <a:endParaRPr lang="it-IT" sz="1400" dirty="0"/>
                    </a:p>
                  </a:txBody>
                  <a:tcPr/>
                </a:tc>
                <a:extLst>
                  <a:ext uri="{0D108BD9-81ED-4DB2-BD59-A6C34878D82A}">
                    <a16:rowId xmlns:a16="http://schemas.microsoft.com/office/drawing/2014/main" val="3957545380"/>
                  </a:ext>
                </a:extLst>
              </a:tr>
              <a:tr h="370840">
                <a:tc>
                  <a:txBody>
                    <a:bodyPr/>
                    <a:lstStyle/>
                    <a:p>
                      <a:r>
                        <a:rPr lang="it-IT" sz="1400" dirty="0"/>
                        <a:t>Model 2</a:t>
                      </a:r>
                    </a:p>
                  </a:txBody>
                  <a:tcPr/>
                </a:tc>
                <a:tc>
                  <a:txBody>
                    <a:bodyPr/>
                    <a:lstStyle/>
                    <a:p>
                      <a:r>
                        <a:rPr lang="it-IT" sz="1400" dirty="0" err="1"/>
                        <a:t>BMI+Age+Glucose+Pregnancies+BMIxAge</a:t>
                      </a:r>
                      <a:endParaRPr lang="it-IT" sz="1400" dirty="0"/>
                    </a:p>
                  </a:txBody>
                  <a:tcPr/>
                </a:tc>
                <a:extLst>
                  <a:ext uri="{0D108BD9-81ED-4DB2-BD59-A6C34878D82A}">
                    <a16:rowId xmlns:a16="http://schemas.microsoft.com/office/drawing/2014/main" val="461561133"/>
                  </a:ext>
                </a:extLst>
              </a:tr>
            </a:tbl>
          </a:graphicData>
        </a:graphic>
      </p:graphicFrame>
      <p:graphicFrame>
        <p:nvGraphicFramePr>
          <p:cNvPr id="11" name="Tabella 10">
            <a:extLst>
              <a:ext uri="{FF2B5EF4-FFF2-40B4-BE49-F238E27FC236}">
                <a16:creationId xmlns:a16="http://schemas.microsoft.com/office/drawing/2014/main" id="{3CA52C5C-A3AB-A02C-FCDE-E9EF75618035}"/>
              </a:ext>
            </a:extLst>
          </p:cNvPr>
          <p:cNvGraphicFramePr>
            <a:graphicFrameLocks noGrp="1"/>
          </p:cNvGraphicFramePr>
          <p:nvPr>
            <p:extLst>
              <p:ext uri="{D42A27DB-BD31-4B8C-83A1-F6EECF244321}">
                <p14:modId xmlns:p14="http://schemas.microsoft.com/office/powerpoint/2010/main" val="1099297876"/>
              </p:ext>
            </p:extLst>
          </p:nvPr>
        </p:nvGraphicFramePr>
        <p:xfrm>
          <a:off x="4879818" y="1971617"/>
          <a:ext cx="2262145" cy="1630680"/>
        </p:xfrm>
        <a:graphic>
          <a:graphicData uri="http://schemas.openxmlformats.org/drawingml/2006/table">
            <a:tbl>
              <a:tblPr firstRow="1" bandRow="1">
                <a:tableStyleId>{9DCAF9ED-07DC-4A11-8D7F-57B35C25682E}</a:tableStyleId>
              </a:tblPr>
              <a:tblGrid>
                <a:gridCol w="844479">
                  <a:extLst>
                    <a:ext uri="{9D8B030D-6E8A-4147-A177-3AD203B41FA5}">
                      <a16:colId xmlns:a16="http://schemas.microsoft.com/office/drawing/2014/main" val="462692904"/>
                    </a:ext>
                  </a:extLst>
                </a:gridCol>
                <a:gridCol w="1417666">
                  <a:extLst>
                    <a:ext uri="{9D8B030D-6E8A-4147-A177-3AD203B41FA5}">
                      <a16:colId xmlns:a16="http://schemas.microsoft.com/office/drawing/2014/main" val="3778543484"/>
                    </a:ext>
                  </a:extLst>
                </a:gridCol>
              </a:tblGrid>
              <a:tr h="370840">
                <a:tc>
                  <a:txBody>
                    <a:bodyPr/>
                    <a:lstStyle/>
                    <a:p>
                      <a:r>
                        <a:rPr lang="it-IT" sz="1600" dirty="0"/>
                        <a:t>Test</a:t>
                      </a:r>
                    </a:p>
                  </a:txBody>
                  <a:tcPr/>
                </a:tc>
                <a:tc>
                  <a:txBody>
                    <a:bodyPr/>
                    <a:lstStyle/>
                    <a:p>
                      <a:r>
                        <a:rPr lang="it-IT" sz="1600" dirty="0" err="1"/>
                        <a:t>Result</a:t>
                      </a:r>
                      <a:endParaRPr lang="it-IT" sz="1600" dirty="0"/>
                    </a:p>
                  </a:txBody>
                  <a:tcPr/>
                </a:tc>
                <a:extLst>
                  <a:ext uri="{0D108BD9-81ED-4DB2-BD59-A6C34878D82A}">
                    <a16:rowId xmlns:a16="http://schemas.microsoft.com/office/drawing/2014/main" val="2075881557"/>
                  </a:ext>
                </a:extLst>
              </a:tr>
              <a:tr h="370840">
                <a:tc>
                  <a:txBody>
                    <a:bodyPr/>
                    <a:lstStyle/>
                    <a:p>
                      <a:r>
                        <a:rPr lang="el-GR" sz="1400" b="0" u="none" strike="noStrike" kern="1200" dirty="0">
                          <a:solidFill>
                            <a:schemeClr val="dk1"/>
                          </a:solidFill>
                          <a:effectLst/>
                        </a:rPr>
                        <a:t>χ²</a:t>
                      </a:r>
                      <a:endParaRPr lang="it-IT" sz="1400" dirty="0"/>
                    </a:p>
                  </a:txBody>
                  <a:tcPr/>
                </a:tc>
                <a:tc>
                  <a:txBody>
                    <a:bodyPr/>
                    <a:lstStyle/>
                    <a:p>
                      <a:r>
                        <a:rPr lang="it-IT" sz="1400" dirty="0"/>
                        <a:t>0.039</a:t>
                      </a:r>
                    </a:p>
                  </a:txBody>
                  <a:tcPr/>
                </a:tc>
                <a:extLst>
                  <a:ext uri="{0D108BD9-81ED-4DB2-BD59-A6C34878D82A}">
                    <a16:rowId xmlns:a16="http://schemas.microsoft.com/office/drawing/2014/main" val="30337958"/>
                  </a:ext>
                </a:extLst>
              </a:tr>
              <a:tr h="370840">
                <a:tc>
                  <a:txBody>
                    <a:bodyPr/>
                    <a:lstStyle/>
                    <a:p>
                      <a:r>
                        <a:rPr lang="it-IT" sz="1400" dirty="0" err="1"/>
                        <a:t>P-value</a:t>
                      </a:r>
                      <a:endParaRPr lang="it-IT" sz="1400" dirty="0"/>
                    </a:p>
                  </a:txBody>
                  <a:tcPr/>
                </a:tc>
                <a:tc>
                  <a:txBody>
                    <a:bodyPr/>
                    <a:lstStyle/>
                    <a:p>
                      <a:r>
                        <a:rPr lang="it-IT" sz="1400" dirty="0"/>
                        <a:t>0.843</a:t>
                      </a:r>
                    </a:p>
                  </a:txBody>
                  <a:tcPr/>
                </a:tc>
                <a:extLst>
                  <a:ext uri="{0D108BD9-81ED-4DB2-BD59-A6C34878D82A}">
                    <a16:rowId xmlns:a16="http://schemas.microsoft.com/office/drawing/2014/main" val="4066111941"/>
                  </a:ext>
                </a:extLst>
              </a:tr>
              <a:tr h="370840">
                <a:tc>
                  <a:txBody>
                    <a:bodyPr/>
                    <a:lstStyle/>
                    <a:p>
                      <a:r>
                        <a:rPr lang="it-IT" sz="1400" dirty="0" err="1"/>
                        <a:t>Decision</a:t>
                      </a:r>
                      <a:r>
                        <a:rPr lang="it-IT" sz="1400" dirty="0"/>
                        <a:t> </a:t>
                      </a:r>
                    </a:p>
                  </a:txBody>
                  <a:tcPr/>
                </a:tc>
                <a:tc>
                  <a:txBody>
                    <a:bodyPr/>
                    <a:lstStyle/>
                    <a:p>
                      <a:r>
                        <a:rPr lang="it-IT" sz="1400" dirty="0"/>
                        <a:t>Interaction </a:t>
                      </a:r>
                      <a:r>
                        <a:rPr lang="it-IT" sz="1400" dirty="0" err="1"/>
                        <a:t>not</a:t>
                      </a:r>
                      <a:r>
                        <a:rPr lang="it-IT" sz="1400" dirty="0"/>
                        <a:t> </a:t>
                      </a:r>
                      <a:r>
                        <a:rPr lang="it-IT" sz="1400" dirty="0" err="1"/>
                        <a:t>significant</a:t>
                      </a:r>
                      <a:endParaRPr lang="it-IT" sz="1400" dirty="0"/>
                    </a:p>
                  </a:txBody>
                  <a:tcPr/>
                </a:tc>
                <a:extLst>
                  <a:ext uri="{0D108BD9-81ED-4DB2-BD59-A6C34878D82A}">
                    <a16:rowId xmlns:a16="http://schemas.microsoft.com/office/drawing/2014/main" val="1492332834"/>
                  </a:ext>
                </a:extLst>
              </a:tr>
            </a:tbl>
          </a:graphicData>
        </a:graphic>
      </p:graphicFrame>
      <p:graphicFrame>
        <p:nvGraphicFramePr>
          <p:cNvPr id="12" name="Tabella 11">
            <a:extLst>
              <a:ext uri="{FF2B5EF4-FFF2-40B4-BE49-F238E27FC236}">
                <a16:creationId xmlns:a16="http://schemas.microsoft.com/office/drawing/2014/main" id="{530880CD-6374-D8A9-C7A9-41FE6BDB4D0D}"/>
              </a:ext>
            </a:extLst>
          </p:cNvPr>
          <p:cNvGraphicFramePr>
            <a:graphicFrameLocks noGrp="1"/>
          </p:cNvGraphicFramePr>
          <p:nvPr>
            <p:extLst>
              <p:ext uri="{D42A27DB-BD31-4B8C-83A1-F6EECF244321}">
                <p14:modId xmlns:p14="http://schemas.microsoft.com/office/powerpoint/2010/main" val="1483748950"/>
              </p:ext>
            </p:extLst>
          </p:nvPr>
        </p:nvGraphicFramePr>
        <p:xfrm>
          <a:off x="7779236" y="1940839"/>
          <a:ext cx="2901464" cy="2225040"/>
        </p:xfrm>
        <a:graphic>
          <a:graphicData uri="http://schemas.openxmlformats.org/drawingml/2006/table">
            <a:tbl>
              <a:tblPr firstRow="1" bandRow="1">
                <a:tableStyleId>{9DCAF9ED-07DC-4A11-8D7F-57B35C25682E}</a:tableStyleId>
              </a:tblPr>
              <a:tblGrid>
                <a:gridCol w="1206391">
                  <a:extLst>
                    <a:ext uri="{9D8B030D-6E8A-4147-A177-3AD203B41FA5}">
                      <a16:colId xmlns:a16="http://schemas.microsoft.com/office/drawing/2014/main" val="1065072689"/>
                    </a:ext>
                  </a:extLst>
                </a:gridCol>
                <a:gridCol w="698500">
                  <a:extLst>
                    <a:ext uri="{9D8B030D-6E8A-4147-A177-3AD203B41FA5}">
                      <a16:colId xmlns:a16="http://schemas.microsoft.com/office/drawing/2014/main" val="1648570382"/>
                    </a:ext>
                  </a:extLst>
                </a:gridCol>
                <a:gridCol w="996573">
                  <a:extLst>
                    <a:ext uri="{9D8B030D-6E8A-4147-A177-3AD203B41FA5}">
                      <a16:colId xmlns:a16="http://schemas.microsoft.com/office/drawing/2014/main" val="1686383158"/>
                    </a:ext>
                  </a:extLst>
                </a:gridCol>
              </a:tblGrid>
              <a:tr h="370840">
                <a:tc>
                  <a:txBody>
                    <a:bodyPr/>
                    <a:lstStyle/>
                    <a:p>
                      <a:r>
                        <a:rPr lang="it-IT" sz="1600" dirty="0" err="1"/>
                        <a:t>Predictor</a:t>
                      </a:r>
                      <a:endParaRPr lang="it-IT" sz="1600" dirty="0"/>
                    </a:p>
                  </a:txBody>
                  <a:tcPr/>
                </a:tc>
                <a:tc>
                  <a:txBody>
                    <a:bodyPr/>
                    <a:lstStyle/>
                    <a:p>
                      <a:r>
                        <a:rPr lang="it-IT" sz="1600" dirty="0"/>
                        <a:t>OR</a:t>
                      </a:r>
                    </a:p>
                  </a:txBody>
                  <a:tcPr/>
                </a:tc>
                <a:tc>
                  <a:txBody>
                    <a:bodyPr/>
                    <a:lstStyle/>
                    <a:p>
                      <a:r>
                        <a:rPr lang="it-IT" sz="1600" dirty="0" err="1"/>
                        <a:t>P-value</a:t>
                      </a:r>
                      <a:endParaRPr lang="it-IT" sz="1600" dirty="0"/>
                    </a:p>
                  </a:txBody>
                  <a:tcPr/>
                </a:tc>
                <a:extLst>
                  <a:ext uri="{0D108BD9-81ED-4DB2-BD59-A6C34878D82A}">
                    <a16:rowId xmlns:a16="http://schemas.microsoft.com/office/drawing/2014/main" val="2185109290"/>
                  </a:ext>
                </a:extLst>
              </a:tr>
              <a:tr h="370840">
                <a:tc>
                  <a:txBody>
                    <a:bodyPr/>
                    <a:lstStyle/>
                    <a:p>
                      <a:r>
                        <a:rPr lang="it-IT" sz="1400" dirty="0"/>
                        <a:t>BMI</a:t>
                      </a:r>
                    </a:p>
                  </a:txBody>
                  <a:tcPr/>
                </a:tc>
                <a:tc>
                  <a:txBody>
                    <a:bodyPr/>
                    <a:lstStyle/>
                    <a:p>
                      <a:r>
                        <a:rPr lang="it-IT" sz="1400" dirty="0"/>
                        <a:t>1.08</a:t>
                      </a:r>
                    </a:p>
                  </a:txBody>
                  <a:tcPr/>
                </a:tc>
                <a:tc>
                  <a:txBody>
                    <a:bodyPr/>
                    <a:lstStyle/>
                    <a:p>
                      <a:r>
                        <a:rPr lang="it-IT" sz="1400" dirty="0"/>
                        <a:t>0.064</a:t>
                      </a:r>
                    </a:p>
                  </a:txBody>
                  <a:tcPr/>
                </a:tc>
                <a:extLst>
                  <a:ext uri="{0D108BD9-81ED-4DB2-BD59-A6C34878D82A}">
                    <a16:rowId xmlns:a16="http://schemas.microsoft.com/office/drawing/2014/main" val="3470066815"/>
                  </a:ext>
                </a:extLst>
              </a:tr>
              <a:tr h="370840">
                <a:tc>
                  <a:txBody>
                    <a:bodyPr/>
                    <a:lstStyle/>
                    <a:p>
                      <a:r>
                        <a:rPr lang="it-IT" sz="1400" dirty="0"/>
                        <a:t>Age</a:t>
                      </a:r>
                    </a:p>
                  </a:txBody>
                  <a:tcPr/>
                </a:tc>
                <a:tc>
                  <a:txBody>
                    <a:bodyPr/>
                    <a:lstStyle/>
                    <a:p>
                      <a:r>
                        <a:rPr lang="it-IT" sz="1400" dirty="0"/>
                        <a:t>1.01</a:t>
                      </a:r>
                    </a:p>
                  </a:txBody>
                  <a:tcPr/>
                </a:tc>
                <a:tc>
                  <a:txBody>
                    <a:bodyPr/>
                    <a:lstStyle/>
                    <a:p>
                      <a:r>
                        <a:rPr lang="it-IT" sz="1400" dirty="0"/>
                        <a:t>0.871</a:t>
                      </a:r>
                    </a:p>
                  </a:txBody>
                  <a:tcPr/>
                </a:tc>
                <a:extLst>
                  <a:ext uri="{0D108BD9-81ED-4DB2-BD59-A6C34878D82A}">
                    <a16:rowId xmlns:a16="http://schemas.microsoft.com/office/drawing/2014/main" val="622118903"/>
                  </a:ext>
                </a:extLst>
              </a:tr>
              <a:tr h="370840">
                <a:tc>
                  <a:txBody>
                    <a:bodyPr/>
                    <a:lstStyle/>
                    <a:p>
                      <a:r>
                        <a:rPr lang="it-IT" sz="1400" dirty="0" err="1"/>
                        <a:t>Glucose</a:t>
                      </a:r>
                      <a:endParaRPr lang="it-IT" sz="1400" dirty="0"/>
                    </a:p>
                  </a:txBody>
                  <a:tcPr/>
                </a:tc>
                <a:tc>
                  <a:txBody>
                    <a:bodyPr/>
                    <a:lstStyle/>
                    <a:p>
                      <a:r>
                        <a:rPr lang="it-IT" sz="1400" dirty="0"/>
                        <a:t>1.03</a:t>
                      </a:r>
                    </a:p>
                  </a:txBody>
                  <a:tcPr/>
                </a:tc>
                <a:tc>
                  <a:txBody>
                    <a:bodyPr/>
                    <a:lstStyle/>
                    <a:p>
                      <a:r>
                        <a:rPr lang="it-IT" sz="1400" dirty="0"/>
                        <a:t>&lt;0.001</a:t>
                      </a:r>
                    </a:p>
                  </a:txBody>
                  <a:tcPr/>
                </a:tc>
                <a:extLst>
                  <a:ext uri="{0D108BD9-81ED-4DB2-BD59-A6C34878D82A}">
                    <a16:rowId xmlns:a16="http://schemas.microsoft.com/office/drawing/2014/main" val="4230351596"/>
                  </a:ext>
                </a:extLst>
              </a:tr>
              <a:tr h="370840">
                <a:tc>
                  <a:txBody>
                    <a:bodyPr/>
                    <a:lstStyle/>
                    <a:p>
                      <a:r>
                        <a:rPr lang="it-IT" sz="1400" dirty="0" err="1"/>
                        <a:t>Pregnancies</a:t>
                      </a:r>
                      <a:endParaRPr lang="it-IT" sz="1400" dirty="0"/>
                    </a:p>
                  </a:txBody>
                  <a:tcPr/>
                </a:tc>
                <a:tc>
                  <a:txBody>
                    <a:bodyPr/>
                    <a:lstStyle/>
                    <a:p>
                      <a:r>
                        <a:rPr lang="it-IT" sz="1400" dirty="0"/>
                        <a:t>1.12</a:t>
                      </a:r>
                    </a:p>
                  </a:txBody>
                  <a:tcPr/>
                </a:tc>
                <a:tc>
                  <a:txBody>
                    <a:bodyPr/>
                    <a:lstStyle/>
                    <a:p>
                      <a:r>
                        <a:rPr lang="it-IT" sz="1400" dirty="0"/>
                        <a:t>&lt;0.001</a:t>
                      </a:r>
                    </a:p>
                  </a:txBody>
                  <a:tcPr/>
                </a:tc>
                <a:extLst>
                  <a:ext uri="{0D108BD9-81ED-4DB2-BD59-A6C34878D82A}">
                    <a16:rowId xmlns:a16="http://schemas.microsoft.com/office/drawing/2014/main" val="2645968946"/>
                  </a:ext>
                </a:extLst>
              </a:tr>
              <a:tr h="370840">
                <a:tc>
                  <a:txBody>
                    <a:bodyPr/>
                    <a:lstStyle/>
                    <a:p>
                      <a:r>
                        <a:rPr lang="it-IT" sz="1400" dirty="0"/>
                        <a:t>BMI x Age</a:t>
                      </a:r>
                    </a:p>
                  </a:txBody>
                  <a:tcPr/>
                </a:tc>
                <a:tc>
                  <a:txBody>
                    <a:bodyPr/>
                    <a:lstStyle/>
                    <a:p>
                      <a:r>
                        <a:rPr lang="it-IT" sz="1400" dirty="0"/>
                        <a:t>1.00</a:t>
                      </a:r>
                    </a:p>
                  </a:txBody>
                  <a:tcPr/>
                </a:tc>
                <a:tc>
                  <a:txBody>
                    <a:bodyPr/>
                    <a:lstStyle/>
                    <a:p>
                      <a:r>
                        <a:rPr lang="it-IT" sz="1400" dirty="0"/>
                        <a:t>0.843</a:t>
                      </a:r>
                    </a:p>
                  </a:txBody>
                  <a:tcPr/>
                </a:tc>
                <a:extLst>
                  <a:ext uri="{0D108BD9-81ED-4DB2-BD59-A6C34878D82A}">
                    <a16:rowId xmlns:a16="http://schemas.microsoft.com/office/drawing/2014/main" val="1388922749"/>
                  </a:ext>
                </a:extLst>
              </a:tr>
            </a:tbl>
          </a:graphicData>
        </a:graphic>
      </p:graphicFrame>
      <p:sp>
        <p:nvSpPr>
          <p:cNvPr id="13" name="CasellaDiTesto 12">
            <a:extLst>
              <a:ext uri="{FF2B5EF4-FFF2-40B4-BE49-F238E27FC236}">
                <a16:creationId xmlns:a16="http://schemas.microsoft.com/office/drawing/2014/main" id="{33387966-E8FA-8E3D-9315-57E9DAA53E46}"/>
              </a:ext>
            </a:extLst>
          </p:cNvPr>
          <p:cNvSpPr txBox="1"/>
          <p:nvPr/>
        </p:nvSpPr>
        <p:spPr>
          <a:xfrm>
            <a:off x="1267452" y="1603331"/>
            <a:ext cx="1582484" cy="338554"/>
          </a:xfrm>
          <a:prstGeom prst="rect">
            <a:avLst/>
          </a:prstGeom>
          <a:noFill/>
        </p:spPr>
        <p:txBody>
          <a:bodyPr wrap="none" rtlCol="0">
            <a:spAutoFit/>
          </a:bodyPr>
          <a:lstStyle/>
          <a:p>
            <a:r>
              <a:rPr lang="it-IT" sz="1600" b="1" dirty="0" err="1"/>
              <a:t>Logistic</a:t>
            </a:r>
            <a:r>
              <a:rPr lang="it-IT" sz="1600" b="1" dirty="0"/>
              <a:t> Models</a:t>
            </a:r>
          </a:p>
        </p:txBody>
      </p:sp>
      <p:sp>
        <p:nvSpPr>
          <p:cNvPr id="14" name="CasellaDiTesto 13">
            <a:extLst>
              <a:ext uri="{FF2B5EF4-FFF2-40B4-BE49-F238E27FC236}">
                <a16:creationId xmlns:a16="http://schemas.microsoft.com/office/drawing/2014/main" id="{71E685C5-CB95-AF78-88F8-18A020DAFCD0}"/>
              </a:ext>
            </a:extLst>
          </p:cNvPr>
          <p:cNvSpPr txBox="1"/>
          <p:nvPr/>
        </p:nvSpPr>
        <p:spPr>
          <a:xfrm>
            <a:off x="4959887" y="1602285"/>
            <a:ext cx="2034724" cy="338554"/>
          </a:xfrm>
          <a:prstGeom prst="rect">
            <a:avLst/>
          </a:prstGeom>
          <a:noFill/>
        </p:spPr>
        <p:txBody>
          <a:bodyPr wrap="none" rtlCol="0">
            <a:spAutoFit/>
          </a:bodyPr>
          <a:lstStyle/>
          <a:p>
            <a:r>
              <a:rPr lang="it-IT" sz="1600" b="1" dirty="0" err="1"/>
              <a:t>Likelihood</a:t>
            </a:r>
            <a:r>
              <a:rPr lang="it-IT" sz="1600" b="1" dirty="0"/>
              <a:t> Ratio Test</a:t>
            </a:r>
          </a:p>
        </p:txBody>
      </p:sp>
      <p:sp>
        <p:nvSpPr>
          <p:cNvPr id="15" name="CasellaDiTesto 14">
            <a:extLst>
              <a:ext uri="{FF2B5EF4-FFF2-40B4-BE49-F238E27FC236}">
                <a16:creationId xmlns:a16="http://schemas.microsoft.com/office/drawing/2014/main" id="{C1D1400B-FDEE-2937-1CD7-CFFBB6148C87}"/>
              </a:ext>
            </a:extLst>
          </p:cNvPr>
          <p:cNvSpPr txBox="1"/>
          <p:nvPr/>
        </p:nvSpPr>
        <p:spPr>
          <a:xfrm>
            <a:off x="8290261" y="1602285"/>
            <a:ext cx="2145139" cy="338554"/>
          </a:xfrm>
          <a:prstGeom prst="rect">
            <a:avLst/>
          </a:prstGeom>
          <a:noFill/>
        </p:spPr>
        <p:txBody>
          <a:bodyPr wrap="none" rtlCol="0">
            <a:spAutoFit/>
          </a:bodyPr>
          <a:lstStyle/>
          <a:p>
            <a:r>
              <a:rPr lang="it-IT" sz="1600" b="1" dirty="0" err="1"/>
              <a:t>Odds</a:t>
            </a:r>
            <a:r>
              <a:rPr lang="it-IT" sz="1600" b="1" dirty="0"/>
              <a:t> </a:t>
            </a:r>
            <a:r>
              <a:rPr lang="it-IT" sz="1600" b="1" dirty="0" err="1"/>
              <a:t>Ratios</a:t>
            </a:r>
            <a:r>
              <a:rPr lang="it-IT" sz="1600" b="1" dirty="0"/>
              <a:t> (Model 2)</a:t>
            </a:r>
          </a:p>
        </p:txBody>
      </p:sp>
      <p:sp>
        <p:nvSpPr>
          <p:cNvPr id="19" name="Rectangle 1">
            <a:extLst>
              <a:ext uri="{FF2B5EF4-FFF2-40B4-BE49-F238E27FC236}">
                <a16:creationId xmlns:a16="http://schemas.microsoft.com/office/drawing/2014/main" id="{88907387-06D8-6587-4125-AB27A4B8083D}"/>
              </a:ext>
            </a:extLst>
          </p:cNvPr>
          <p:cNvSpPr>
            <a:spLocks noChangeArrowheads="1"/>
          </p:cNvSpPr>
          <p:nvPr/>
        </p:nvSpPr>
        <p:spPr bwMode="auto">
          <a:xfrm rot="10800000" flipV="1">
            <a:off x="233363" y="3600072"/>
            <a:ext cx="776577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it-IT" altLang="it-IT"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Adding</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the </a:t>
            </a: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BMI × Age interaction</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did</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not</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improve</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the model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Likelihood</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Ratio Test: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t>
            </a: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 0.843</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interaction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term</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was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not</a:t>
            </a: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statistically</a:t>
            </a: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significant</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Glucose</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and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Pregnancies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remained</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significant</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predictors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Model 1</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was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preferred</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because</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it</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was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more </a:t>
            </a:r>
            <a:r>
              <a:rPr kumimoji="0" lang="it-IT" altLang="it-IT" sz="1400" b="1"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parsimonious</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while</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providing</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similar</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it-IT" altLang="it-IT" sz="14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fit</a:t>
            </a:r>
            <a:r>
              <a:rPr kumimoji="0" lang="it-IT" altLang="it-IT" sz="14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p>
        </p:txBody>
      </p:sp>
      <p:sp>
        <p:nvSpPr>
          <p:cNvPr id="20" name="CasellaDiTesto 19">
            <a:extLst>
              <a:ext uri="{FF2B5EF4-FFF2-40B4-BE49-F238E27FC236}">
                <a16:creationId xmlns:a16="http://schemas.microsoft.com/office/drawing/2014/main" id="{53A73DCF-2E3D-FA6E-FCB5-9CDBD8E3DF66}"/>
              </a:ext>
            </a:extLst>
          </p:cNvPr>
          <p:cNvSpPr txBox="1"/>
          <p:nvPr/>
        </p:nvSpPr>
        <p:spPr>
          <a:xfrm>
            <a:off x="7880735" y="4129768"/>
            <a:ext cx="7606747" cy="2123658"/>
          </a:xfrm>
          <a:prstGeom prst="rect">
            <a:avLst/>
          </a:prstGeom>
          <a:noFill/>
        </p:spPr>
        <p:txBody>
          <a:bodyPr wrap="square" rtlCol="0">
            <a:spAutoFit/>
          </a:bodyPr>
          <a:lstStyle/>
          <a:p>
            <a:r>
              <a:rPr lang="it-IT" sz="1200" i="1" dirty="0">
                <a:solidFill>
                  <a:schemeClr val="bg2">
                    <a:lumMod val="50000"/>
                  </a:schemeClr>
                </a:solidFill>
              </a:rPr>
              <a:t>model1 &lt;- </a:t>
            </a:r>
            <a:r>
              <a:rPr lang="it-IT" sz="1200" i="1" dirty="0" err="1">
                <a:solidFill>
                  <a:schemeClr val="bg2">
                    <a:lumMod val="50000"/>
                  </a:schemeClr>
                </a:solidFill>
              </a:rPr>
              <a:t>glm</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Outcome</a:t>
            </a:r>
            <a:r>
              <a:rPr lang="it-IT" sz="1200" i="1" dirty="0">
                <a:solidFill>
                  <a:schemeClr val="bg2">
                    <a:lumMod val="50000"/>
                  </a:schemeClr>
                </a:solidFill>
              </a:rPr>
              <a:t> ~ BMI + Age + </a:t>
            </a:r>
            <a:r>
              <a:rPr lang="it-IT" sz="1200" i="1" dirty="0" err="1">
                <a:solidFill>
                  <a:schemeClr val="bg2">
                    <a:lumMod val="50000"/>
                  </a:schemeClr>
                </a:solidFill>
              </a:rPr>
              <a:t>Glucose</a:t>
            </a:r>
            <a:r>
              <a:rPr lang="it-IT" sz="1200" i="1" dirty="0">
                <a:solidFill>
                  <a:schemeClr val="bg2">
                    <a:lumMod val="50000"/>
                  </a:schemeClr>
                </a:solidFill>
              </a:rPr>
              <a:t> + </a:t>
            </a:r>
            <a:r>
              <a:rPr lang="it-IT" sz="1200" i="1" dirty="0" err="1">
                <a:solidFill>
                  <a:schemeClr val="bg2">
                    <a:lumMod val="50000"/>
                  </a:schemeClr>
                </a:solidFill>
              </a:rPr>
              <a:t>Pregnancies</a:t>
            </a:r>
            <a:r>
              <a:rPr lang="it-IT" sz="1200" i="1" dirty="0">
                <a:solidFill>
                  <a:schemeClr val="bg2">
                    <a:lumMod val="50000"/>
                  </a:schemeClr>
                </a:solidFill>
              </a:rPr>
              <a:t>,</a:t>
            </a:r>
          </a:p>
          <a:p>
            <a:r>
              <a:rPr lang="it-IT" sz="1200" i="1" dirty="0">
                <a:solidFill>
                  <a:schemeClr val="bg2">
                    <a:lumMod val="50000"/>
                  </a:schemeClr>
                </a:solidFill>
              </a:rPr>
              <a:t>  family = </a:t>
            </a:r>
            <a:r>
              <a:rPr lang="it-IT" sz="1200" i="1" dirty="0" err="1">
                <a:solidFill>
                  <a:schemeClr val="bg2">
                    <a:lumMod val="50000"/>
                  </a:schemeClr>
                </a:solidFill>
              </a:rPr>
              <a:t>binomial</a:t>
            </a:r>
            <a:r>
              <a:rPr lang="it-IT" sz="1200" i="1" dirty="0">
                <a:solidFill>
                  <a:schemeClr val="bg2">
                    <a:lumMod val="50000"/>
                  </a:schemeClr>
                </a:solidFill>
              </a:rPr>
              <a:t>,</a:t>
            </a:r>
          </a:p>
          <a:p>
            <a:r>
              <a:rPr lang="it-IT" sz="1200" i="1" dirty="0">
                <a:solidFill>
                  <a:schemeClr val="bg2">
                    <a:lumMod val="50000"/>
                  </a:schemeClr>
                </a:solidFill>
              </a:rPr>
              <a:t>  data = </a:t>
            </a:r>
            <a:r>
              <a:rPr lang="it-IT" sz="1200" i="1" dirty="0" err="1">
                <a:solidFill>
                  <a:schemeClr val="bg2">
                    <a:lumMod val="50000"/>
                  </a:schemeClr>
                </a:solidFill>
              </a:rPr>
              <a:t>diabetes</a:t>
            </a:r>
            <a:endParaRPr lang="it-IT" sz="1200" i="1" dirty="0">
              <a:solidFill>
                <a:schemeClr val="bg2">
                  <a:lumMod val="50000"/>
                </a:schemeClr>
              </a:solidFill>
            </a:endParaRPr>
          </a:p>
          <a:p>
            <a:r>
              <a:rPr lang="it-IT" sz="1200" i="1" dirty="0">
                <a:solidFill>
                  <a:schemeClr val="bg2">
                    <a:lumMod val="50000"/>
                  </a:schemeClr>
                </a:solidFill>
              </a:rPr>
              <a:t>)</a:t>
            </a:r>
          </a:p>
          <a:p>
            <a:r>
              <a:rPr lang="it-IT" sz="1200" i="1" dirty="0">
                <a:solidFill>
                  <a:schemeClr val="bg2">
                    <a:lumMod val="50000"/>
                  </a:schemeClr>
                </a:solidFill>
              </a:rPr>
              <a:t>model2 &lt;- </a:t>
            </a:r>
            <a:r>
              <a:rPr lang="it-IT" sz="1200" i="1" dirty="0" err="1">
                <a:solidFill>
                  <a:schemeClr val="bg2">
                    <a:lumMod val="50000"/>
                  </a:schemeClr>
                </a:solidFill>
              </a:rPr>
              <a:t>glm</a:t>
            </a:r>
            <a:r>
              <a:rPr lang="it-IT" sz="1200" i="1" dirty="0">
                <a:solidFill>
                  <a:schemeClr val="bg2">
                    <a:lumMod val="50000"/>
                  </a:schemeClr>
                </a:solidFill>
              </a:rPr>
              <a:t>(</a:t>
            </a:r>
          </a:p>
          <a:p>
            <a:r>
              <a:rPr lang="it-IT" sz="1200" i="1" dirty="0">
                <a:solidFill>
                  <a:schemeClr val="bg2">
                    <a:lumMod val="50000"/>
                  </a:schemeClr>
                </a:solidFill>
              </a:rPr>
              <a:t>  </a:t>
            </a:r>
            <a:r>
              <a:rPr lang="it-IT" sz="1200" i="1" dirty="0" err="1">
                <a:solidFill>
                  <a:schemeClr val="bg2">
                    <a:lumMod val="50000"/>
                  </a:schemeClr>
                </a:solidFill>
              </a:rPr>
              <a:t>Outcome</a:t>
            </a:r>
            <a:r>
              <a:rPr lang="it-IT" sz="1200" i="1" dirty="0">
                <a:solidFill>
                  <a:schemeClr val="bg2">
                    <a:lumMod val="50000"/>
                  </a:schemeClr>
                </a:solidFill>
              </a:rPr>
              <a:t> ~ BMI * Age + </a:t>
            </a:r>
            <a:r>
              <a:rPr lang="it-IT" sz="1200" i="1" dirty="0" err="1">
                <a:solidFill>
                  <a:schemeClr val="bg2">
                    <a:lumMod val="50000"/>
                  </a:schemeClr>
                </a:solidFill>
              </a:rPr>
              <a:t>Glucose</a:t>
            </a:r>
            <a:r>
              <a:rPr lang="it-IT" sz="1200" i="1" dirty="0">
                <a:solidFill>
                  <a:schemeClr val="bg2">
                    <a:lumMod val="50000"/>
                  </a:schemeClr>
                </a:solidFill>
              </a:rPr>
              <a:t> + </a:t>
            </a:r>
            <a:r>
              <a:rPr lang="it-IT" sz="1200" i="1" dirty="0" err="1">
                <a:solidFill>
                  <a:schemeClr val="bg2">
                    <a:lumMod val="50000"/>
                  </a:schemeClr>
                </a:solidFill>
              </a:rPr>
              <a:t>Pregnancies</a:t>
            </a:r>
            <a:r>
              <a:rPr lang="it-IT" sz="1200" i="1" dirty="0">
                <a:solidFill>
                  <a:schemeClr val="bg2">
                    <a:lumMod val="50000"/>
                  </a:schemeClr>
                </a:solidFill>
              </a:rPr>
              <a:t>,</a:t>
            </a:r>
          </a:p>
          <a:p>
            <a:r>
              <a:rPr lang="it-IT" sz="1200" i="1" dirty="0">
                <a:solidFill>
                  <a:schemeClr val="bg2">
                    <a:lumMod val="50000"/>
                  </a:schemeClr>
                </a:solidFill>
              </a:rPr>
              <a:t>  family = </a:t>
            </a:r>
            <a:r>
              <a:rPr lang="it-IT" sz="1200" i="1" dirty="0" err="1">
                <a:solidFill>
                  <a:schemeClr val="bg2">
                    <a:lumMod val="50000"/>
                  </a:schemeClr>
                </a:solidFill>
              </a:rPr>
              <a:t>binomial</a:t>
            </a:r>
            <a:r>
              <a:rPr lang="it-IT" sz="1200" i="1" dirty="0">
                <a:solidFill>
                  <a:schemeClr val="bg2">
                    <a:lumMod val="50000"/>
                  </a:schemeClr>
                </a:solidFill>
              </a:rPr>
              <a:t>,</a:t>
            </a:r>
          </a:p>
          <a:p>
            <a:r>
              <a:rPr lang="it-IT" sz="1200" i="1" dirty="0">
                <a:solidFill>
                  <a:schemeClr val="bg2">
                    <a:lumMod val="50000"/>
                  </a:schemeClr>
                </a:solidFill>
              </a:rPr>
              <a:t>  data = </a:t>
            </a:r>
            <a:r>
              <a:rPr lang="it-IT" sz="1200" i="1" dirty="0" err="1">
                <a:solidFill>
                  <a:schemeClr val="bg2">
                    <a:lumMod val="50000"/>
                  </a:schemeClr>
                </a:solidFill>
              </a:rPr>
              <a:t>diabetes</a:t>
            </a:r>
            <a:endParaRPr lang="it-IT" sz="1200" i="1" dirty="0">
              <a:solidFill>
                <a:schemeClr val="bg2">
                  <a:lumMod val="50000"/>
                </a:schemeClr>
              </a:solidFill>
            </a:endParaRPr>
          </a:p>
          <a:p>
            <a:r>
              <a:rPr lang="it-IT" sz="1200" i="1" dirty="0">
                <a:solidFill>
                  <a:schemeClr val="bg2">
                    <a:lumMod val="50000"/>
                  </a:schemeClr>
                </a:solidFill>
              </a:rPr>
              <a:t>)</a:t>
            </a:r>
          </a:p>
          <a:p>
            <a:r>
              <a:rPr lang="it-IT" sz="1200" i="1" dirty="0" err="1">
                <a:solidFill>
                  <a:schemeClr val="bg2">
                    <a:lumMod val="50000"/>
                  </a:schemeClr>
                </a:solidFill>
              </a:rPr>
              <a:t>anova</a:t>
            </a:r>
            <a:r>
              <a:rPr lang="it-IT" sz="1200" i="1" dirty="0">
                <a:solidFill>
                  <a:schemeClr val="bg2">
                    <a:lumMod val="50000"/>
                  </a:schemeClr>
                </a:solidFill>
              </a:rPr>
              <a:t>(model1, model2, test = "</a:t>
            </a:r>
            <a:r>
              <a:rPr lang="it-IT" sz="1200" i="1" dirty="0" err="1">
                <a:solidFill>
                  <a:schemeClr val="bg2">
                    <a:lumMod val="50000"/>
                  </a:schemeClr>
                </a:solidFill>
              </a:rPr>
              <a:t>Chisq</a:t>
            </a:r>
            <a:r>
              <a:rPr lang="it-IT" sz="1200" i="1" dirty="0">
                <a:solidFill>
                  <a:schemeClr val="bg2">
                    <a:lumMod val="50000"/>
                  </a:schemeClr>
                </a:solidFill>
              </a:rPr>
              <a:t>")</a:t>
            </a:r>
          </a:p>
        </p:txBody>
      </p:sp>
      <p:pic>
        <p:nvPicPr>
          <p:cNvPr id="21" name="Immagine 20" descr="Immagine che contiene logo, simbolo, Carattere, Elementi grafici&#10;&#10;Il contenuto generato dall'IA potrebbe non essere corretto.">
            <a:extLst>
              <a:ext uri="{FF2B5EF4-FFF2-40B4-BE49-F238E27FC236}">
                <a16:creationId xmlns:a16="http://schemas.microsoft.com/office/drawing/2014/main" id="{33F95EB0-227E-D52A-F3DB-CBBFEA25B525}"/>
              </a:ext>
            </a:extLst>
          </p:cNvPr>
          <p:cNvPicPr>
            <a:picLocks noChangeAspect="1"/>
          </p:cNvPicPr>
          <p:nvPr/>
        </p:nvPicPr>
        <p:blipFill>
          <a:blip r:embed="rId3"/>
          <a:stretch>
            <a:fillRect/>
          </a:stretch>
        </p:blipFill>
        <p:spPr>
          <a:xfrm>
            <a:off x="11313149" y="5777961"/>
            <a:ext cx="413197" cy="386366"/>
          </a:xfrm>
          <a:prstGeom prst="rect">
            <a:avLst/>
          </a:prstGeom>
        </p:spPr>
      </p:pic>
    </p:spTree>
    <p:extLst>
      <p:ext uri="{BB962C8B-B14F-4D97-AF65-F5344CB8AC3E}">
        <p14:creationId xmlns:p14="http://schemas.microsoft.com/office/powerpoint/2010/main" val="81470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3596F3-9AC5-6F6B-FE8A-75E132E797E7}"/>
              </a:ext>
            </a:extLst>
          </p:cNvPr>
          <p:cNvSpPr>
            <a:spLocks noGrp="1"/>
          </p:cNvSpPr>
          <p:nvPr>
            <p:ph type="title"/>
          </p:nvPr>
        </p:nvSpPr>
        <p:spPr>
          <a:xfrm>
            <a:off x="640079" y="1172818"/>
            <a:ext cx="10890929" cy="1097280"/>
          </a:xfrm>
        </p:spPr>
        <p:txBody>
          <a:bodyPr/>
          <a:lstStyle/>
          <a:p>
            <a:r>
              <a:rPr lang="it-IT" dirty="0" err="1"/>
              <a:t>Discussion</a:t>
            </a:r>
            <a:endParaRPr lang="it-IT" dirty="0"/>
          </a:p>
        </p:txBody>
      </p:sp>
      <p:graphicFrame>
        <p:nvGraphicFramePr>
          <p:cNvPr id="18" name="Rectangle 1">
            <a:extLst>
              <a:ext uri="{FF2B5EF4-FFF2-40B4-BE49-F238E27FC236}">
                <a16:creationId xmlns:a16="http://schemas.microsoft.com/office/drawing/2014/main" id="{D3A0AB1F-6F46-1B0E-4D09-9DB4437B467F}"/>
              </a:ext>
            </a:extLst>
          </p:cNvPr>
          <p:cNvGraphicFramePr>
            <a:graphicFrameLocks noGrp="1"/>
          </p:cNvGraphicFramePr>
          <p:nvPr>
            <p:ph idx="1"/>
            <p:extLst>
              <p:ext uri="{D42A27DB-BD31-4B8C-83A1-F6EECF244321}">
                <p14:modId xmlns:p14="http://schemas.microsoft.com/office/powerpoint/2010/main" val="1324655876"/>
              </p:ext>
            </p:extLst>
          </p:nvPr>
        </p:nvGraphicFramePr>
        <p:xfrm>
          <a:off x="308459" y="2270098"/>
          <a:ext cx="5944256" cy="30777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CasellaDiTesto 9">
            <a:extLst>
              <a:ext uri="{FF2B5EF4-FFF2-40B4-BE49-F238E27FC236}">
                <a16:creationId xmlns:a16="http://schemas.microsoft.com/office/drawing/2014/main" id="{B9F4E54C-31D1-9CFE-0FA0-DF3BE996D3C6}"/>
              </a:ext>
            </a:extLst>
          </p:cNvPr>
          <p:cNvSpPr txBox="1"/>
          <p:nvPr/>
        </p:nvSpPr>
        <p:spPr>
          <a:xfrm>
            <a:off x="6506817" y="2554281"/>
            <a:ext cx="6096000" cy="861774"/>
          </a:xfrm>
          <a:prstGeom prst="rect">
            <a:avLst/>
          </a:prstGeom>
          <a:noFill/>
        </p:spPr>
        <p:txBody>
          <a:bodyPr wrap="square">
            <a:spAutoFit/>
          </a:bodyPr>
          <a:lstStyle/>
          <a:p>
            <a:r>
              <a:rPr lang="it-IT" b="1" dirty="0">
                <a:latin typeface="Arial" panose="020B0604020202020204" pitchFamily="34" charset="0"/>
                <a:cs typeface="Arial" panose="020B0604020202020204" pitchFamily="34" charset="0"/>
              </a:rPr>
              <a:t>BMI </a:t>
            </a:r>
            <a:r>
              <a:rPr lang="it-IT" b="1" dirty="0" err="1">
                <a:latin typeface="Arial" panose="020B0604020202020204" pitchFamily="34" charset="0"/>
                <a:cs typeface="Arial" panose="020B0604020202020204" pitchFamily="34" charset="0"/>
              </a:rPr>
              <a:t>as</a:t>
            </a:r>
            <a:r>
              <a:rPr lang="it-IT" b="1" dirty="0">
                <a:latin typeface="Arial" panose="020B0604020202020204" pitchFamily="34" charset="0"/>
                <a:cs typeface="Arial" panose="020B0604020202020204" pitchFamily="34" charset="0"/>
              </a:rPr>
              <a:t> a risk </a:t>
            </a:r>
            <a:r>
              <a:rPr lang="it-IT" b="1" dirty="0" err="1">
                <a:latin typeface="Arial" panose="020B0604020202020204" pitchFamily="34" charset="0"/>
                <a:cs typeface="Arial" panose="020B0604020202020204" pitchFamily="34" charset="0"/>
              </a:rPr>
              <a:t>factor</a:t>
            </a:r>
            <a:endParaRPr lang="it-IT" dirty="0">
              <a:latin typeface="Arial" panose="020B0604020202020204" pitchFamily="34" charset="0"/>
              <a:cs typeface="Arial" panose="020B0604020202020204" pitchFamily="34" charset="0"/>
            </a:endParaRPr>
          </a:p>
          <a:p>
            <a:r>
              <a:rPr lang="it-IT" sz="1600" dirty="0" err="1">
                <a:latin typeface="Arial" panose="020B0604020202020204" pitchFamily="34" charset="0"/>
                <a:cs typeface="Arial" panose="020B0604020202020204" pitchFamily="34" charset="0"/>
              </a:rPr>
              <a:t>Higher</a:t>
            </a:r>
            <a:r>
              <a:rPr lang="it-IT" sz="1600" dirty="0">
                <a:latin typeface="Arial" panose="020B0604020202020204" pitchFamily="34" charset="0"/>
                <a:cs typeface="Arial" panose="020B0604020202020204" pitchFamily="34" charset="0"/>
              </a:rPr>
              <a:t> BMI </a:t>
            </a:r>
            <a:r>
              <a:rPr lang="it-IT" sz="1600" dirty="0" err="1">
                <a:latin typeface="Arial" panose="020B0604020202020204" pitchFamily="34" charset="0"/>
                <a:cs typeface="Arial" panose="020B0604020202020204" pitchFamily="34" charset="0"/>
              </a:rPr>
              <a:t>significantly</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increased</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diabetes</a:t>
            </a:r>
            <a:r>
              <a:rPr lang="it-IT" sz="1600" dirty="0">
                <a:latin typeface="Arial" panose="020B0604020202020204" pitchFamily="34" charset="0"/>
                <a:cs typeface="Arial" panose="020B0604020202020204" pitchFamily="34" charset="0"/>
              </a:rPr>
              <a:t> risk, </a:t>
            </a:r>
            <a:r>
              <a:rPr lang="it-IT" sz="1600" dirty="0" err="1">
                <a:latin typeface="Arial" panose="020B0604020202020204" pitchFamily="34" charset="0"/>
                <a:cs typeface="Arial" panose="020B0604020202020204" pitchFamily="34" charset="0"/>
              </a:rPr>
              <a:t>supporting</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evidence</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that</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obesity</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is</a:t>
            </a:r>
            <a:r>
              <a:rPr lang="it-IT" sz="1600" dirty="0">
                <a:latin typeface="Arial" panose="020B0604020202020204" pitchFamily="34" charset="0"/>
                <a:cs typeface="Arial" panose="020B0604020202020204" pitchFamily="34" charset="0"/>
              </a:rPr>
              <a:t> a major contributor to </a:t>
            </a:r>
            <a:r>
              <a:rPr lang="it-IT" sz="1600" dirty="0" err="1">
                <a:latin typeface="Arial" panose="020B0604020202020204" pitchFamily="34" charset="0"/>
                <a:cs typeface="Arial" panose="020B0604020202020204" pitchFamily="34" charset="0"/>
              </a:rPr>
              <a:t>Type</a:t>
            </a:r>
            <a:r>
              <a:rPr lang="it-IT" sz="1600" dirty="0">
                <a:latin typeface="Arial" panose="020B0604020202020204" pitchFamily="34" charset="0"/>
                <a:cs typeface="Arial" panose="020B0604020202020204" pitchFamily="34" charset="0"/>
              </a:rPr>
              <a:t> 2 </a:t>
            </a:r>
            <a:r>
              <a:rPr lang="it-IT" sz="1600" dirty="0" err="1">
                <a:latin typeface="Arial" panose="020B0604020202020204" pitchFamily="34" charset="0"/>
                <a:cs typeface="Arial" panose="020B0604020202020204" pitchFamily="34" charset="0"/>
              </a:rPr>
              <a:t>diabetes</a:t>
            </a:r>
            <a:r>
              <a:rPr lang="it-IT" sz="1600" dirty="0">
                <a:latin typeface="Arial" panose="020B0604020202020204" pitchFamily="34" charset="0"/>
                <a:cs typeface="Arial" panose="020B0604020202020204" pitchFamily="34" charset="0"/>
              </a:rPr>
              <a:t>.</a:t>
            </a:r>
          </a:p>
        </p:txBody>
      </p:sp>
      <p:sp>
        <p:nvSpPr>
          <p:cNvPr id="12" name="CasellaDiTesto 11">
            <a:extLst>
              <a:ext uri="{FF2B5EF4-FFF2-40B4-BE49-F238E27FC236}">
                <a16:creationId xmlns:a16="http://schemas.microsoft.com/office/drawing/2014/main" id="{D396FFDF-31BF-5B54-33E8-EA1A5F861337}"/>
              </a:ext>
            </a:extLst>
          </p:cNvPr>
          <p:cNvSpPr txBox="1"/>
          <p:nvPr/>
        </p:nvSpPr>
        <p:spPr>
          <a:xfrm>
            <a:off x="6506817" y="1346768"/>
            <a:ext cx="6301408" cy="892552"/>
          </a:xfrm>
          <a:prstGeom prst="rect">
            <a:avLst/>
          </a:prstGeom>
          <a:noFill/>
        </p:spPr>
        <p:txBody>
          <a:bodyPr wrap="square">
            <a:spAutoFit/>
          </a:bodyPr>
          <a:lstStyle/>
          <a:p>
            <a:pPr algn="l">
              <a:buNone/>
            </a:pPr>
            <a:r>
              <a:rPr lang="it-IT" b="1" i="0" dirty="0">
                <a:solidFill>
                  <a:srgbClr val="000000"/>
                </a:solidFill>
                <a:effectLst/>
                <a:latin typeface="Arial" panose="020B0604020202020204" pitchFamily="34" charset="0"/>
                <a:cs typeface="Arial" panose="020B0604020202020204" pitchFamily="34" charset="0"/>
              </a:rPr>
              <a:t>Age and </a:t>
            </a:r>
            <a:r>
              <a:rPr lang="it-IT" b="1" i="0" dirty="0" err="1">
                <a:solidFill>
                  <a:srgbClr val="000000"/>
                </a:solidFill>
                <a:effectLst/>
                <a:latin typeface="Arial" panose="020B0604020202020204" pitchFamily="34" charset="0"/>
                <a:cs typeface="Arial" panose="020B0604020202020204" pitchFamily="34" charset="0"/>
              </a:rPr>
              <a:t>diabetes</a:t>
            </a:r>
            <a:endParaRPr lang="it-IT" b="0" i="0" dirty="0">
              <a:solidFill>
                <a:srgbClr val="000000"/>
              </a:solidFill>
              <a:effectLst/>
              <a:latin typeface="Arial" panose="020B0604020202020204" pitchFamily="34" charset="0"/>
              <a:cs typeface="Arial" panose="020B0604020202020204" pitchFamily="34" charset="0"/>
            </a:endParaRPr>
          </a:p>
          <a:p>
            <a:pPr algn="l">
              <a:buNone/>
            </a:pPr>
            <a:r>
              <a:rPr lang="it-IT" sz="1600" b="0" i="0" dirty="0" err="1">
                <a:solidFill>
                  <a:srgbClr val="000000"/>
                </a:solidFill>
                <a:effectLst/>
                <a:latin typeface="Arial" panose="020B0604020202020204" pitchFamily="34" charset="0"/>
                <a:cs typeface="Arial" panose="020B0604020202020204" pitchFamily="34" charset="0"/>
              </a:rPr>
              <a:t>Older</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adults</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had</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higher</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glucose</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levels</a:t>
            </a:r>
            <a:r>
              <a:rPr lang="it-IT" sz="1600" b="0" i="0" dirty="0">
                <a:solidFill>
                  <a:srgbClr val="000000"/>
                </a:solidFill>
                <a:effectLst/>
                <a:latin typeface="Arial" panose="020B0604020202020204" pitchFamily="34" charset="0"/>
                <a:cs typeface="Arial" panose="020B0604020202020204" pitchFamily="34" charset="0"/>
              </a:rPr>
              <a:t> and </a:t>
            </a:r>
            <a:r>
              <a:rPr lang="it-IT" sz="1600" b="0" i="0" dirty="0" err="1">
                <a:solidFill>
                  <a:srgbClr val="000000"/>
                </a:solidFill>
                <a:effectLst/>
                <a:latin typeface="Arial" panose="020B0604020202020204" pitchFamily="34" charset="0"/>
                <a:cs typeface="Arial" panose="020B0604020202020204" pitchFamily="34" charset="0"/>
              </a:rPr>
              <a:t>higher</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diabetes</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prevalence</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consistent</a:t>
            </a:r>
            <a:r>
              <a:rPr lang="it-IT" sz="1600" b="0" i="0" dirty="0">
                <a:solidFill>
                  <a:srgbClr val="000000"/>
                </a:solidFill>
                <a:effectLst/>
                <a:latin typeface="Arial" panose="020B0604020202020204" pitchFamily="34" charset="0"/>
                <a:cs typeface="Arial" panose="020B0604020202020204" pitchFamily="34" charset="0"/>
              </a:rPr>
              <a:t> with </a:t>
            </a:r>
            <a:r>
              <a:rPr lang="it-IT" sz="1600" b="0" i="0" dirty="0" err="1">
                <a:solidFill>
                  <a:srgbClr val="000000"/>
                </a:solidFill>
                <a:effectLst/>
                <a:latin typeface="Arial" panose="020B0604020202020204" pitchFamily="34" charset="0"/>
                <a:cs typeface="Arial" panose="020B0604020202020204" pitchFamily="34" charset="0"/>
              </a:rPr>
              <a:t>previous</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epidemiological</a:t>
            </a:r>
            <a:r>
              <a:rPr lang="it-IT" sz="1600" b="0" i="0" dirty="0">
                <a:solidFill>
                  <a:srgbClr val="000000"/>
                </a:solidFill>
                <a:effectLst/>
                <a:latin typeface="Arial" panose="020B0604020202020204" pitchFamily="34" charset="0"/>
                <a:cs typeface="Arial" panose="020B0604020202020204" pitchFamily="34" charset="0"/>
              </a:rPr>
              <a:t> studies</a:t>
            </a:r>
            <a:r>
              <a:rPr lang="it-IT" b="0" i="0" dirty="0">
                <a:solidFill>
                  <a:srgbClr val="000000"/>
                </a:solidFill>
                <a:effectLst/>
                <a:latin typeface="Arial" panose="020B0604020202020204" pitchFamily="34" charset="0"/>
                <a:cs typeface="Arial" panose="020B0604020202020204" pitchFamily="34" charset="0"/>
              </a:rPr>
              <a:t>.</a:t>
            </a:r>
          </a:p>
        </p:txBody>
      </p:sp>
      <p:sp>
        <p:nvSpPr>
          <p:cNvPr id="14" name="CasellaDiTesto 13">
            <a:extLst>
              <a:ext uri="{FF2B5EF4-FFF2-40B4-BE49-F238E27FC236}">
                <a16:creationId xmlns:a16="http://schemas.microsoft.com/office/drawing/2014/main" id="{9CE9B92C-68B0-E0C5-FC14-4221F465755F}"/>
              </a:ext>
            </a:extLst>
          </p:cNvPr>
          <p:cNvSpPr txBox="1"/>
          <p:nvPr/>
        </p:nvSpPr>
        <p:spPr>
          <a:xfrm>
            <a:off x="6506817" y="3762384"/>
            <a:ext cx="5539409" cy="861774"/>
          </a:xfrm>
          <a:prstGeom prst="rect">
            <a:avLst/>
          </a:prstGeom>
          <a:noFill/>
        </p:spPr>
        <p:txBody>
          <a:bodyPr wrap="square">
            <a:spAutoFit/>
          </a:bodyPr>
          <a:lstStyle/>
          <a:p>
            <a:pPr algn="l">
              <a:buNone/>
            </a:pPr>
            <a:r>
              <a:rPr lang="it-IT" b="1" i="0" dirty="0" err="1">
                <a:solidFill>
                  <a:srgbClr val="000000"/>
                </a:solidFill>
                <a:effectLst/>
                <a:latin typeface="Arial" panose="020B0604020202020204" pitchFamily="34" charset="0"/>
                <a:cs typeface="Arial" panose="020B0604020202020204" pitchFamily="34" charset="0"/>
              </a:rPr>
              <a:t>Glucose</a:t>
            </a:r>
            <a:endParaRPr lang="it-IT" b="0" i="0" dirty="0">
              <a:solidFill>
                <a:srgbClr val="000000"/>
              </a:solidFill>
              <a:effectLst/>
              <a:latin typeface="Arial" panose="020B0604020202020204" pitchFamily="34" charset="0"/>
              <a:cs typeface="Arial" panose="020B0604020202020204" pitchFamily="34" charset="0"/>
            </a:endParaRPr>
          </a:p>
          <a:p>
            <a:pPr algn="l">
              <a:buNone/>
            </a:pPr>
            <a:r>
              <a:rPr lang="it-IT" sz="1600" b="0" i="0" dirty="0" err="1">
                <a:solidFill>
                  <a:srgbClr val="000000"/>
                </a:solidFill>
                <a:effectLst/>
                <a:latin typeface="Arial" panose="020B0604020202020204" pitchFamily="34" charset="0"/>
                <a:cs typeface="Arial" panose="020B0604020202020204" pitchFamily="34" charset="0"/>
              </a:rPr>
              <a:t>Glucose</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was</a:t>
            </a:r>
            <a:r>
              <a:rPr lang="it-IT" sz="1600" b="0" i="0" dirty="0">
                <a:solidFill>
                  <a:srgbClr val="000000"/>
                </a:solidFill>
                <a:effectLst/>
                <a:latin typeface="Arial" panose="020B0604020202020204" pitchFamily="34" charset="0"/>
                <a:cs typeface="Arial" panose="020B0604020202020204" pitchFamily="34" charset="0"/>
              </a:rPr>
              <a:t> the </a:t>
            </a:r>
            <a:r>
              <a:rPr lang="it-IT" sz="1600" b="0" i="0" dirty="0" err="1">
                <a:solidFill>
                  <a:srgbClr val="000000"/>
                </a:solidFill>
                <a:effectLst/>
                <a:latin typeface="Arial" panose="020B0604020202020204" pitchFamily="34" charset="0"/>
                <a:cs typeface="Arial" panose="020B0604020202020204" pitchFamily="34" charset="0"/>
              </a:rPr>
              <a:t>strongest</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predictor</a:t>
            </a:r>
            <a:r>
              <a:rPr lang="it-IT" sz="1600" b="0" i="0" dirty="0">
                <a:solidFill>
                  <a:srgbClr val="000000"/>
                </a:solidFill>
                <a:effectLst/>
                <a:latin typeface="Arial" panose="020B0604020202020204" pitchFamily="34" charset="0"/>
                <a:cs typeface="Arial" panose="020B0604020202020204" pitchFamily="34" charset="0"/>
              </a:rPr>
              <a:t> in </a:t>
            </a:r>
            <a:r>
              <a:rPr lang="it-IT" sz="1600" b="0" i="0" dirty="0" err="1">
                <a:solidFill>
                  <a:srgbClr val="000000"/>
                </a:solidFill>
                <a:effectLst/>
                <a:latin typeface="Arial" panose="020B0604020202020204" pitchFamily="34" charset="0"/>
                <a:cs typeface="Arial" panose="020B0604020202020204" pitchFamily="34" charset="0"/>
              </a:rPr>
              <a:t>both</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regression</a:t>
            </a:r>
            <a:r>
              <a:rPr lang="it-IT" sz="1600" b="0" i="0" dirty="0">
                <a:solidFill>
                  <a:srgbClr val="000000"/>
                </a:solidFill>
                <a:effectLst/>
                <a:latin typeface="Arial" panose="020B0604020202020204" pitchFamily="34" charset="0"/>
                <a:cs typeface="Arial" panose="020B0604020202020204" pitchFamily="34" charset="0"/>
              </a:rPr>
              <a:t> models, </a:t>
            </a:r>
            <a:r>
              <a:rPr lang="it-IT" sz="1600" b="0" i="0" dirty="0" err="1">
                <a:solidFill>
                  <a:srgbClr val="000000"/>
                </a:solidFill>
                <a:effectLst/>
                <a:latin typeface="Arial" panose="020B0604020202020204" pitchFamily="34" charset="0"/>
                <a:cs typeface="Arial" panose="020B0604020202020204" pitchFamily="34" charset="0"/>
              </a:rPr>
              <a:t>which</a:t>
            </a:r>
            <a:r>
              <a:rPr lang="it-IT" sz="1600" b="0" i="0" dirty="0">
                <a:solidFill>
                  <a:srgbClr val="000000"/>
                </a:solidFill>
                <a:effectLst/>
                <a:latin typeface="Arial" panose="020B0604020202020204" pitchFamily="34" charset="0"/>
                <a:cs typeface="Arial" panose="020B0604020202020204" pitchFamily="34" charset="0"/>
              </a:rPr>
              <a:t> </a:t>
            </a:r>
            <a:r>
              <a:rPr lang="it-IT" sz="1600" b="0" i="0" dirty="0" err="1">
                <a:solidFill>
                  <a:srgbClr val="000000"/>
                </a:solidFill>
                <a:effectLst/>
                <a:latin typeface="Arial" panose="020B0604020202020204" pitchFamily="34" charset="0"/>
                <a:cs typeface="Arial" panose="020B0604020202020204" pitchFamily="34" charset="0"/>
              </a:rPr>
              <a:t>agrees</a:t>
            </a:r>
            <a:r>
              <a:rPr lang="it-IT" sz="1600" b="0" i="0" dirty="0">
                <a:solidFill>
                  <a:srgbClr val="000000"/>
                </a:solidFill>
                <a:effectLst/>
                <a:latin typeface="Arial" panose="020B0604020202020204" pitchFamily="34" charset="0"/>
                <a:cs typeface="Arial" panose="020B0604020202020204" pitchFamily="34" charset="0"/>
              </a:rPr>
              <a:t> with </a:t>
            </a:r>
            <a:r>
              <a:rPr lang="it-IT" sz="1600" b="0" i="0" dirty="0" err="1">
                <a:solidFill>
                  <a:srgbClr val="000000"/>
                </a:solidFill>
                <a:effectLst/>
                <a:latin typeface="Arial" panose="020B0604020202020204" pitchFamily="34" charset="0"/>
                <a:cs typeface="Arial" panose="020B0604020202020204" pitchFamily="34" charset="0"/>
              </a:rPr>
              <a:t>established</a:t>
            </a:r>
            <a:r>
              <a:rPr lang="it-IT" sz="1600" b="0" i="0" dirty="0">
                <a:solidFill>
                  <a:srgbClr val="000000"/>
                </a:solidFill>
                <a:effectLst/>
                <a:latin typeface="Arial" panose="020B0604020202020204" pitchFamily="34" charset="0"/>
                <a:cs typeface="Arial" panose="020B0604020202020204" pitchFamily="34" charset="0"/>
              </a:rPr>
              <a:t> clinical knowledge.</a:t>
            </a:r>
          </a:p>
        </p:txBody>
      </p:sp>
      <p:sp>
        <p:nvSpPr>
          <p:cNvPr id="16" name="CasellaDiTesto 15">
            <a:extLst>
              <a:ext uri="{FF2B5EF4-FFF2-40B4-BE49-F238E27FC236}">
                <a16:creationId xmlns:a16="http://schemas.microsoft.com/office/drawing/2014/main" id="{21FB1692-A0F6-4E1D-8E69-9BD3A8105259}"/>
              </a:ext>
            </a:extLst>
          </p:cNvPr>
          <p:cNvSpPr txBox="1"/>
          <p:nvPr/>
        </p:nvSpPr>
        <p:spPr>
          <a:xfrm>
            <a:off x="116959" y="5731724"/>
            <a:ext cx="6467060" cy="830997"/>
          </a:xfrm>
          <a:prstGeom prst="rect">
            <a:avLst/>
          </a:prstGeom>
          <a:noFill/>
        </p:spPr>
        <p:txBody>
          <a:bodyPr wrap="square">
            <a:spAutoFit/>
          </a:bodyPr>
          <a:lstStyle/>
          <a:p>
            <a:r>
              <a:rPr lang="it-IT" sz="1600" b="0" i="0" u="none" strike="noStrike" dirty="0">
                <a:solidFill>
                  <a:srgbClr val="000000"/>
                </a:solidFill>
                <a:effectLst/>
                <a:latin typeface="Arial" panose="020B0604020202020204" pitchFamily="34" charset="0"/>
                <a:cs typeface="Arial" panose="020B0604020202020204" pitchFamily="34" charset="0"/>
              </a:rPr>
              <a:t>Comprehensive </a:t>
            </a:r>
            <a:r>
              <a:rPr lang="it-IT" sz="1600" b="0" i="0" u="none" strike="noStrike" dirty="0" err="1">
                <a:solidFill>
                  <a:srgbClr val="000000"/>
                </a:solidFill>
                <a:effectLst/>
                <a:latin typeface="Arial" panose="020B0604020202020204" pitchFamily="34" charset="0"/>
                <a:cs typeface="Arial" panose="020B0604020202020204" pitchFamily="34" charset="0"/>
              </a:rPr>
              <a:t>statistical</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analysis</a:t>
            </a:r>
            <a:r>
              <a:rPr lang="it-IT" sz="1600" b="0" i="0" u="none" strike="noStrike" dirty="0">
                <a:solidFill>
                  <a:srgbClr val="000000"/>
                </a:solidFill>
                <a:effectLst/>
                <a:latin typeface="Arial" panose="020B0604020202020204" pitchFamily="34" charset="0"/>
                <a:cs typeface="Arial" panose="020B0604020202020204" pitchFamily="34" charset="0"/>
              </a:rPr>
              <a:t> helps </a:t>
            </a:r>
            <a:r>
              <a:rPr lang="it-IT" sz="1600" b="0" i="0" u="none" strike="noStrike" dirty="0" err="1">
                <a:solidFill>
                  <a:srgbClr val="000000"/>
                </a:solidFill>
                <a:effectLst/>
                <a:latin typeface="Arial" panose="020B0604020202020204" pitchFamily="34" charset="0"/>
                <a:cs typeface="Arial" panose="020B0604020202020204" pitchFamily="34" charset="0"/>
              </a:rPr>
              <a:t>identify</a:t>
            </a:r>
            <a:r>
              <a:rPr lang="it-IT" sz="1600" b="0" i="0" u="none" strike="noStrike" dirty="0">
                <a:solidFill>
                  <a:srgbClr val="000000"/>
                </a:solidFill>
                <a:effectLst/>
                <a:latin typeface="Arial" panose="020B0604020202020204" pitchFamily="34" charset="0"/>
                <a:cs typeface="Arial" panose="020B0604020202020204" pitchFamily="34" charset="0"/>
              </a:rPr>
              <a:t> patterns and </a:t>
            </a:r>
            <a:r>
              <a:rPr lang="it-IT" sz="1600" b="0" i="0" u="none" strike="noStrike" dirty="0" err="1">
                <a:solidFill>
                  <a:srgbClr val="000000"/>
                </a:solidFill>
                <a:effectLst/>
                <a:latin typeface="Arial" panose="020B0604020202020204" pitchFamily="34" charset="0"/>
                <a:cs typeface="Arial" panose="020B0604020202020204" pitchFamily="34" charset="0"/>
              </a:rPr>
              <a:t>relationships</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within</a:t>
            </a:r>
            <a:r>
              <a:rPr lang="it-IT" sz="1600" b="0" i="0" u="none" strike="noStrike" dirty="0">
                <a:solidFill>
                  <a:srgbClr val="000000"/>
                </a:solidFill>
                <a:effectLst/>
                <a:latin typeface="Arial" panose="020B0604020202020204" pitchFamily="34" charset="0"/>
                <a:cs typeface="Arial" panose="020B0604020202020204" pitchFamily="34" charset="0"/>
              </a:rPr>
              <a:t> health datasets, </a:t>
            </a:r>
            <a:r>
              <a:rPr lang="it-IT" sz="1600" b="0" i="0" u="none" strike="noStrike" dirty="0" err="1">
                <a:solidFill>
                  <a:srgbClr val="000000"/>
                </a:solidFill>
                <a:effectLst/>
                <a:latin typeface="Arial" panose="020B0604020202020204" pitchFamily="34" charset="0"/>
                <a:cs typeface="Arial" panose="020B0604020202020204" pitchFamily="34" charset="0"/>
              </a:rPr>
              <a:t>improving</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interpretation</a:t>
            </a:r>
            <a:r>
              <a:rPr lang="it-IT" sz="1600" b="0" i="0" u="none" strike="noStrike" dirty="0">
                <a:solidFill>
                  <a:srgbClr val="000000"/>
                </a:solidFill>
                <a:effectLst/>
                <a:latin typeface="Arial" panose="020B0604020202020204" pitchFamily="34" charset="0"/>
                <a:cs typeface="Arial" panose="020B0604020202020204" pitchFamily="34" charset="0"/>
              </a:rPr>
              <a:t> and </a:t>
            </a:r>
            <a:r>
              <a:rPr lang="it-IT" sz="1600" b="0" i="0" u="none" strike="noStrike" dirty="0" err="1">
                <a:solidFill>
                  <a:srgbClr val="000000"/>
                </a:solidFill>
                <a:effectLst/>
                <a:latin typeface="Arial" panose="020B0604020202020204" pitchFamily="34" charset="0"/>
                <a:cs typeface="Arial" panose="020B0604020202020204" pitchFamily="34" charset="0"/>
              </a:rPr>
              <a:t>supporting</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evidence-based</a:t>
            </a:r>
            <a:r>
              <a:rPr lang="it-IT" sz="1600" b="0" i="0" u="none" strike="noStrike" dirty="0">
                <a:solidFill>
                  <a:srgbClr val="000000"/>
                </a:solidFill>
                <a:effectLst/>
                <a:latin typeface="Arial" panose="020B0604020202020204" pitchFamily="34" charset="0"/>
                <a:cs typeface="Arial" panose="020B0604020202020204" pitchFamily="34" charset="0"/>
              </a:rPr>
              <a:t> </a:t>
            </a:r>
            <a:r>
              <a:rPr lang="it-IT" sz="1600" b="0" i="0" u="none" strike="noStrike" dirty="0" err="1">
                <a:solidFill>
                  <a:srgbClr val="000000"/>
                </a:solidFill>
                <a:effectLst/>
                <a:latin typeface="Arial" panose="020B0604020202020204" pitchFamily="34" charset="0"/>
                <a:cs typeface="Arial" panose="020B0604020202020204" pitchFamily="34" charset="0"/>
              </a:rPr>
              <a:t>conclusions</a:t>
            </a:r>
            <a:r>
              <a:rPr lang="it-IT" sz="1600" b="0" i="0" u="none" strike="noStrike" dirty="0">
                <a:solidFill>
                  <a:srgbClr val="000000"/>
                </a:solidFill>
                <a:effectLst/>
                <a:latin typeface="Arial" panose="020B0604020202020204" pitchFamily="34" charset="0"/>
                <a:cs typeface="Arial" panose="020B0604020202020204" pitchFamily="34" charset="0"/>
              </a:rPr>
              <a:t>.</a:t>
            </a:r>
            <a:endParaRPr lang="it-IT"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2001203"/>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04A29BF-AB1B-2A37-64AF-3AC86768EC56}"/>
              </a:ext>
            </a:extLst>
          </p:cNvPr>
          <p:cNvSpPr>
            <a:spLocks noGrp="1"/>
          </p:cNvSpPr>
          <p:nvPr>
            <p:ph type="title"/>
          </p:nvPr>
        </p:nvSpPr>
        <p:spPr>
          <a:xfrm>
            <a:off x="4036464" y="557302"/>
            <a:ext cx="6501810" cy="1097280"/>
          </a:xfrm>
        </p:spPr>
        <p:txBody>
          <a:bodyPr anchor="t">
            <a:normAutofit/>
          </a:bodyPr>
          <a:lstStyle/>
          <a:p>
            <a:r>
              <a:rPr lang="it-IT" dirty="0" err="1"/>
              <a:t>Limitations</a:t>
            </a:r>
            <a:r>
              <a:rPr lang="it-IT" dirty="0"/>
              <a:t> &amp; Future Work</a:t>
            </a:r>
          </a:p>
        </p:txBody>
      </p:sp>
      <p:pic>
        <p:nvPicPr>
          <p:cNvPr id="5" name="Picture 4" descr="Particelle chiare in sospensione">
            <a:extLst>
              <a:ext uri="{FF2B5EF4-FFF2-40B4-BE49-F238E27FC236}">
                <a16:creationId xmlns:a16="http://schemas.microsoft.com/office/drawing/2014/main" id="{371F7BD6-25E8-E3D6-F5D0-C4F6AAA5F34F}"/>
              </a:ext>
            </a:extLst>
          </p:cNvPr>
          <p:cNvPicPr>
            <a:picLocks noChangeAspect="1"/>
          </p:cNvPicPr>
          <p:nvPr/>
        </p:nvPicPr>
        <p:blipFill>
          <a:blip r:embed="rId3"/>
          <a:srcRect l="8675" r="39764"/>
          <a:stretch>
            <a:fillRect/>
          </a:stretch>
        </p:blipFill>
        <p:spPr>
          <a:xfrm>
            <a:off x="20" y="914399"/>
            <a:ext cx="3155617" cy="4081643"/>
          </a:xfrm>
          <a:prstGeom prst="rect">
            <a:avLst/>
          </a:prstGeom>
        </p:spPr>
      </p:pic>
      <p:cxnSp>
        <p:nvCxnSpPr>
          <p:cNvPr id="18" name="Straight Connector 17">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0" name="CasellaDiTesto 9">
            <a:extLst>
              <a:ext uri="{FF2B5EF4-FFF2-40B4-BE49-F238E27FC236}">
                <a16:creationId xmlns:a16="http://schemas.microsoft.com/office/drawing/2014/main" id="{1CC60E67-563B-FAD4-904D-5953CC4A78AD}"/>
              </a:ext>
            </a:extLst>
          </p:cNvPr>
          <p:cNvSpPr txBox="1"/>
          <p:nvPr/>
        </p:nvSpPr>
        <p:spPr>
          <a:xfrm>
            <a:off x="16048" y="5758934"/>
            <a:ext cx="10217426" cy="369332"/>
          </a:xfrm>
          <a:prstGeom prst="rect">
            <a:avLst/>
          </a:prstGeom>
          <a:noFill/>
        </p:spPr>
        <p:txBody>
          <a:bodyPr wrap="square">
            <a:spAutoFit/>
          </a:bodyPr>
          <a:lstStyle/>
          <a:p>
            <a:pPr algn="l">
              <a:buNone/>
            </a:pPr>
            <a:r>
              <a:rPr lang="it-IT" i="0" dirty="0">
                <a:solidFill>
                  <a:srgbClr val="000000"/>
                </a:solidFill>
                <a:effectLst/>
                <a:latin typeface="Arial" panose="020B0604020202020204" pitchFamily="34" charset="0"/>
                <a:cs typeface="Arial" panose="020B0604020202020204" pitchFamily="34" charset="0"/>
              </a:rPr>
              <a:t>Future studies </a:t>
            </a:r>
            <a:r>
              <a:rPr lang="it-IT" i="0" dirty="0" err="1">
                <a:solidFill>
                  <a:srgbClr val="000000"/>
                </a:solidFill>
                <a:effectLst/>
                <a:latin typeface="Arial" panose="020B0604020202020204" pitchFamily="34" charset="0"/>
                <a:cs typeface="Arial" panose="020B0604020202020204" pitchFamily="34" charset="0"/>
              </a:rPr>
              <a:t>should</a:t>
            </a:r>
            <a:r>
              <a:rPr lang="it-IT" i="0" dirty="0">
                <a:solidFill>
                  <a:srgbClr val="000000"/>
                </a:solidFill>
                <a:effectLst/>
                <a:latin typeface="Arial" panose="020B0604020202020204" pitchFamily="34" charset="0"/>
                <a:cs typeface="Arial" panose="020B0604020202020204" pitchFamily="34" charset="0"/>
              </a:rPr>
              <a:t> use </a:t>
            </a:r>
            <a:r>
              <a:rPr lang="it-IT" i="0" dirty="0" err="1">
                <a:solidFill>
                  <a:srgbClr val="000000"/>
                </a:solidFill>
                <a:effectLst/>
                <a:latin typeface="Arial" panose="020B0604020202020204" pitchFamily="34" charset="0"/>
                <a:cs typeface="Arial" panose="020B0604020202020204" pitchFamily="34" charset="0"/>
              </a:rPr>
              <a:t>larger</a:t>
            </a:r>
            <a:r>
              <a:rPr lang="it-IT" i="0" dirty="0">
                <a:solidFill>
                  <a:srgbClr val="000000"/>
                </a:solidFill>
                <a:effectLst/>
                <a:latin typeface="Arial" panose="020B0604020202020204" pitchFamily="34" charset="0"/>
                <a:cs typeface="Arial" panose="020B0604020202020204" pitchFamily="34" charset="0"/>
              </a:rPr>
              <a:t>, </a:t>
            </a:r>
            <a:r>
              <a:rPr lang="it-IT" i="0" dirty="0" err="1">
                <a:solidFill>
                  <a:srgbClr val="000000"/>
                </a:solidFill>
                <a:effectLst/>
                <a:latin typeface="Arial" panose="020B0604020202020204" pitchFamily="34" charset="0"/>
                <a:cs typeface="Arial" panose="020B0604020202020204" pitchFamily="34" charset="0"/>
              </a:rPr>
              <a:t>cleaner</a:t>
            </a:r>
            <a:r>
              <a:rPr lang="it-IT" i="0" dirty="0">
                <a:solidFill>
                  <a:srgbClr val="000000"/>
                </a:solidFill>
                <a:effectLst/>
                <a:latin typeface="Arial" panose="020B0604020202020204" pitchFamily="34" charset="0"/>
                <a:cs typeface="Arial" panose="020B0604020202020204" pitchFamily="34" charset="0"/>
              </a:rPr>
              <a:t> datasets and more </a:t>
            </a:r>
            <a:r>
              <a:rPr lang="it-IT" i="0" dirty="0" err="1">
                <a:solidFill>
                  <a:srgbClr val="000000"/>
                </a:solidFill>
                <a:effectLst/>
                <a:latin typeface="Arial" panose="020B0604020202020204" pitchFamily="34" charset="0"/>
                <a:cs typeface="Arial" panose="020B0604020202020204" pitchFamily="34" charset="0"/>
              </a:rPr>
              <a:t>advanced</a:t>
            </a:r>
            <a:r>
              <a:rPr lang="it-IT" i="0" dirty="0">
                <a:solidFill>
                  <a:srgbClr val="000000"/>
                </a:solidFill>
                <a:effectLst/>
                <a:latin typeface="Arial" panose="020B0604020202020204" pitchFamily="34" charset="0"/>
                <a:cs typeface="Arial" panose="020B0604020202020204" pitchFamily="34" charset="0"/>
              </a:rPr>
              <a:t> </a:t>
            </a:r>
            <a:r>
              <a:rPr lang="it-IT" i="0" dirty="0" err="1">
                <a:solidFill>
                  <a:srgbClr val="000000"/>
                </a:solidFill>
                <a:effectLst/>
                <a:latin typeface="Arial" panose="020B0604020202020204" pitchFamily="34" charset="0"/>
                <a:cs typeface="Arial" panose="020B0604020202020204" pitchFamily="34" charset="0"/>
              </a:rPr>
              <a:t>predictive</a:t>
            </a:r>
            <a:r>
              <a:rPr lang="it-IT" i="0" dirty="0">
                <a:solidFill>
                  <a:srgbClr val="000000"/>
                </a:solidFill>
                <a:effectLst/>
                <a:latin typeface="Arial" panose="020B0604020202020204" pitchFamily="34" charset="0"/>
                <a:cs typeface="Arial" panose="020B0604020202020204" pitchFamily="34" charset="0"/>
              </a:rPr>
              <a:t> models.</a:t>
            </a:r>
          </a:p>
        </p:txBody>
      </p:sp>
      <p:graphicFrame>
        <p:nvGraphicFramePr>
          <p:cNvPr id="12" name="Diagramma 11">
            <a:extLst>
              <a:ext uri="{FF2B5EF4-FFF2-40B4-BE49-F238E27FC236}">
                <a16:creationId xmlns:a16="http://schemas.microsoft.com/office/drawing/2014/main" id="{B2E4BEBD-8937-904A-5018-CEF358BF25A7}"/>
              </a:ext>
            </a:extLst>
          </p:cNvPr>
          <p:cNvGraphicFramePr/>
          <p:nvPr>
            <p:extLst>
              <p:ext uri="{D42A27DB-BD31-4B8C-83A1-F6EECF244321}">
                <p14:modId xmlns:p14="http://schemas.microsoft.com/office/powerpoint/2010/main" val="1486654601"/>
              </p:ext>
            </p:extLst>
          </p:nvPr>
        </p:nvGraphicFramePr>
        <p:xfrm>
          <a:off x="3318299" y="1173370"/>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25347336"/>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86C7E39-1101-6F62-D4D0-0473EB83FB16}"/>
              </a:ext>
            </a:extLst>
          </p:cNvPr>
          <p:cNvSpPr>
            <a:spLocks noGrp="1"/>
          </p:cNvSpPr>
          <p:nvPr>
            <p:ph type="title"/>
          </p:nvPr>
        </p:nvSpPr>
        <p:spPr>
          <a:xfrm>
            <a:off x="640079" y="1151879"/>
            <a:ext cx="10890929" cy="1097280"/>
          </a:xfrm>
        </p:spPr>
        <p:txBody>
          <a:bodyPr/>
          <a:lstStyle/>
          <a:p>
            <a:r>
              <a:rPr lang="it-IT" dirty="0" err="1"/>
              <a:t>Conclusion</a:t>
            </a:r>
            <a:endParaRPr lang="it-IT" dirty="0"/>
          </a:p>
        </p:txBody>
      </p:sp>
      <p:graphicFrame>
        <p:nvGraphicFramePr>
          <p:cNvPr id="7" name="Rectangle 1">
            <a:extLst>
              <a:ext uri="{FF2B5EF4-FFF2-40B4-BE49-F238E27FC236}">
                <a16:creationId xmlns:a16="http://schemas.microsoft.com/office/drawing/2014/main" id="{39B8931F-C7DD-284B-6F9C-C4A1D1D1F47C}"/>
              </a:ext>
            </a:extLst>
          </p:cNvPr>
          <p:cNvGraphicFramePr>
            <a:graphicFrameLocks noGrp="1"/>
          </p:cNvGraphicFramePr>
          <p:nvPr>
            <p:ph idx="1"/>
            <p:extLst>
              <p:ext uri="{D42A27DB-BD31-4B8C-83A1-F6EECF244321}">
                <p14:modId xmlns:p14="http://schemas.microsoft.com/office/powerpoint/2010/main" val="4182379650"/>
              </p:ext>
            </p:extLst>
          </p:nvPr>
        </p:nvGraphicFramePr>
        <p:xfrm>
          <a:off x="640079" y="1746124"/>
          <a:ext cx="10890928" cy="3566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asellaDiTesto 4">
            <a:extLst>
              <a:ext uri="{FF2B5EF4-FFF2-40B4-BE49-F238E27FC236}">
                <a16:creationId xmlns:a16="http://schemas.microsoft.com/office/drawing/2014/main" id="{B6FF07AC-1FC0-EAAB-133C-85B35AC25DA2}"/>
              </a:ext>
            </a:extLst>
          </p:cNvPr>
          <p:cNvSpPr txBox="1"/>
          <p:nvPr/>
        </p:nvSpPr>
        <p:spPr>
          <a:xfrm>
            <a:off x="640079" y="5706121"/>
            <a:ext cx="9581322" cy="584775"/>
          </a:xfrm>
          <a:prstGeom prst="rect">
            <a:avLst/>
          </a:prstGeom>
          <a:noFill/>
        </p:spPr>
        <p:txBody>
          <a:bodyPr wrap="square" rtlCol="0">
            <a:spAutoFit/>
          </a:bodyPr>
          <a:lstStyle/>
          <a:p>
            <a:r>
              <a:rPr lang="it-IT" sz="1600" dirty="0">
                <a:latin typeface="Arial" panose="020B0604020202020204" pitchFamily="34" charset="0"/>
                <a:cs typeface="Arial" panose="020B0604020202020204" pitchFamily="34" charset="0"/>
              </a:rPr>
              <a:t>Statistical </a:t>
            </a:r>
            <a:r>
              <a:rPr lang="it-IT" sz="1600" dirty="0" err="1">
                <a:latin typeface="Arial" panose="020B0604020202020204" pitchFamily="34" charset="0"/>
                <a:cs typeface="Arial" panose="020B0604020202020204" pitchFamily="34" charset="0"/>
              </a:rPr>
              <a:t>modelling</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successfully</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identified</a:t>
            </a:r>
            <a:r>
              <a:rPr lang="it-IT" sz="1600" dirty="0">
                <a:latin typeface="Arial" panose="020B0604020202020204" pitchFamily="34" charset="0"/>
                <a:cs typeface="Arial" panose="020B0604020202020204" pitchFamily="34" charset="0"/>
              </a:rPr>
              <a:t> key </a:t>
            </a:r>
            <a:r>
              <a:rPr lang="it-IT" sz="1600" dirty="0" err="1">
                <a:latin typeface="Arial" panose="020B0604020202020204" pitchFamily="34" charset="0"/>
                <a:cs typeface="Arial" panose="020B0604020202020204" pitchFamily="34" charset="0"/>
              </a:rPr>
              <a:t>diabetes</a:t>
            </a:r>
            <a:r>
              <a:rPr lang="it-IT" sz="1600" dirty="0">
                <a:latin typeface="Arial" panose="020B0604020202020204" pitchFamily="34" charset="0"/>
                <a:cs typeface="Arial" panose="020B0604020202020204" pitchFamily="34" charset="0"/>
              </a:rPr>
              <a:t> risk </a:t>
            </a:r>
            <a:r>
              <a:rPr lang="it-IT" sz="1600" dirty="0" err="1">
                <a:latin typeface="Arial" panose="020B0604020202020204" pitchFamily="34" charset="0"/>
                <a:cs typeface="Arial" panose="020B0604020202020204" pitchFamily="34" charset="0"/>
              </a:rPr>
              <a:t>factors</a:t>
            </a:r>
            <a:r>
              <a:rPr lang="it-IT" sz="1600" dirty="0">
                <a:latin typeface="Arial" panose="020B0604020202020204" pitchFamily="34" charset="0"/>
                <a:cs typeface="Arial" panose="020B0604020202020204" pitchFamily="34" charset="0"/>
              </a:rPr>
              <a:t> and </a:t>
            </a:r>
            <a:r>
              <a:rPr lang="it-IT" sz="1600" dirty="0" err="1">
                <a:latin typeface="Arial" panose="020B0604020202020204" pitchFamily="34" charset="0"/>
                <a:cs typeface="Arial" panose="020B0604020202020204" pitchFamily="34" charset="0"/>
              </a:rPr>
              <a:t>demonstrated</a:t>
            </a:r>
            <a:r>
              <a:rPr lang="it-IT" sz="1600" dirty="0">
                <a:latin typeface="Arial" panose="020B0604020202020204" pitchFamily="34" charset="0"/>
                <a:cs typeface="Arial" panose="020B0604020202020204" pitchFamily="34" charset="0"/>
              </a:rPr>
              <a:t> the </a:t>
            </a:r>
            <a:r>
              <a:rPr lang="it-IT" sz="1600" dirty="0" err="1">
                <a:latin typeface="Arial" panose="020B0604020202020204" pitchFamily="34" charset="0"/>
                <a:cs typeface="Arial" panose="020B0604020202020204" pitchFamily="34" charset="0"/>
              </a:rPr>
              <a:t>value</a:t>
            </a:r>
            <a:r>
              <a:rPr lang="it-IT" sz="1600" dirty="0">
                <a:latin typeface="Arial" panose="020B0604020202020204" pitchFamily="34" charset="0"/>
                <a:cs typeface="Arial" panose="020B0604020202020204" pitchFamily="34" charset="0"/>
              </a:rPr>
              <a:t> of </a:t>
            </a:r>
            <a:r>
              <a:rPr lang="it-IT" sz="1600" dirty="0" err="1">
                <a:latin typeface="Arial" panose="020B0604020202020204" pitchFamily="34" charset="0"/>
                <a:cs typeface="Arial" panose="020B0604020202020204" pitchFamily="34" charset="0"/>
              </a:rPr>
              <a:t>regression</a:t>
            </a:r>
            <a:r>
              <a:rPr lang="it-IT" sz="1600" dirty="0">
                <a:latin typeface="Arial" panose="020B0604020202020204" pitchFamily="34" charset="0"/>
                <a:cs typeface="Arial" panose="020B0604020202020204" pitchFamily="34" charset="0"/>
              </a:rPr>
              <a:t> techniques for </a:t>
            </a:r>
            <a:r>
              <a:rPr lang="it-IT" sz="1600" dirty="0" err="1">
                <a:latin typeface="Arial" panose="020B0604020202020204" pitchFamily="34" charset="0"/>
                <a:cs typeface="Arial" panose="020B0604020202020204" pitchFamily="34" charset="0"/>
              </a:rPr>
              <a:t>healthcare</a:t>
            </a:r>
            <a:r>
              <a:rPr lang="it-IT" sz="1600" dirty="0">
                <a:latin typeface="Arial" panose="020B0604020202020204" pitchFamily="34" charset="0"/>
                <a:cs typeface="Arial" panose="020B0604020202020204" pitchFamily="34" charset="0"/>
              </a:rPr>
              <a:t> data </a:t>
            </a:r>
            <a:r>
              <a:rPr lang="it-IT" sz="1600" dirty="0" err="1">
                <a:latin typeface="Arial" panose="020B0604020202020204" pitchFamily="34" charset="0"/>
                <a:cs typeface="Arial" panose="020B0604020202020204" pitchFamily="34" charset="0"/>
              </a:rPr>
              <a:t>analysis</a:t>
            </a:r>
            <a:r>
              <a:rPr lang="it-IT"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6863560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Madison</Template>
  <TotalTime>16774</TotalTime>
  <Words>2154</Words>
  <Application>Microsoft Macintosh PowerPoint</Application>
  <PresentationFormat>Widescreen</PresentationFormat>
  <Paragraphs>473</Paragraphs>
  <Slides>20</Slides>
  <Notes>2</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20</vt:i4>
      </vt:variant>
    </vt:vector>
  </HeadingPairs>
  <TitlesOfParts>
    <vt:vector size="27" baseType="lpstr">
      <vt:lpstr>Arial Unicode MS</vt:lpstr>
      <vt:lpstr>-webkit-standard</vt:lpstr>
      <vt:lpstr>Aptos</vt:lpstr>
      <vt:lpstr>Arial</vt:lpstr>
      <vt:lpstr>Grandview Display</vt:lpstr>
      <vt:lpstr>Wingdings</vt:lpstr>
      <vt:lpstr>DashVTI</vt:lpstr>
      <vt:lpstr>Exploring and Analyzing Diabetes Data Through Statistical Techniques in R</vt:lpstr>
      <vt:lpstr>Presentazione standard di PowerPoint</vt:lpstr>
      <vt:lpstr>Dataset Description</vt:lpstr>
      <vt:lpstr>Methodology</vt:lpstr>
      <vt:lpstr>Sample Caractheristics</vt:lpstr>
      <vt:lpstr>Summary Statistics</vt:lpstr>
      <vt:lpstr>Age Distribution</vt:lpstr>
      <vt:lpstr>BMI and Glucose Distribution</vt:lpstr>
      <vt:lpstr>Blood pressure and pregnancies</vt:lpstr>
      <vt:lpstr>Diabetes Rates Across Age and BMI Categories</vt:lpstr>
      <vt:lpstr>Glucose Levels by Diabetes Outcome</vt:lpstr>
      <vt:lpstr>Pregnancies by Diabetes Outcome</vt:lpstr>
      <vt:lpstr>Correlation Matrix</vt:lpstr>
      <vt:lpstr>Hypothesis Testing</vt:lpstr>
      <vt:lpstr>Multiple Linear Regression </vt:lpstr>
      <vt:lpstr>Logistic Regression</vt:lpstr>
      <vt:lpstr>Model Comparison</vt:lpstr>
      <vt:lpstr>Discussion</vt:lpstr>
      <vt:lpstr>Limitations &amp; 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Almeida Ferrera, Yasmin</dc:creator>
  <cp:lastModifiedBy>Almeida Ferrera, Yasmin</cp:lastModifiedBy>
  <cp:revision>24</cp:revision>
  <dcterms:created xsi:type="dcterms:W3CDTF">2026-07-03T14:04:07Z</dcterms:created>
  <dcterms:modified xsi:type="dcterms:W3CDTF">2026-07-18T10:26:00Z</dcterms:modified>
</cp:coreProperties>
</file>